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journey conversation, not an architecture conversation. Everything here is what a provider sees and does. The engine work behind it is real but it is not what we are discussing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what we are NOT doing — it is the fastest way to lower the temperature in a client room. The form does not move. Dictation does not change. Nobody is migrated without being switched on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the fourth box and the four questions. The complaint is not that the model is bad — it is that the provider has no way to see, check or correct what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agenda slide. Read the five headlines aloud, then say the next five slides are one per change. If the client only remembers one thing, it should be number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sentence: four of these five stages you already have. We are inserting one step and leaving the rest alone. The bottom band pre-empts the two objections — 'does this slow me down' and 'can it block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safety slide and the most important one in the deck. The removal of the auto-save is the single change with the largest clinical risk reduction. Discard is a first-class answer,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Adoption slide. The reason review steps fail is volume. 'Not mentioned' being a distinct answer is the single biggest lever on queue size —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slide. 'View source' is the difference between a feature clinicians trust and one they quietly stop using. Note the accessibility point at the bottom — colour is always backed by an icon and a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clinicians will care about most in daily use. The guarantee to stress: a targeted re-run provably leaves every other field untouched — we test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Compliance-facing slide. The two sentences that matter: nothing is overwritten without being asked, and signature is a hard lock after which changes become visible amendments.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right-hand column only. The left is there so nobody has to remember what today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these. The third one is the one that matters commercially — nobody is migrated, the switch is per account, and it is reversible from a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3A"/>
        </a:solidFill>
      </p:bgPr>
    </p:bg>
    <p:spTree>
      <p:nvGrpSpPr>
        <p:cNvPr id="1" name=""/>
        <p:cNvGrpSpPr/>
        <p:nvPr/>
      </p:nvGrpSpPr>
      <p:grpSpPr>
        <a:xfrm>
          <a:off x="0" y="0"/>
          <a:ext cx="0" cy="0"/>
          <a:chOff x="0" y="0"/>
          <a:chExt cx="0" cy="0"/>
        </a:xfrm>
      </p:grpSpPr>
      <p:sp>
        <p:nvSpPr>
          <p:cNvPr id="2" name="Shape 0"/>
          <p:cNvSpPr/>
          <p:nvPr/>
        </p:nvSpPr>
        <p:spPr>
          <a:xfrm>
            <a:off x="9235440" y="-1371600"/>
            <a:ext cx="5120640" cy="5120640"/>
          </a:xfrm>
          <a:prstGeom prst="ellipse">
            <a:avLst/>
          </a:prstGeom>
          <a:solidFill>
            <a:srgbClr val="16304F"/>
          </a:solidFill>
          <a:ln w="12700">
            <a:solidFill>
              <a:srgbClr val="16304F"/>
            </a:solidFill>
            <a:prstDash val="solid"/>
          </a:ln>
        </p:spPr>
      </p:sp>
      <p:sp>
        <p:nvSpPr>
          <p:cNvPr id="3" name="Shape 1"/>
          <p:cNvSpPr/>
          <p:nvPr/>
        </p:nvSpPr>
        <p:spPr>
          <a:xfrm>
            <a:off x="10424160" y="3749040"/>
            <a:ext cx="3108960" cy="3108960"/>
          </a:xfrm>
          <a:prstGeom prst="ellipse">
            <a:avLst/>
          </a:prstGeom>
          <a:solidFill>
            <a:srgbClr val="14406A"/>
          </a:solidFill>
          <a:ln w="12700">
            <a:solidFill>
              <a:srgbClr val="14406A"/>
            </a:solidFill>
            <a:prstDash val="solid"/>
          </a:ln>
        </p:spPr>
      </p:sp>
      <p:sp>
        <p:nvSpPr>
          <p:cNvPr id="4" name="Text 2"/>
          <p:cNvSpPr txBox="1"/>
          <p:nvPr/>
        </p:nvSpPr>
        <p:spPr>
          <a:xfrm>
            <a:off x="566928" y="1170432"/>
            <a:ext cx="9144000" cy="274320"/>
          </a:xfrm>
          <a:prstGeom prst="rect">
            <a:avLst/>
          </a:prstGeom>
          <a:noFill/>
          <a:ln/>
        </p:spPr>
        <p:txBody>
          <a:bodyPr wrap="square" lIns="0" tIns="0" rIns="0" bIns="0" rtlCol="0" anchor="ctr"/>
          <a:lstStyle/>
          <a:p>
            <a:pPr indent="0" marL="0">
              <a:buNone/>
            </a:pPr>
            <a:r>
              <a:rPr lang="en-US" sz="1100" b="1" spc="260" kern="0" dirty="0">
                <a:solidFill>
                  <a:srgbClr val="5EC5B8"/>
                </a:solidFill>
                <a:latin typeface="Segoe UI" pitchFamily="34" charset="0"/>
                <a:ea typeface="Segoe UI" pitchFamily="34" charset="-122"/>
                <a:cs typeface="Segoe UI" pitchFamily="34" charset="-120"/>
              </a:rPr>
              <a:t>SAISYSTEMS  ·  PACEHR  ·  AI-ASSISTED ENCOUNTER DOCUMENTATION</a:t>
            </a:r>
            <a:endParaRPr lang="en-US" sz="1100" dirty="0"/>
          </a:p>
        </p:txBody>
      </p:sp>
      <p:sp>
        <p:nvSpPr>
          <p:cNvPr id="5" name="Text 3"/>
          <p:cNvSpPr txBox="1"/>
          <p:nvPr/>
        </p:nvSpPr>
        <p:spPr>
          <a:xfrm>
            <a:off x="566928" y="1645920"/>
            <a:ext cx="9509760" cy="868680"/>
          </a:xfrm>
          <a:prstGeom prst="rect">
            <a:avLst/>
          </a:prstGeom>
          <a:noFill/>
          <a:ln/>
        </p:spPr>
        <p:txBody>
          <a:bodyPr wrap="square" lIns="0" tIns="0" rIns="0" bIns="0" rtlCol="0" anchor="ctr"/>
          <a:lstStyle/>
          <a:p>
            <a:pPr indent="0" marL="0">
              <a:buNone/>
            </a:pPr>
            <a:r>
              <a:rPr lang="en-US" sz="5000" b="1" dirty="0">
                <a:solidFill>
                  <a:srgbClr val="FFFFFF"/>
                </a:solidFill>
                <a:latin typeface="Segoe UI" pitchFamily="34" charset="0"/>
                <a:ea typeface="Segoe UI" pitchFamily="34" charset="-122"/>
                <a:cs typeface="Segoe UI" pitchFamily="34" charset="-120"/>
              </a:rPr>
              <a:t>The Provider Journey</a:t>
            </a:r>
            <a:endParaRPr lang="en-US" sz="5000" dirty="0"/>
          </a:p>
        </p:txBody>
      </p:sp>
      <p:sp>
        <p:nvSpPr>
          <p:cNvPr id="6" name="Text 4"/>
          <p:cNvSpPr txBox="1"/>
          <p:nvPr/>
        </p:nvSpPr>
        <p:spPr>
          <a:xfrm>
            <a:off x="566928" y="2487168"/>
            <a:ext cx="9509760" cy="777240"/>
          </a:xfrm>
          <a:prstGeom prst="rect">
            <a:avLst/>
          </a:prstGeom>
          <a:noFill/>
          <a:ln/>
        </p:spPr>
        <p:txBody>
          <a:bodyPr wrap="square" lIns="0" tIns="0" rIns="0" bIns="0" rtlCol="0" anchor="ctr"/>
          <a:lstStyle/>
          <a:p>
            <a:pPr indent="0" marL="0">
              <a:buNone/>
            </a:pPr>
            <a:r>
              <a:rPr lang="en-US" sz="4400" b="1" dirty="0">
                <a:solidFill>
                  <a:srgbClr val="7FA8C9"/>
                </a:solidFill>
                <a:latin typeface="Segoe UI" pitchFamily="34" charset="0"/>
                <a:ea typeface="Segoe UI" pitchFamily="34" charset="-122"/>
                <a:cs typeface="Segoe UI" pitchFamily="34" charset="-120"/>
              </a:rPr>
              <a:t>What we are changing</a:t>
            </a:r>
            <a:endParaRPr lang="en-US" sz="4400" dirty="0"/>
          </a:p>
        </p:txBody>
      </p:sp>
      <p:sp>
        <p:nvSpPr>
          <p:cNvPr id="7" name="Shape 5"/>
          <p:cNvSpPr/>
          <p:nvPr/>
        </p:nvSpPr>
        <p:spPr>
          <a:xfrm>
            <a:off x="566928" y="3529584"/>
            <a:ext cx="1920240" cy="32004"/>
          </a:xfrm>
          <a:prstGeom prst="rect">
            <a:avLst/>
          </a:prstGeom>
          <a:solidFill>
            <a:srgbClr val="0F766E"/>
          </a:solidFill>
          <a:ln w="12700">
            <a:solidFill>
              <a:srgbClr val="0F766E"/>
            </a:solidFill>
            <a:prstDash val="solid"/>
          </a:ln>
        </p:spPr>
      </p:sp>
      <p:sp>
        <p:nvSpPr>
          <p:cNvPr id="8" name="Text 6"/>
          <p:cNvSpPr txBox="1"/>
          <p:nvPr/>
        </p:nvSpPr>
        <p:spPr>
          <a:xfrm>
            <a:off x="566928" y="3822192"/>
            <a:ext cx="8503920" cy="1051560"/>
          </a:xfrm>
          <a:prstGeom prst="rect">
            <a:avLst/>
          </a:prstGeom>
          <a:noFill/>
          <a:ln/>
        </p:spPr>
        <p:txBody>
          <a:bodyPr wrap="square" lIns="0" tIns="0" rIns="0" bIns="0" rtlCol="0" anchor="ctr"/>
          <a:lstStyle/>
          <a:p>
            <a:pPr indent="0" marL="0">
              <a:lnSpc>
                <a:spcPts val="2400"/>
              </a:lnSpc>
              <a:buNone/>
            </a:pPr>
            <a:r>
              <a:rPr lang="en-US" sz="1500" dirty="0">
                <a:solidFill>
                  <a:srgbClr val="B8CBDD"/>
                </a:solidFill>
                <a:latin typeface="Segoe UI" pitchFamily="34" charset="0"/>
                <a:ea typeface="Segoe UI" pitchFamily="34" charset="-122"/>
                <a:cs typeface="Segoe UI" pitchFamily="34" charset="-120"/>
              </a:rPr>
              <a:t>Today the AI fills the note and the note saves itself. We are putting the provider back in</a:t>
            </a:r>
            <a:endParaRPr lang="en-US" sz="1500" dirty="0"/>
          </a:p>
          <a:p>
            <a:pPr indent="0" marL="0">
              <a:lnSpc>
                <a:spcPts val="2400"/>
              </a:lnSpc>
              <a:buNone/>
            </a:pPr>
            <a:r>
              <a:rPr lang="en-US" sz="1500" dirty="0">
                <a:solidFill>
                  <a:srgbClr val="B8CBDD"/>
                </a:solidFill>
                <a:latin typeface="Segoe UI" pitchFamily="34" charset="0"/>
                <a:ea typeface="Segoe UI" pitchFamily="34" charset="-122"/>
                <a:cs typeface="Segoe UI" pitchFamily="34" charset="-120"/>
              </a:rPr>
              <a:t>the middle of that — with a review step, a visible record of what the AI did, and the ability</a:t>
            </a:r>
            <a:endParaRPr lang="en-US" sz="1500" dirty="0"/>
          </a:p>
          <a:p>
            <a:pPr indent="0" marL="0">
              <a:lnSpc>
                <a:spcPts val="2400"/>
              </a:lnSpc>
              <a:buNone/>
            </a:pPr>
            <a:r>
              <a:rPr lang="en-US" sz="1500" dirty="0">
                <a:solidFill>
                  <a:srgbClr val="B8CBDD"/>
                </a:solidFill>
                <a:latin typeface="Segoe UI" pitchFamily="34" charset="0"/>
                <a:ea typeface="Segoe UI" pitchFamily="34" charset="-122"/>
                <a:cs typeface="Segoe UI" pitchFamily="34" charset="-120"/>
              </a:rPr>
              <a:t>to correct one field without redoing the whole note.</a:t>
            </a:r>
            <a:endParaRPr lang="en-US" sz="1500" dirty="0"/>
          </a:p>
        </p:txBody>
      </p:sp>
      <p:sp>
        <p:nvSpPr>
          <p:cNvPr id="9" name="Text 7"/>
          <p:cNvSpPr txBox="1"/>
          <p:nvPr/>
        </p:nvSpPr>
        <p:spPr>
          <a:xfrm>
            <a:off x="566928" y="5760720"/>
            <a:ext cx="5486400" cy="274320"/>
          </a:xfrm>
          <a:prstGeom prst="rect">
            <a:avLst/>
          </a:prstGeom>
          <a:noFill/>
          <a:ln/>
        </p:spPr>
        <p:txBody>
          <a:bodyPr wrap="square" lIns="0" tIns="0" rIns="0" bIns="0" rtlCol="0" anchor="ctr"/>
          <a:lstStyle/>
          <a:p>
            <a:pPr indent="0" marL="0">
              <a:buNone/>
            </a:pPr>
            <a:r>
              <a:rPr lang="en-US" sz="1200" b="1" dirty="0">
                <a:solidFill>
                  <a:srgbClr val="7F94AB"/>
                </a:solidFill>
                <a:latin typeface="Segoe UI" pitchFamily="34" charset="0"/>
                <a:ea typeface="Segoe UI" pitchFamily="34" charset="-122"/>
                <a:cs typeface="Segoe UI" pitchFamily="34" charset="-120"/>
              </a:rPr>
              <a:t>Client review  ·  Phase 1  ·  Release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SCOPE</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What this conversation covers</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One journey, end to end — and a deliberately short list of things we are not touching.</a:t>
            </a:r>
            <a:endParaRPr lang="en-US" sz="1350" dirty="0"/>
          </a:p>
        </p:txBody>
      </p:sp>
      <p:sp>
        <p:nvSpPr>
          <p:cNvPr id="5" name="Shape 3"/>
          <p:cNvSpPr/>
          <p:nvPr/>
        </p:nvSpPr>
        <p:spPr>
          <a:xfrm>
            <a:off x="566928" y="1645920"/>
            <a:ext cx="5486400" cy="4526280"/>
          </a:xfrm>
          <a:prstGeom prst="roundRect">
            <a:avLst>
              <a:gd name="adj" fmla="val 1414"/>
            </a:avLst>
          </a:prstGeom>
          <a:solidFill>
            <a:srgbClr val="FFFFFF"/>
          </a:solidFill>
          <a:ln w="12700">
            <a:solidFill>
              <a:srgbClr val="0F766E"/>
            </a:solidFill>
            <a:prstDash val="solid"/>
          </a:ln>
          <a:effectLst>
            <a:outerShdw sx="100000" sy="100000" kx="0" ky="0" algn="bl" rotWithShape="0" blurRad="127000" dist="25400" dir="5400000">
              <a:srgbClr val="10233A">
                <a:alpha val="8000"/>
              </a:srgbClr>
            </a:outerShdw>
          </a:effectLst>
        </p:spPr>
      </p:sp>
      <p:sp>
        <p:nvSpPr>
          <p:cNvPr id="6" name="Shape 4"/>
          <p:cNvSpPr/>
          <p:nvPr/>
        </p:nvSpPr>
        <p:spPr>
          <a:xfrm>
            <a:off x="566928" y="1645920"/>
            <a:ext cx="5486400" cy="676656"/>
          </a:xfrm>
          <a:prstGeom prst="roundRect">
            <a:avLst>
              <a:gd name="adj" fmla="val 9459"/>
            </a:avLst>
          </a:prstGeom>
          <a:solidFill>
            <a:srgbClr val="CCE6E4"/>
          </a:solidFill>
          <a:ln w="12700">
            <a:solidFill>
              <a:srgbClr val="0F766E"/>
            </a:solidFill>
            <a:prstDash val="solid"/>
          </a:ln>
        </p:spPr>
      </p:sp>
      <p:sp>
        <p:nvSpPr>
          <p:cNvPr id="7" name="Text 5"/>
          <p:cNvSpPr txBox="1"/>
          <p:nvPr/>
        </p:nvSpPr>
        <p:spPr>
          <a:xfrm>
            <a:off x="877824" y="1645920"/>
            <a:ext cx="4846320" cy="676656"/>
          </a:xfrm>
          <a:prstGeom prst="rect">
            <a:avLst/>
          </a:prstGeom>
          <a:noFill/>
          <a:ln/>
        </p:spPr>
        <p:txBody>
          <a:bodyPr wrap="square" lIns="0" tIns="0" rIns="0" bIns="0" rtlCol="0" anchor="ctr"/>
          <a:lstStyle/>
          <a:p>
            <a:pPr indent="0" marL="0">
              <a:buNone/>
            </a:pPr>
            <a:r>
              <a:rPr lang="en-US" sz="1150" b="1" spc="180" kern="0" dirty="0">
                <a:solidFill>
                  <a:srgbClr val="0F766E"/>
                </a:solidFill>
                <a:latin typeface="Segoe UI" pitchFamily="34" charset="0"/>
                <a:ea typeface="Segoe UI" pitchFamily="34" charset="-122"/>
                <a:cs typeface="Segoe UI" pitchFamily="34" charset="-120"/>
              </a:rPr>
              <a:t>IN FOCUS TODAY</a:t>
            </a:r>
            <a:endParaRPr lang="en-US" sz="1150" dirty="0"/>
          </a:p>
        </p:txBody>
      </p:sp>
      <p:sp>
        <p:nvSpPr>
          <p:cNvPr id="8" name="Shape 6"/>
          <p:cNvSpPr/>
          <p:nvPr/>
        </p:nvSpPr>
        <p:spPr>
          <a:xfrm>
            <a:off x="877824" y="2542032"/>
            <a:ext cx="274320" cy="274320"/>
          </a:xfrm>
          <a:prstGeom prst="ellipse">
            <a:avLst/>
          </a:prstGeom>
          <a:solidFill>
            <a:srgbClr val="0F766E"/>
          </a:solidFill>
          <a:ln w="12700">
            <a:solidFill>
              <a:srgbClr val="0F766E"/>
            </a:solidFill>
            <a:prstDash val="solid"/>
          </a:ln>
        </p:spPr>
      </p:sp>
      <p:sp>
        <p:nvSpPr>
          <p:cNvPr id="9" name="Text 7"/>
          <p:cNvSpPr txBox="1"/>
          <p:nvPr/>
        </p:nvSpPr>
        <p:spPr>
          <a:xfrm>
            <a:off x="877824" y="2542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0" name="Text 8"/>
          <p:cNvSpPr txBox="1"/>
          <p:nvPr/>
        </p:nvSpPr>
        <p:spPr>
          <a:xfrm>
            <a:off x="1280160" y="2487168"/>
            <a:ext cx="4526280"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The provider's journey with the AI engine</a:t>
            </a:r>
            <a:endParaRPr lang="en-US" sz="1350" dirty="0"/>
          </a:p>
        </p:txBody>
      </p:sp>
      <p:sp>
        <p:nvSpPr>
          <p:cNvPr id="11" name="Text 9"/>
          <p:cNvSpPr txBox="1"/>
          <p:nvPr/>
        </p:nvSpPr>
        <p:spPr>
          <a:xfrm>
            <a:off x="1280160" y="2770632"/>
            <a:ext cx="452628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From opening the note to signing it — every point where a provider and the AI meet.</a:t>
            </a:r>
            <a:endParaRPr lang="en-US" sz="1150" dirty="0"/>
          </a:p>
        </p:txBody>
      </p:sp>
      <p:sp>
        <p:nvSpPr>
          <p:cNvPr id="12" name="Shape 10"/>
          <p:cNvSpPr/>
          <p:nvPr/>
        </p:nvSpPr>
        <p:spPr>
          <a:xfrm>
            <a:off x="877824" y="3456432"/>
            <a:ext cx="274320" cy="274320"/>
          </a:xfrm>
          <a:prstGeom prst="ellipse">
            <a:avLst/>
          </a:prstGeom>
          <a:solidFill>
            <a:srgbClr val="0F766E"/>
          </a:solidFill>
          <a:ln w="12700">
            <a:solidFill>
              <a:srgbClr val="0F766E"/>
            </a:solidFill>
            <a:prstDash val="solid"/>
          </a:ln>
        </p:spPr>
      </p:sp>
      <p:sp>
        <p:nvSpPr>
          <p:cNvPr id="13" name="Text 11"/>
          <p:cNvSpPr txBox="1"/>
          <p:nvPr/>
        </p:nvSpPr>
        <p:spPr>
          <a:xfrm>
            <a:off x="877824" y="3456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4" name="Text 12"/>
          <p:cNvSpPr txBox="1"/>
          <p:nvPr/>
        </p:nvSpPr>
        <p:spPr>
          <a:xfrm>
            <a:off x="1280160" y="3401568"/>
            <a:ext cx="4526280"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The review step that does not exist today</a:t>
            </a:r>
            <a:endParaRPr lang="en-US" sz="1350" dirty="0"/>
          </a:p>
        </p:txBody>
      </p:sp>
      <p:sp>
        <p:nvSpPr>
          <p:cNvPr id="15" name="Text 13"/>
          <p:cNvSpPr txBox="1"/>
          <p:nvPr/>
        </p:nvSpPr>
        <p:spPr>
          <a:xfrm>
            <a:off x="1280160" y="3685032"/>
            <a:ext cx="452628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What the provider is asked, when they are asked it, and what happens to their answer.</a:t>
            </a:r>
            <a:endParaRPr lang="en-US" sz="1150" dirty="0"/>
          </a:p>
        </p:txBody>
      </p:sp>
      <p:sp>
        <p:nvSpPr>
          <p:cNvPr id="16" name="Shape 14"/>
          <p:cNvSpPr/>
          <p:nvPr/>
        </p:nvSpPr>
        <p:spPr>
          <a:xfrm>
            <a:off x="877824" y="4370832"/>
            <a:ext cx="274320" cy="274320"/>
          </a:xfrm>
          <a:prstGeom prst="ellipse">
            <a:avLst/>
          </a:prstGeom>
          <a:solidFill>
            <a:srgbClr val="0F766E"/>
          </a:solidFill>
          <a:ln w="12700">
            <a:solidFill>
              <a:srgbClr val="0F766E"/>
            </a:solidFill>
            <a:prstDash val="solid"/>
          </a:ln>
        </p:spPr>
      </p:sp>
      <p:sp>
        <p:nvSpPr>
          <p:cNvPr id="17" name="Text 15"/>
          <p:cNvSpPr txBox="1"/>
          <p:nvPr/>
        </p:nvSpPr>
        <p:spPr>
          <a:xfrm>
            <a:off x="877824" y="4370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18" name="Text 16"/>
          <p:cNvSpPr txBox="1"/>
          <p:nvPr/>
        </p:nvSpPr>
        <p:spPr>
          <a:xfrm>
            <a:off x="1280160" y="4315968"/>
            <a:ext cx="4526280"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What the note tells the provider afterwards</a:t>
            </a:r>
            <a:endParaRPr lang="en-US" sz="1350" dirty="0"/>
          </a:p>
        </p:txBody>
      </p:sp>
      <p:sp>
        <p:nvSpPr>
          <p:cNvPr id="19" name="Text 17"/>
          <p:cNvSpPr txBox="1"/>
          <p:nvPr/>
        </p:nvSpPr>
        <p:spPr>
          <a:xfrm>
            <a:off x="1280160" y="4599432"/>
            <a:ext cx="452628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Which values the AI put there, which were changed, and where each one came from.</a:t>
            </a:r>
            <a:endParaRPr lang="en-US" sz="1150" dirty="0"/>
          </a:p>
        </p:txBody>
      </p:sp>
      <p:sp>
        <p:nvSpPr>
          <p:cNvPr id="20" name="Shape 18"/>
          <p:cNvSpPr/>
          <p:nvPr/>
        </p:nvSpPr>
        <p:spPr>
          <a:xfrm>
            <a:off x="877824" y="5285232"/>
            <a:ext cx="274320" cy="274320"/>
          </a:xfrm>
          <a:prstGeom prst="ellipse">
            <a:avLst/>
          </a:prstGeom>
          <a:solidFill>
            <a:srgbClr val="0F766E"/>
          </a:solidFill>
          <a:ln w="12700">
            <a:solidFill>
              <a:srgbClr val="0F766E"/>
            </a:solidFill>
            <a:prstDash val="solid"/>
          </a:ln>
        </p:spPr>
      </p:sp>
      <p:sp>
        <p:nvSpPr>
          <p:cNvPr id="21" name="Text 19"/>
          <p:cNvSpPr txBox="1"/>
          <p:nvPr/>
        </p:nvSpPr>
        <p:spPr>
          <a:xfrm>
            <a:off x="877824" y="52852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22" name="Text 20"/>
          <p:cNvSpPr txBox="1"/>
          <p:nvPr/>
        </p:nvSpPr>
        <p:spPr>
          <a:xfrm>
            <a:off x="1280160" y="5230368"/>
            <a:ext cx="4526280"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Correcting the AI without starting over</a:t>
            </a:r>
            <a:endParaRPr lang="en-US" sz="1350" dirty="0"/>
          </a:p>
        </p:txBody>
      </p:sp>
      <p:sp>
        <p:nvSpPr>
          <p:cNvPr id="23" name="Text 21"/>
          <p:cNvSpPr txBox="1"/>
          <p:nvPr/>
        </p:nvSpPr>
        <p:spPr>
          <a:xfrm>
            <a:off x="1280160" y="5513832"/>
            <a:ext cx="452628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One field, one sentence, one press — instead of re-running the entire note.</a:t>
            </a:r>
            <a:endParaRPr lang="en-US" sz="1150" dirty="0"/>
          </a:p>
        </p:txBody>
      </p:sp>
      <p:sp>
        <p:nvSpPr>
          <p:cNvPr id="24" name="Shape 22"/>
          <p:cNvSpPr/>
          <p:nvPr/>
        </p:nvSpPr>
        <p:spPr>
          <a:xfrm>
            <a:off x="6373368" y="1645920"/>
            <a:ext cx="5251399" cy="4526280"/>
          </a:xfrm>
          <a:prstGeom prst="roundRect">
            <a:avLst>
              <a:gd name="adj" fmla="val 1414"/>
            </a:avLst>
          </a:prstGeom>
          <a:solidFill>
            <a:srgbClr val="F1F5F9"/>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25" name="Shape 23"/>
          <p:cNvSpPr/>
          <p:nvPr/>
        </p:nvSpPr>
        <p:spPr>
          <a:xfrm>
            <a:off x="6373368" y="1645920"/>
            <a:ext cx="5251399" cy="676656"/>
          </a:xfrm>
          <a:prstGeom prst="roundRect">
            <a:avLst>
              <a:gd name="adj" fmla="val 9459"/>
            </a:avLst>
          </a:prstGeom>
          <a:solidFill>
            <a:srgbClr val="E4EAF1"/>
          </a:solidFill>
          <a:ln w="12700">
            <a:solidFill>
              <a:srgbClr val="CBD5E1"/>
            </a:solidFill>
            <a:prstDash val="solid"/>
          </a:ln>
        </p:spPr>
      </p:sp>
      <p:sp>
        <p:nvSpPr>
          <p:cNvPr id="26" name="Text 24"/>
          <p:cNvSpPr txBox="1"/>
          <p:nvPr/>
        </p:nvSpPr>
        <p:spPr>
          <a:xfrm>
            <a:off x="6684264" y="1645920"/>
            <a:ext cx="4572000" cy="676656"/>
          </a:xfrm>
          <a:prstGeom prst="rect">
            <a:avLst/>
          </a:prstGeom>
          <a:noFill/>
          <a:ln/>
        </p:spPr>
        <p:txBody>
          <a:bodyPr wrap="square" lIns="0" tIns="0" rIns="0" bIns="0" rtlCol="0" anchor="ctr"/>
          <a:lstStyle/>
          <a:p>
            <a:pPr indent="0" marL="0">
              <a:buNone/>
            </a:pPr>
            <a:r>
              <a:rPr lang="en-US" sz="1150" b="1" spc="180" kern="0" dirty="0">
                <a:solidFill>
                  <a:srgbClr val="33445B"/>
                </a:solidFill>
                <a:latin typeface="Segoe UI" pitchFamily="34" charset="0"/>
                <a:ea typeface="Segoe UI" pitchFamily="34" charset="-122"/>
                <a:cs typeface="Segoe UI" pitchFamily="34" charset="-120"/>
              </a:rPr>
              <a:t>NOT CHANGING</a:t>
            </a:r>
            <a:endParaRPr lang="en-US" sz="1150" dirty="0"/>
          </a:p>
        </p:txBody>
      </p:sp>
      <p:sp>
        <p:nvSpPr>
          <p:cNvPr id="27" name="Shape 25"/>
          <p:cNvSpPr/>
          <p:nvPr/>
        </p:nvSpPr>
        <p:spPr>
          <a:xfrm>
            <a:off x="6684264" y="2542032"/>
            <a:ext cx="274320" cy="274320"/>
          </a:xfrm>
          <a:prstGeom prst="ellipse">
            <a:avLst/>
          </a:prstGeom>
          <a:solidFill>
            <a:srgbClr val="FFFFFF"/>
          </a:solidFill>
          <a:ln w="12700">
            <a:solidFill>
              <a:srgbClr val="CBD5E1"/>
            </a:solidFill>
            <a:prstDash val="solid"/>
          </a:ln>
        </p:spPr>
      </p:sp>
      <p:sp>
        <p:nvSpPr>
          <p:cNvPr id="28" name="Text 26"/>
          <p:cNvSpPr txBox="1"/>
          <p:nvPr/>
        </p:nvSpPr>
        <p:spPr>
          <a:xfrm>
            <a:off x="6684264" y="2542032"/>
            <a:ext cx="27432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Segoe UI" pitchFamily="34" charset="0"/>
                <a:ea typeface="Segoe UI" pitchFamily="34" charset="-122"/>
                <a:cs typeface="Segoe UI" pitchFamily="34" charset="-120"/>
              </a:rPr>
              <a:t>—</a:t>
            </a:r>
            <a:endParaRPr lang="en-US" sz="1200" dirty="0"/>
          </a:p>
        </p:txBody>
      </p:sp>
      <p:sp>
        <p:nvSpPr>
          <p:cNvPr id="29" name="Text 27"/>
          <p:cNvSpPr txBox="1"/>
          <p:nvPr/>
        </p:nvSpPr>
        <p:spPr>
          <a:xfrm>
            <a:off x="7086600" y="2487168"/>
            <a:ext cx="4114800" cy="274320"/>
          </a:xfrm>
          <a:prstGeom prst="rect">
            <a:avLst/>
          </a:prstGeom>
          <a:noFill/>
          <a:ln/>
        </p:spPr>
        <p:txBody>
          <a:bodyPr wrap="square" lIns="0" tIns="0" rIns="0" bIns="0" rtlCol="0" anchor="ctr"/>
          <a:lstStyle/>
          <a:p>
            <a:pPr indent="0" marL="0">
              <a:buNone/>
            </a:pPr>
            <a:r>
              <a:rPr lang="en-US" sz="1350" b="1" dirty="0">
                <a:solidFill>
                  <a:srgbClr val="33445B"/>
                </a:solidFill>
                <a:latin typeface="Segoe UI" pitchFamily="34" charset="0"/>
                <a:ea typeface="Segoe UI" pitchFamily="34" charset="-122"/>
                <a:cs typeface="Segoe UI" pitchFamily="34" charset="-120"/>
              </a:rPr>
              <a:t>The encounter form</a:t>
            </a:r>
            <a:endParaRPr lang="en-US" sz="1350" dirty="0"/>
          </a:p>
        </p:txBody>
      </p:sp>
      <p:sp>
        <p:nvSpPr>
          <p:cNvPr id="30" name="Text 28"/>
          <p:cNvSpPr txBox="1"/>
          <p:nvPr/>
        </p:nvSpPr>
        <p:spPr>
          <a:xfrm>
            <a:off x="7086600" y="2770632"/>
            <a:ext cx="411480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Same fields, same order, same navigation. Nothing is moved.</a:t>
            </a:r>
            <a:endParaRPr lang="en-US" sz="1150" dirty="0"/>
          </a:p>
        </p:txBody>
      </p:sp>
      <p:sp>
        <p:nvSpPr>
          <p:cNvPr id="31" name="Shape 29"/>
          <p:cNvSpPr/>
          <p:nvPr/>
        </p:nvSpPr>
        <p:spPr>
          <a:xfrm>
            <a:off x="6684264" y="3456432"/>
            <a:ext cx="274320" cy="274320"/>
          </a:xfrm>
          <a:prstGeom prst="ellipse">
            <a:avLst/>
          </a:prstGeom>
          <a:solidFill>
            <a:srgbClr val="FFFFFF"/>
          </a:solidFill>
          <a:ln w="12700">
            <a:solidFill>
              <a:srgbClr val="CBD5E1"/>
            </a:solidFill>
            <a:prstDash val="solid"/>
          </a:ln>
        </p:spPr>
      </p:sp>
      <p:sp>
        <p:nvSpPr>
          <p:cNvPr id="32" name="Text 30"/>
          <p:cNvSpPr txBox="1"/>
          <p:nvPr/>
        </p:nvSpPr>
        <p:spPr>
          <a:xfrm>
            <a:off x="6684264" y="3456432"/>
            <a:ext cx="27432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Segoe UI" pitchFamily="34" charset="0"/>
                <a:ea typeface="Segoe UI" pitchFamily="34" charset="-122"/>
                <a:cs typeface="Segoe UI" pitchFamily="34" charset="-120"/>
              </a:rPr>
              <a:t>—</a:t>
            </a:r>
            <a:endParaRPr lang="en-US" sz="1200" dirty="0"/>
          </a:p>
        </p:txBody>
      </p:sp>
      <p:sp>
        <p:nvSpPr>
          <p:cNvPr id="33" name="Text 31"/>
          <p:cNvSpPr txBox="1"/>
          <p:nvPr/>
        </p:nvSpPr>
        <p:spPr>
          <a:xfrm>
            <a:off x="7086600" y="3401568"/>
            <a:ext cx="4114800" cy="274320"/>
          </a:xfrm>
          <a:prstGeom prst="rect">
            <a:avLst/>
          </a:prstGeom>
          <a:noFill/>
          <a:ln/>
        </p:spPr>
        <p:txBody>
          <a:bodyPr wrap="square" lIns="0" tIns="0" rIns="0" bIns="0" rtlCol="0" anchor="ctr"/>
          <a:lstStyle/>
          <a:p>
            <a:pPr indent="0" marL="0">
              <a:buNone/>
            </a:pPr>
            <a:r>
              <a:rPr lang="en-US" sz="1350" b="1" dirty="0">
                <a:solidFill>
                  <a:srgbClr val="33445B"/>
                </a:solidFill>
                <a:latin typeface="Segoe UI" pitchFamily="34" charset="0"/>
                <a:ea typeface="Segoe UI" pitchFamily="34" charset="-122"/>
                <a:cs typeface="Segoe UI" pitchFamily="34" charset="-120"/>
              </a:rPr>
              <a:t>How dictation reaches the box</a:t>
            </a:r>
            <a:endParaRPr lang="en-US" sz="1350" dirty="0"/>
          </a:p>
        </p:txBody>
      </p:sp>
      <p:sp>
        <p:nvSpPr>
          <p:cNvPr id="34" name="Text 32"/>
          <p:cNvSpPr txBox="1"/>
          <p:nvPr/>
        </p:nvSpPr>
        <p:spPr>
          <a:xfrm>
            <a:off x="7086600" y="3685032"/>
            <a:ext cx="411480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Dictated, pasted or typed — untouched.</a:t>
            </a:r>
            <a:endParaRPr lang="en-US" sz="1150" dirty="0"/>
          </a:p>
        </p:txBody>
      </p:sp>
      <p:sp>
        <p:nvSpPr>
          <p:cNvPr id="35" name="Shape 33"/>
          <p:cNvSpPr/>
          <p:nvPr/>
        </p:nvSpPr>
        <p:spPr>
          <a:xfrm>
            <a:off x="6684264" y="4370832"/>
            <a:ext cx="274320" cy="274320"/>
          </a:xfrm>
          <a:prstGeom prst="ellipse">
            <a:avLst/>
          </a:prstGeom>
          <a:solidFill>
            <a:srgbClr val="FFFFFF"/>
          </a:solidFill>
          <a:ln w="12700">
            <a:solidFill>
              <a:srgbClr val="CBD5E1"/>
            </a:solidFill>
            <a:prstDash val="solid"/>
          </a:ln>
        </p:spPr>
      </p:sp>
      <p:sp>
        <p:nvSpPr>
          <p:cNvPr id="36" name="Text 34"/>
          <p:cNvSpPr txBox="1"/>
          <p:nvPr/>
        </p:nvSpPr>
        <p:spPr>
          <a:xfrm>
            <a:off x="6684264" y="4370832"/>
            <a:ext cx="27432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Segoe UI" pitchFamily="34" charset="0"/>
                <a:ea typeface="Segoe UI" pitchFamily="34" charset="-122"/>
                <a:cs typeface="Segoe UI" pitchFamily="34" charset="-120"/>
              </a:rPr>
              <a:t>—</a:t>
            </a:r>
            <a:endParaRPr lang="en-US" sz="1200" dirty="0"/>
          </a:p>
        </p:txBody>
      </p:sp>
      <p:sp>
        <p:nvSpPr>
          <p:cNvPr id="37" name="Text 35"/>
          <p:cNvSpPr txBox="1"/>
          <p:nvPr/>
        </p:nvSpPr>
        <p:spPr>
          <a:xfrm>
            <a:off x="7086600" y="4315968"/>
            <a:ext cx="4114800" cy="274320"/>
          </a:xfrm>
          <a:prstGeom prst="rect">
            <a:avLst/>
          </a:prstGeom>
          <a:noFill/>
          <a:ln/>
        </p:spPr>
        <p:txBody>
          <a:bodyPr wrap="square" lIns="0" tIns="0" rIns="0" bIns="0" rtlCol="0" anchor="ctr"/>
          <a:lstStyle/>
          <a:p>
            <a:pPr indent="0" marL="0">
              <a:buNone/>
            </a:pPr>
            <a:r>
              <a:rPr lang="en-US" sz="1350" b="1" dirty="0">
                <a:solidFill>
                  <a:srgbClr val="33445B"/>
                </a:solidFill>
                <a:latin typeface="Segoe UI" pitchFamily="34" charset="0"/>
                <a:ea typeface="Segoe UI" pitchFamily="34" charset="-122"/>
                <a:cs typeface="Segoe UI" pitchFamily="34" charset="-120"/>
              </a:rPr>
              <a:t>The way you sign and submit</a:t>
            </a:r>
            <a:endParaRPr lang="en-US" sz="1350" dirty="0"/>
          </a:p>
        </p:txBody>
      </p:sp>
      <p:sp>
        <p:nvSpPr>
          <p:cNvPr id="38" name="Text 36"/>
          <p:cNvSpPr txBox="1"/>
          <p:nvPr/>
        </p:nvSpPr>
        <p:spPr>
          <a:xfrm>
            <a:off x="7086600" y="4599432"/>
            <a:ext cx="411480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Same route, same screen. Signature simply becomes the lock point.</a:t>
            </a:r>
            <a:endParaRPr lang="en-US" sz="1150" dirty="0"/>
          </a:p>
        </p:txBody>
      </p:sp>
      <p:sp>
        <p:nvSpPr>
          <p:cNvPr id="39" name="Shape 37"/>
          <p:cNvSpPr/>
          <p:nvPr/>
        </p:nvSpPr>
        <p:spPr>
          <a:xfrm>
            <a:off x="6684264" y="5285232"/>
            <a:ext cx="274320" cy="274320"/>
          </a:xfrm>
          <a:prstGeom prst="ellipse">
            <a:avLst/>
          </a:prstGeom>
          <a:solidFill>
            <a:srgbClr val="FFFFFF"/>
          </a:solidFill>
          <a:ln w="12700">
            <a:solidFill>
              <a:srgbClr val="CBD5E1"/>
            </a:solidFill>
            <a:prstDash val="solid"/>
          </a:ln>
        </p:spPr>
      </p:sp>
      <p:sp>
        <p:nvSpPr>
          <p:cNvPr id="40" name="Text 38"/>
          <p:cNvSpPr txBox="1"/>
          <p:nvPr/>
        </p:nvSpPr>
        <p:spPr>
          <a:xfrm>
            <a:off x="6684264" y="5285232"/>
            <a:ext cx="27432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Segoe UI" pitchFamily="34" charset="0"/>
                <a:ea typeface="Segoe UI" pitchFamily="34" charset="-122"/>
                <a:cs typeface="Segoe UI" pitchFamily="34" charset="-120"/>
              </a:rPr>
              <a:t>—</a:t>
            </a:r>
            <a:endParaRPr lang="en-US" sz="1200" dirty="0"/>
          </a:p>
        </p:txBody>
      </p:sp>
      <p:sp>
        <p:nvSpPr>
          <p:cNvPr id="41" name="Text 39"/>
          <p:cNvSpPr txBox="1"/>
          <p:nvPr/>
        </p:nvSpPr>
        <p:spPr>
          <a:xfrm>
            <a:off x="7086600" y="5230368"/>
            <a:ext cx="4114800" cy="274320"/>
          </a:xfrm>
          <a:prstGeom prst="rect">
            <a:avLst/>
          </a:prstGeom>
          <a:noFill/>
          <a:ln/>
        </p:spPr>
        <p:txBody>
          <a:bodyPr wrap="square" lIns="0" tIns="0" rIns="0" bIns="0" rtlCol="0" anchor="ctr"/>
          <a:lstStyle/>
          <a:p>
            <a:pPr indent="0" marL="0">
              <a:buNone/>
            </a:pPr>
            <a:r>
              <a:rPr lang="en-US" sz="1350" b="1" dirty="0">
                <a:solidFill>
                  <a:srgbClr val="33445B"/>
                </a:solidFill>
                <a:latin typeface="Segoe UI" pitchFamily="34" charset="0"/>
                <a:ea typeface="Segoe UI" pitchFamily="34" charset="-122"/>
                <a:cs typeface="Segoe UI" pitchFamily="34" charset="-120"/>
              </a:rPr>
              <a:t>Everyone on the current flow</a:t>
            </a:r>
            <a:endParaRPr lang="en-US" sz="1350" dirty="0"/>
          </a:p>
        </p:txBody>
      </p:sp>
      <p:sp>
        <p:nvSpPr>
          <p:cNvPr id="42" name="Text 40"/>
          <p:cNvSpPr txBox="1"/>
          <p:nvPr/>
        </p:nvSpPr>
        <p:spPr>
          <a:xfrm>
            <a:off x="7086600" y="5513832"/>
            <a:ext cx="411480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Accounts stay exactly as they are until switched over, one at a time.</a:t>
            </a:r>
            <a:endParaRPr lang="en-US" sz="1150" dirty="0"/>
          </a:p>
        </p:txBody>
      </p:sp>
      <p:sp>
        <p:nvSpPr>
          <p:cNvPr id="43" name="Text 41"/>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44" name="Text 42"/>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TODAY</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The journey a provider has now</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Four steps and no checkpoint. The note is written, filled and saved before anyone has looked at it.</a:t>
            </a:r>
            <a:endParaRPr lang="en-US" sz="1350" dirty="0"/>
          </a:p>
        </p:txBody>
      </p:sp>
      <p:sp>
        <p:nvSpPr>
          <p:cNvPr id="5" name="Shape 3"/>
          <p:cNvSpPr/>
          <p:nvPr/>
        </p:nvSpPr>
        <p:spPr>
          <a:xfrm>
            <a:off x="566928" y="1645920"/>
            <a:ext cx="2558720" cy="1847088"/>
          </a:xfrm>
          <a:prstGeom prst="roundRect">
            <a:avLst>
              <a:gd name="adj" fmla="val 3465"/>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6" name="Shape 4"/>
          <p:cNvSpPr/>
          <p:nvPr/>
        </p:nvSpPr>
        <p:spPr>
          <a:xfrm>
            <a:off x="841248" y="1865376"/>
            <a:ext cx="384048" cy="384048"/>
          </a:xfrm>
          <a:prstGeom prst="ellipse">
            <a:avLst/>
          </a:prstGeom>
          <a:solidFill>
            <a:srgbClr val="33445B"/>
          </a:solidFill>
          <a:ln w="12700">
            <a:solidFill>
              <a:srgbClr val="33445B"/>
            </a:solidFill>
            <a:prstDash val="solid"/>
          </a:ln>
        </p:spPr>
      </p:sp>
      <p:sp>
        <p:nvSpPr>
          <p:cNvPr id="7" name="Text 5"/>
          <p:cNvSpPr txBox="1"/>
          <p:nvPr/>
        </p:nvSpPr>
        <p:spPr>
          <a:xfrm>
            <a:off x="841248" y="186537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8" name="Text 6"/>
          <p:cNvSpPr txBox="1"/>
          <p:nvPr/>
        </p:nvSpPr>
        <p:spPr>
          <a:xfrm>
            <a:off x="841248" y="2359152"/>
            <a:ext cx="2010080" cy="292608"/>
          </a:xfrm>
          <a:prstGeom prst="rect">
            <a:avLst/>
          </a:prstGeom>
          <a:noFill/>
          <a:ln/>
        </p:spPr>
        <p:txBody>
          <a:bodyPr wrap="square" lIns="0" tIns="0" rIns="0" bIns="0" rtlCol="0" anchor="ctr"/>
          <a:lstStyle/>
          <a:p>
            <a:pPr indent="0" marL="0">
              <a:buNone/>
            </a:pPr>
            <a:r>
              <a:rPr lang="en-US" sz="1450" b="1" dirty="0">
                <a:solidFill>
                  <a:srgbClr val="10233A"/>
                </a:solidFill>
                <a:latin typeface="Segoe UI" pitchFamily="34" charset="0"/>
                <a:ea typeface="Segoe UI" pitchFamily="34" charset="-122"/>
                <a:cs typeface="Segoe UI" pitchFamily="34" charset="-120"/>
              </a:rPr>
              <a:t>Dictate or type</a:t>
            </a:r>
            <a:endParaRPr lang="en-US" sz="1450" dirty="0"/>
          </a:p>
        </p:txBody>
      </p:sp>
      <p:sp>
        <p:nvSpPr>
          <p:cNvPr id="9" name="Text 7"/>
          <p:cNvSpPr txBox="1"/>
          <p:nvPr/>
        </p:nvSpPr>
        <p:spPr>
          <a:xfrm>
            <a:off x="841248" y="2670048"/>
            <a:ext cx="2010080" cy="73152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The provider says what happened in the encounter.</a:t>
            </a:r>
            <a:endParaRPr lang="en-US" sz="1150" dirty="0"/>
          </a:p>
        </p:txBody>
      </p:sp>
      <p:sp>
        <p:nvSpPr>
          <p:cNvPr id="10" name="Shape 8"/>
          <p:cNvSpPr/>
          <p:nvPr/>
        </p:nvSpPr>
        <p:spPr>
          <a:xfrm>
            <a:off x="3399968" y="1645920"/>
            <a:ext cx="2558720" cy="1847088"/>
          </a:xfrm>
          <a:prstGeom prst="roundRect">
            <a:avLst>
              <a:gd name="adj" fmla="val 3465"/>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11" name="Shape 9"/>
          <p:cNvSpPr/>
          <p:nvPr/>
        </p:nvSpPr>
        <p:spPr>
          <a:xfrm>
            <a:off x="3674288" y="1865376"/>
            <a:ext cx="384048" cy="384048"/>
          </a:xfrm>
          <a:prstGeom prst="ellipse">
            <a:avLst/>
          </a:prstGeom>
          <a:solidFill>
            <a:srgbClr val="33445B"/>
          </a:solidFill>
          <a:ln w="12700">
            <a:solidFill>
              <a:srgbClr val="33445B"/>
            </a:solidFill>
            <a:prstDash val="solid"/>
          </a:ln>
        </p:spPr>
      </p:sp>
      <p:sp>
        <p:nvSpPr>
          <p:cNvPr id="12" name="Text 10"/>
          <p:cNvSpPr txBox="1"/>
          <p:nvPr/>
        </p:nvSpPr>
        <p:spPr>
          <a:xfrm>
            <a:off x="3674288" y="186537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3" name="Text 11"/>
          <p:cNvSpPr txBox="1"/>
          <p:nvPr/>
        </p:nvSpPr>
        <p:spPr>
          <a:xfrm>
            <a:off x="3674288" y="2359152"/>
            <a:ext cx="2010080" cy="292608"/>
          </a:xfrm>
          <a:prstGeom prst="rect">
            <a:avLst/>
          </a:prstGeom>
          <a:noFill/>
          <a:ln/>
        </p:spPr>
        <p:txBody>
          <a:bodyPr wrap="square" lIns="0" tIns="0" rIns="0" bIns="0" rtlCol="0" anchor="ctr"/>
          <a:lstStyle/>
          <a:p>
            <a:pPr indent="0" marL="0">
              <a:buNone/>
            </a:pPr>
            <a:r>
              <a:rPr lang="en-US" sz="1450" b="1" dirty="0">
                <a:solidFill>
                  <a:srgbClr val="10233A"/>
                </a:solidFill>
                <a:latin typeface="Segoe UI" pitchFamily="34" charset="0"/>
                <a:ea typeface="Segoe UI" pitchFamily="34" charset="-122"/>
                <a:cs typeface="Segoe UI" pitchFamily="34" charset="-120"/>
              </a:rPr>
              <a:t>Press Execute</a:t>
            </a:r>
            <a:endParaRPr lang="en-US" sz="1450" dirty="0"/>
          </a:p>
        </p:txBody>
      </p:sp>
      <p:sp>
        <p:nvSpPr>
          <p:cNvPr id="14" name="Text 12"/>
          <p:cNvSpPr txBox="1"/>
          <p:nvPr/>
        </p:nvSpPr>
        <p:spPr>
          <a:xfrm>
            <a:off x="3674288" y="2670048"/>
            <a:ext cx="2010080" cy="73152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One press. The request goes out.</a:t>
            </a:r>
            <a:endParaRPr lang="en-US" sz="1150" dirty="0"/>
          </a:p>
        </p:txBody>
      </p:sp>
      <p:sp>
        <p:nvSpPr>
          <p:cNvPr id="15" name="Shape 13"/>
          <p:cNvSpPr/>
          <p:nvPr/>
        </p:nvSpPr>
        <p:spPr>
          <a:xfrm>
            <a:off x="6233008" y="1645920"/>
            <a:ext cx="2558720" cy="1847088"/>
          </a:xfrm>
          <a:prstGeom prst="roundRect">
            <a:avLst>
              <a:gd name="adj" fmla="val 3465"/>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16" name="Shape 14"/>
          <p:cNvSpPr/>
          <p:nvPr/>
        </p:nvSpPr>
        <p:spPr>
          <a:xfrm>
            <a:off x="6507328" y="1865376"/>
            <a:ext cx="384048" cy="384048"/>
          </a:xfrm>
          <a:prstGeom prst="ellipse">
            <a:avLst/>
          </a:prstGeom>
          <a:solidFill>
            <a:srgbClr val="33445B"/>
          </a:solidFill>
          <a:ln w="12700">
            <a:solidFill>
              <a:srgbClr val="33445B"/>
            </a:solidFill>
            <a:prstDash val="solid"/>
          </a:ln>
        </p:spPr>
      </p:sp>
      <p:sp>
        <p:nvSpPr>
          <p:cNvPr id="17" name="Text 15"/>
          <p:cNvSpPr txBox="1"/>
          <p:nvPr/>
        </p:nvSpPr>
        <p:spPr>
          <a:xfrm>
            <a:off x="6507328" y="186537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18" name="Text 16"/>
          <p:cNvSpPr txBox="1"/>
          <p:nvPr/>
        </p:nvSpPr>
        <p:spPr>
          <a:xfrm>
            <a:off x="6507328" y="2359152"/>
            <a:ext cx="2010080" cy="292608"/>
          </a:xfrm>
          <a:prstGeom prst="rect">
            <a:avLst/>
          </a:prstGeom>
          <a:noFill/>
          <a:ln/>
        </p:spPr>
        <p:txBody>
          <a:bodyPr wrap="square" lIns="0" tIns="0" rIns="0" bIns="0" rtlCol="0" anchor="ctr"/>
          <a:lstStyle/>
          <a:p>
            <a:pPr indent="0" marL="0">
              <a:buNone/>
            </a:pPr>
            <a:r>
              <a:rPr lang="en-US" sz="1450" b="1" dirty="0">
                <a:solidFill>
                  <a:srgbClr val="10233A"/>
                </a:solidFill>
                <a:latin typeface="Segoe UI" pitchFamily="34" charset="0"/>
                <a:ea typeface="Segoe UI" pitchFamily="34" charset="-122"/>
                <a:cs typeface="Segoe UI" pitchFamily="34" charset="-120"/>
              </a:rPr>
              <a:t>The note appears, filled</a:t>
            </a:r>
            <a:endParaRPr lang="en-US" sz="1450" dirty="0"/>
          </a:p>
        </p:txBody>
      </p:sp>
      <p:sp>
        <p:nvSpPr>
          <p:cNvPr id="19" name="Text 17"/>
          <p:cNvSpPr txBox="1"/>
          <p:nvPr/>
        </p:nvSpPr>
        <p:spPr>
          <a:xfrm>
            <a:off x="6507328" y="2670048"/>
            <a:ext cx="2010080" cy="73152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Values land in the fields. No indication of which are AI, or how sure it was.</a:t>
            </a:r>
            <a:endParaRPr lang="en-US" sz="1150" dirty="0"/>
          </a:p>
        </p:txBody>
      </p:sp>
      <p:sp>
        <p:nvSpPr>
          <p:cNvPr id="20" name="Shape 18"/>
          <p:cNvSpPr/>
          <p:nvPr/>
        </p:nvSpPr>
        <p:spPr>
          <a:xfrm>
            <a:off x="9066047" y="1645920"/>
            <a:ext cx="2558720" cy="1847088"/>
          </a:xfrm>
          <a:prstGeom prst="roundRect">
            <a:avLst>
              <a:gd name="adj" fmla="val 3465"/>
            </a:avLst>
          </a:prstGeom>
          <a:solidFill>
            <a:srgbClr val="FCE7E7"/>
          </a:solidFill>
          <a:ln w="12700">
            <a:solidFill>
              <a:srgbClr val="B91C1C"/>
            </a:solidFill>
            <a:prstDash val="solid"/>
          </a:ln>
          <a:effectLst>
            <a:outerShdw sx="100000" sy="100000" kx="0" ky="0" algn="bl" rotWithShape="0" blurRad="127000" dist="25400" dir="5400000">
              <a:srgbClr val="10233A">
                <a:alpha val="8000"/>
              </a:srgbClr>
            </a:outerShdw>
          </a:effectLst>
        </p:spPr>
      </p:sp>
      <p:sp>
        <p:nvSpPr>
          <p:cNvPr id="21" name="Shape 19"/>
          <p:cNvSpPr/>
          <p:nvPr/>
        </p:nvSpPr>
        <p:spPr>
          <a:xfrm>
            <a:off x="9340367" y="1865376"/>
            <a:ext cx="384048" cy="384048"/>
          </a:xfrm>
          <a:prstGeom prst="ellipse">
            <a:avLst/>
          </a:prstGeom>
          <a:solidFill>
            <a:srgbClr val="B91C1C"/>
          </a:solidFill>
          <a:ln w="12700">
            <a:solidFill>
              <a:srgbClr val="B91C1C"/>
            </a:solidFill>
            <a:prstDash val="solid"/>
          </a:ln>
        </p:spPr>
      </p:sp>
      <p:sp>
        <p:nvSpPr>
          <p:cNvPr id="22" name="Text 20"/>
          <p:cNvSpPr txBox="1"/>
          <p:nvPr/>
        </p:nvSpPr>
        <p:spPr>
          <a:xfrm>
            <a:off x="9340367" y="186537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23" name="Text 21"/>
          <p:cNvSpPr txBox="1"/>
          <p:nvPr/>
        </p:nvSpPr>
        <p:spPr>
          <a:xfrm>
            <a:off x="9340367" y="2359152"/>
            <a:ext cx="2010080" cy="292608"/>
          </a:xfrm>
          <a:prstGeom prst="rect">
            <a:avLst/>
          </a:prstGeom>
          <a:noFill/>
          <a:ln/>
        </p:spPr>
        <p:txBody>
          <a:bodyPr wrap="square" lIns="0" tIns="0" rIns="0" bIns="0" rtlCol="0" anchor="ctr"/>
          <a:lstStyle/>
          <a:p>
            <a:pPr indent="0" marL="0">
              <a:buNone/>
            </a:pPr>
            <a:r>
              <a:rPr lang="en-US" sz="1450" b="1" dirty="0">
                <a:solidFill>
                  <a:srgbClr val="B91C1C"/>
                </a:solidFill>
                <a:latin typeface="Segoe UI" pitchFamily="34" charset="0"/>
                <a:ea typeface="Segoe UI" pitchFamily="34" charset="-122"/>
                <a:cs typeface="Segoe UI" pitchFamily="34" charset="-120"/>
              </a:rPr>
              <a:t>It saves itself</a:t>
            </a:r>
            <a:endParaRPr lang="en-US" sz="1450" dirty="0"/>
          </a:p>
        </p:txBody>
      </p:sp>
      <p:sp>
        <p:nvSpPr>
          <p:cNvPr id="24" name="Text 22"/>
          <p:cNvSpPr txBox="1"/>
          <p:nvPr/>
        </p:nvSpPr>
        <p:spPr>
          <a:xfrm>
            <a:off x="9340367" y="2670048"/>
            <a:ext cx="2010080" cy="731520"/>
          </a:xfrm>
          <a:prstGeom prst="rect">
            <a:avLst/>
          </a:prstGeom>
          <a:noFill/>
          <a:ln/>
        </p:spPr>
        <p:txBody>
          <a:bodyPr wrap="square" lIns="0" tIns="0" rIns="0" bIns="0" rtlCol="0" anchor="ctr"/>
          <a:lstStyle/>
          <a:p>
            <a:pPr indent="0" marL="0">
              <a:lnSpc>
                <a:spcPts val="1500"/>
              </a:lnSpc>
              <a:buNone/>
            </a:pPr>
            <a:r>
              <a:rPr lang="en-US" sz="1150" dirty="0">
                <a:solidFill>
                  <a:srgbClr val="8A3A3A"/>
                </a:solidFill>
                <a:latin typeface="Segoe UI" pitchFamily="34" charset="0"/>
                <a:ea typeface="Segoe UI" pitchFamily="34" charset="-122"/>
                <a:cs typeface="Segoe UI" pitchFamily="34" charset="-120"/>
              </a:rPr>
              <a:t>One second later the encounter is submitted — with nobody having reviewed it.</a:t>
            </a:r>
            <a:endParaRPr lang="en-US" sz="1150" dirty="0"/>
          </a:p>
        </p:txBody>
      </p:sp>
      <p:sp>
        <p:nvSpPr>
          <p:cNvPr id="25" name="Text 23"/>
          <p:cNvSpPr txBox="1"/>
          <p:nvPr/>
        </p:nvSpPr>
        <p:spPr>
          <a:xfrm>
            <a:off x="3143936" y="2331720"/>
            <a:ext cx="237744" cy="365760"/>
          </a:xfrm>
          <a:prstGeom prst="rect">
            <a:avLst/>
          </a:prstGeom>
          <a:noFill/>
          <a:ln/>
        </p:spPr>
        <p:txBody>
          <a:bodyPr wrap="square" lIns="0" tIns="0" rIns="0" bIns="0" rtlCol="0" anchor="ctr"/>
          <a:lstStyle/>
          <a:p>
            <a:pPr algn="ctr" indent="0" marL="0">
              <a:buNone/>
            </a:pPr>
            <a:r>
              <a:rPr lang="en-US" sz="2200" b="1" dirty="0">
                <a:solidFill>
                  <a:srgbClr val="9FB3C8"/>
                </a:solidFill>
                <a:latin typeface="Segoe UI" pitchFamily="34" charset="0"/>
                <a:ea typeface="Segoe UI" pitchFamily="34" charset="-122"/>
                <a:cs typeface="Segoe UI" pitchFamily="34" charset="-120"/>
              </a:rPr>
              <a:t>›</a:t>
            </a:r>
            <a:endParaRPr lang="en-US" sz="2200" dirty="0"/>
          </a:p>
        </p:txBody>
      </p:sp>
      <p:sp>
        <p:nvSpPr>
          <p:cNvPr id="26" name="Text 24"/>
          <p:cNvSpPr txBox="1"/>
          <p:nvPr/>
        </p:nvSpPr>
        <p:spPr>
          <a:xfrm>
            <a:off x="5976976" y="2331720"/>
            <a:ext cx="237744" cy="365760"/>
          </a:xfrm>
          <a:prstGeom prst="rect">
            <a:avLst/>
          </a:prstGeom>
          <a:noFill/>
          <a:ln/>
        </p:spPr>
        <p:txBody>
          <a:bodyPr wrap="square" lIns="0" tIns="0" rIns="0" bIns="0" rtlCol="0" anchor="ctr"/>
          <a:lstStyle/>
          <a:p>
            <a:pPr algn="ctr" indent="0" marL="0">
              <a:buNone/>
            </a:pPr>
            <a:r>
              <a:rPr lang="en-US" sz="2200" b="1" dirty="0">
                <a:solidFill>
                  <a:srgbClr val="9FB3C8"/>
                </a:solidFill>
                <a:latin typeface="Segoe UI" pitchFamily="34" charset="0"/>
                <a:ea typeface="Segoe UI" pitchFamily="34" charset="-122"/>
                <a:cs typeface="Segoe UI" pitchFamily="34" charset="-120"/>
              </a:rPr>
              <a:t>›</a:t>
            </a:r>
            <a:endParaRPr lang="en-US" sz="2200" dirty="0"/>
          </a:p>
        </p:txBody>
      </p:sp>
      <p:sp>
        <p:nvSpPr>
          <p:cNvPr id="27" name="Text 25"/>
          <p:cNvSpPr txBox="1"/>
          <p:nvPr/>
        </p:nvSpPr>
        <p:spPr>
          <a:xfrm>
            <a:off x="8810015" y="2331720"/>
            <a:ext cx="237744" cy="365760"/>
          </a:xfrm>
          <a:prstGeom prst="rect">
            <a:avLst/>
          </a:prstGeom>
          <a:noFill/>
          <a:ln/>
        </p:spPr>
        <p:txBody>
          <a:bodyPr wrap="square" lIns="0" tIns="0" rIns="0" bIns="0" rtlCol="0" anchor="ctr"/>
          <a:lstStyle/>
          <a:p>
            <a:pPr algn="ctr" indent="0" marL="0">
              <a:buNone/>
            </a:pPr>
            <a:r>
              <a:rPr lang="en-US" sz="2200" b="1" dirty="0">
                <a:solidFill>
                  <a:srgbClr val="9FB3C8"/>
                </a:solidFill>
                <a:latin typeface="Segoe UI" pitchFamily="34" charset="0"/>
                <a:ea typeface="Segoe UI" pitchFamily="34" charset="-122"/>
                <a:cs typeface="Segoe UI" pitchFamily="34" charset="-120"/>
              </a:rPr>
              <a:t>›</a:t>
            </a:r>
            <a:endParaRPr lang="en-US" sz="2200" dirty="0"/>
          </a:p>
        </p:txBody>
      </p:sp>
      <p:sp>
        <p:nvSpPr>
          <p:cNvPr id="28" name="Shape 26"/>
          <p:cNvSpPr/>
          <p:nvPr/>
        </p:nvSpPr>
        <p:spPr>
          <a:xfrm>
            <a:off x="566928" y="3785616"/>
            <a:ext cx="11057839" cy="2011680"/>
          </a:xfrm>
          <a:prstGeom prst="roundRect">
            <a:avLst>
              <a:gd name="adj" fmla="val 3182"/>
            </a:avLst>
          </a:prstGeom>
          <a:solidFill>
            <a:srgbClr val="F1F5F9"/>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29" name="Text 27"/>
          <p:cNvSpPr txBox="1"/>
          <p:nvPr/>
        </p:nvSpPr>
        <p:spPr>
          <a:xfrm>
            <a:off x="932688" y="4005072"/>
            <a:ext cx="10326319" cy="274320"/>
          </a:xfrm>
          <a:prstGeom prst="rect">
            <a:avLst/>
          </a:prstGeom>
          <a:noFill/>
          <a:ln/>
        </p:spPr>
        <p:txBody>
          <a:bodyPr wrap="square" lIns="0" tIns="0" rIns="0" bIns="0" rtlCol="0" anchor="ctr"/>
          <a:lstStyle/>
          <a:p>
            <a:pPr indent="0" marL="0">
              <a:buNone/>
            </a:pPr>
            <a:r>
              <a:rPr lang="en-US" sz="1150" b="1" spc="180" kern="0" dirty="0">
                <a:solidFill>
                  <a:srgbClr val="33445B"/>
                </a:solidFill>
                <a:latin typeface="Segoe UI" pitchFamily="34" charset="0"/>
                <a:ea typeface="Segoe UI" pitchFamily="34" charset="-122"/>
                <a:cs typeface="Segoe UI" pitchFamily="34" charset="-120"/>
              </a:rPr>
              <a:t>FOUR QUESTIONS A PROVIDER CANNOT ANSWER TODAY</a:t>
            </a:r>
            <a:endParaRPr lang="en-US" sz="1150" dirty="0"/>
          </a:p>
        </p:txBody>
      </p:sp>
      <p:sp>
        <p:nvSpPr>
          <p:cNvPr id="30" name="Text 28"/>
          <p:cNvSpPr txBox="1"/>
          <p:nvPr/>
        </p:nvSpPr>
        <p:spPr>
          <a:xfrm>
            <a:off x="932688" y="4425696"/>
            <a:ext cx="274320" cy="310896"/>
          </a:xfrm>
          <a:prstGeom prst="rect">
            <a:avLst/>
          </a:prstGeom>
          <a:noFill/>
          <a:ln/>
        </p:spPr>
        <p:txBody>
          <a:bodyPr wrap="square" lIns="0" tIns="0" rIns="0" bIns="0" rtlCol="0" anchor="ctr"/>
          <a:lstStyle/>
          <a:p>
            <a:pPr indent="0" marL="0">
              <a:buNone/>
            </a:pPr>
            <a:r>
              <a:rPr lang="en-US" sz="1900" b="1" dirty="0">
                <a:solidFill>
                  <a:srgbClr val="B91C1C"/>
                </a:solidFill>
                <a:latin typeface="Segoe UI" pitchFamily="34" charset="0"/>
                <a:ea typeface="Segoe UI" pitchFamily="34" charset="-122"/>
                <a:cs typeface="Segoe UI" pitchFamily="34" charset="-120"/>
              </a:rPr>
              <a:t>?</a:t>
            </a:r>
            <a:endParaRPr lang="en-US" sz="1900" dirty="0"/>
          </a:p>
        </p:txBody>
      </p:sp>
      <p:sp>
        <p:nvSpPr>
          <p:cNvPr id="31" name="Text 29"/>
          <p:cNvSpPr txBox="1"/>
          <p:nvPr/>
        </p:nvSpPr>
        <p:spPr>
          <a:xfrm>
            <a:off x="1207008" y="4443984"/>
            <a:ext cx="2101520" cy="512064"/>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Which of these values did the AI put here?</a:t>
            </a:r>
            <a:endParaRPr lang="en-US" sz="1250" dirty="0"/>
          </a:p>
        </p:txBody>
      </p:sp>
      <p:sp>
        <p:nvSpPr>
          <p:cNvPr id="32" name="Text 30"/>
          <p:cNvSpPr txBox="1"/>
          <p:nvPr/>
        </p:nvSpPr>
        <p:spPr>
          <a:xfrm>
            <a:off x="932688" y="5029200"/>
            <a:ext cx="2375840" cy="731520"/>
          </a:xfrm>
          <a:prstGeom prst="rect">
            <a:avLst/>
          </a:prstGeom>
          <a:noFill/>
          <a:ln/>
        </p:spPr>
        <p:txBody>
          <a:bodyPr wrap="square" lIns="0" tIns="0" rIns="0" bIns="0" rtlCol="0" anchor="ctr"/>
          <a:lstStyle/>
          <a:p>
            <a:pPr indent="0" marL="0">
              <a:lnSpc>
                <a:spcPts val="1450"/>
              </a:lnSpc>
              <a:buNone/>
            </a:pPr>
            <a:r>
              <a:rPr lang="en-US" sz="1100" dirty="0">
                <a:solidFill>
                  <a:srgbClr val="64748B"/>
                </a:solidFill>
                <a:latin typeface="Segoe UI" pitchFamily="34" charset="0"/>
                <a:ea typeface="Segoe UI" pitchFamily="34" charset="-122"/>
                <a:cs typeface="Segoe UI" pitchFamily="34" charset="-120"/>
              </a:rPr>
              <a:t>Nothing marks an AI value as different from one you typed.</a:t>
            </a:r>
            <a:endParaRPr lang="en-US" sz="1100" dirty="0"/>
          </a:p>
        </p:txBody>
      </p:sp>
      <p:sp>
        <p:nvSpPr>
          <p:cNvPr id="33" name="Text 31"/>
          <p:cNvSpPr txBox="1"/>
          <p:nvPr/>
        </p:nvSpPr>
        <p:spPr>
          <a:xfrm>
            <a:off x="3582848" y="4425696"/>
            <a:ext cx="274320" cy="310896"/>
          </a:xfrm>
          <a:prstGeom prst="rect">
            <a:avLst/>
          </a:prstGeom>
          <a:noFill/>
          <a:ln/>
        </p:spPr>
        <p:txBody>
          <a:bodyPr wrap="square" lIns="0" tIns="0" rIns="0" bIns="0" rtlCol="0" anchor="ctr"/>
          <a:lstStyle/>
          <a:p>
            <a:pPr indent="0" marL="0">
              <a:buNone/>
            </a:pPr>
            <a:r>
              <a:rPr lang="en-US" sz="1900" b="1" dirty="0">
                <a:solidFill>
                  <a:srgbClr val="B91C1C"/>
                </a:solidFill>
                <a:latin typeface="Segoe UI" pitchFamily="34" charset="0"/>
                <a:ea typeface="Segoe UI" pitchFamily="34" charset="-122"/>
                <a:cs typeface="Segoe UI" pitchFamily="34" charset="-120"/>
              </a:rPr>
              <a:t>?</a:t>
            </a:r>
            <a:endParaRPr lang="en-US" sz="1900" dirty="0"/>
          </a:p>
        </p:txBody>
      </p:sp>
      <p:sp>
        <p:nvSpPr>
          <p:cNvPr id="34" name="Text 32"/>
          <p:cNvSpPr txBox="1"/>
          <p:nvPr/>
        </p:nvSpPr>
        <p:spPr>
          <a:xfrm>
            <a:off x="3857168" y="4443984"/>
            <a:ext cx="2101520" cy="512064"/>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Where did this one come from?</a:t>
            </a:r>
            <a:endParaRPr lang="en-US" sz="1250" dirty="0"/>
          </a:p>
        </p:txBody>
      </p:sp>
      <p:sp>
        <p:nvSpPr>
          <p:cNvPr id="35" name="Text 33"/>
          <p:cNvSpPr txBox="1"/>
          <p:nvPr/>
        </p:nvSpPr>
        <p:spPr>
          <a:xfrm>
            <a:off x="3582848" y="5029200"/>
            <a:ext cx="2375840" cy="731520"/>
          </a:xfrm>
          <a:prstGeom prst="rect">
            <a:avLst/>
          </a:prstGeom>
          <a:noFill/>
          <a:ln/>
        </p:spPr>
        <p:txBody>
          <a:bodyPr wrap="square" lIns="0" tIns="0" rIns="0" bIns="0" rtlCol="0" anchor="ctr"/>
          <a:lstStyle/>
          <a:p>
            <a:pPr indent="0" marL="0">
              <a:lnSpc>
                <a:spcPts val="1450"/>
              </a:lnSpc>
              <a:buNone/>
            </a:pPr>
            <a:r>
              <a:rPr lang="en-US" sz="1100" dirty="0">
                <a:solidFill>
                  <a:srgbClr val="64748B"/>
                </a:solidFill>
                <a:latin typeface="Segoe UI" pitchFamily="34" charset="0"/>
                <a:ea typeface="Segoe UI" pitchFamily="34" charset="-122"/>
                <a:cs typeface="Segoe UI" pitchFamily="34" charset="-120"/>
              </a:rPr>
              <a:t>There is no way to trace a value back to what was said.</a:t>
            </a:r>
            <a:endParaRPr lang="en-US" sz="1100" dirty="0"/>
          </a:p>
        </p:txBody>
      </p:sp>
      <p:sp>
        <p:nvSpPr>
          <p:cNvPr id="36" name="Text 34"/>
          <p:cNvSpPr txBox="1"/>
          <p:nvPr/>
        </p:nvSpPr>
        <p:spPr>
          <a:xfrm>
            <a:off x="6233008" y="4425696"/>
            <a:ext cx="274320" cy="310896"/>
          </a:xfrm>
          <a:prstGeom prst="rect">
            <a:avLst/>
          </a:prstGeom>
          <a:noFill/>
          <a:ln/>
        </p:spPr>
        <p:txBody>
          <a:bodyPr wrap="square" lIns="0" tIns="0" rIns="0" bIns="0" rtlCol="0" anchor="ctr"/>
          <a:lstStyle/>
          <a:p>
            <a:pPr indent="0" marL="0">
              <a:buNone/>
            </a:pPr>
            <a:r>
              <a:rPr lang="en-US" sz="1900" b="1" dirty="0">
                <a:solidFill>
                  <a:srgbClr val="B91C1C"/>
                </a:solidFill>
                <a:latin typeface="Segoe UI" pitchFamily="34" charset="0"/>
                <a:ea typeface="Segoe UI" pitchFamily="34" charset="-122"/>
                <a:cs typeface="Segoe UI" pitchFamily="34" charset="-120"/>
              </a:rPr>
              <a:t>?</a:t>
            </a:r>
            <a:endParaRPr lang="en-US" sz="1900" dirty="0"/>
          </a:p>
        </p:txBody>
      </p:sp>
      <p:sp>
        <p:nvSpPr>
          <p:cNvPr id="37" name="Text 35"/>
          <p:cNvSpPr txBox="1"/>
          <p:nvPr/>
        </p:nvSpPr>
        <p:spPr>
          <a:xfrm>
            <a:off x="6507328" y="4443984"/>
            <a:ext cx="2101520" cy="512064"/>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Which ones is it unsure about?</a:t>
            </a:r>
            <a:endParaRPr lang="en-US" sz="1250" dirty="0"/>
          </a:p>
        </p:txBody>
      </p:sp>
      <p:sp>
        <p:nvSpPr>
          <p:cNvPr id="38" name="Text 36"/>
          <p:cNvSpPr txBox="1"/>
          <p:nvPr/>
        </p:nvSpPr>
        <p:spPr>
          <a:xfrm>
            <a:off x="6233008" y="5029200"/>
            <a:ext cx="2375840" cy="731520"/>
          </a:xfrm>
          <a:prstGeom prst="rect">
            <a:avLst/>
          </a:prstGeom>
          <a:noFill/>
          <a:ln/>
        </p:spPr>
        <p:txBody>
          <a:bodyPr wrap="square" lIns="0" tIns="0" rIns="0" bIns="0" rtlCol="0" anchor="ctr"/>
          <a:lstStyle/>
          <a:p>
            <a:pPr indent="0" marL="0">
              <a:lnSpc>
                <a:spcPts val="1450"/>
              </a:lnSpc>
              <a:buNone/>
            </a:pPr>
            <a:r>
              <a:rPr lang="en-US" sz="1100" dirty="0">
                <a:solidFill>
                  <a:srgbClr val="64748B"/>
                </a:solidFill>
                <a:latin typeface="Segoe UI" pitchFamily="34" charset="0"/>
                <a:ea typeface="Segoe UI" pitchFamily="34" charset="-122"/>
                <a:cs typeface="Segoe UI" pitchFamily="34" charset="-120"/>
              </a:rPr>
              <a:t>The system has an opinion on its own confidence. It never shows it.</a:t>
            </a:r>
            <a:endParaRPr lang="en-US" sz="1100" dirty="0"/>
          </a:p>
        </p:txBody>
      </p:sp>
      <p:sp>
        <p:nvSpPr>
          <p:cNvPr id="39" name="Text 37"/>
          <p:cNvSpPr txBox="1"/>
          <p:nvPr/>
        </p:nvSpPr>
        <p:spPr>
          <a:xfrm>
            <a:off x="8883167" y="4425696"/>
            <a:ext cx="274320" cy="310896"/>
          </a:xfrm>
          <a:prstGeom prst="rect">
            <a:avLst/>
          </a:prstGeom>
          <a:noFill/>
          <a:ln/>
        </p:spPr>
        <p:txBody>
          <a:bodyPr wrap="square" lIns="0" tIns="0" rIns="0" bIns="0" rtlCol="0" anchor="ctr"/>
          <a:lstStyle/>
          <a:p>
            <a:pPr indent="0" marL="0">
              <a:buNone/>
            </a:pPr>
            <a:r>
              <a:rPr lang="en-US" sz="1900" b="1" dirty="0">
                <a:solidFill>
                  <a:srgbClr val="B91C1C"/>
                </a:solidFill>
                <a:latin typeface="Segoe UI" pitchFamily="34" charset="0"/>
                <a:ea typeface="Segoe UI" pitchFamily="34" charset="-122"/>
                <a:cs typeface="Segoe UI" pitchFamily="34" charset="-120"/>
              </a:rPr>
              <a:t>?</a:t>
            </a:r>
            <a:endParaRPr lang="en-US" sz="1900" dirty="0"/>
          </a:p>
        </p:txBody>
      </p:sp>
      <p:sp>
        <p:nvSpPr>
          <p:cNvPr id="40" name="Text 38"/>
          <p:cNvSpPr txBox="1"/>
          <p:nvPr/>
        </p:nvSpPr>
        <p:spPr>
          <a:xfrm>
            <a:off x="9157487" y="4443984"/>
            <a:ext cx="2101520" cy="512064"/>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How do I fix just this one field?</a:t>
            </a:r>
            <a:endParaRPr lang="en-US" sz="1250" dirty="0"/>
          </a:p>
        </p:txBody>
      </p:sp>
      <p:sp>
        <p:nvSpPr>
          <p:cNvPr id="41" name="Text 39"/>
          <p:cNvSpPr txBox="1"/>
          <p:nvPr/>
        </p:nvSpPr>
        <p:spPr>
          <a:xfrm>
            <a:off x="8883167" y="5029200"/>
            <a:ext cx="2375840" cy="731520"/>
          </a:xfrm>
          <a:prstGeom prst="rect">
            <a:avLst/>
          </a:prstGeom>
          <a:noFill/>
          <a:ln/>
        </p:spPr>
        <p:txBody>
          <a:bodyPr wrap="square" lIns="0" tIns="0" rIns="0" bIns="0" rtlCol="0" anchor="ctr"/>
          <a:lstStyle/>
          <a:p>
            <a:pPr indent="0" marL="0">
              <a:lnSpc>
                <a:spcPts val="1450"/>
              </a:lnSpc>
              <a:buNone/>
            </a:pPr>
            <a:r>
              <a:rPr lang="en-US" sz="1100" dirty="0">
                <a:solidFill>
                  <a:srgbClr val="64748B"/>
                </a:solidFill>
                <a:latin typeface="Segoe UI" pitchFamily="34" charset="0"/>
                <a:ea typeface="Segoe UI" pitchFamily="34" charset="-122"/>
                <a:cs typeface="Segoe UI" pitchFamily="34" charset="-120"/>
              </a:rPr>
              <a:t>The only option is to re-run the whole note and lose your corrections.</a:t>
            </a:r>
            <a:endParaRPr lang="en-US" sz="1100" dirty="0"/>
          </a:p>
        </p:txBody>
      </p:sp>
      <p:sp>
        <p:nvSpPr>
          <p:cNvPr id="42" name="Text 40"/>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43" name="Text 41"/>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33A"/>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256032"/>
          </a:xfrm>
          <a:prstGeom prst="rect">
            <a:avLst/>
          </a:prstGeom>
          <a:noFill/>
          <a:ln/>
        </p:spPr>
        <p:txBody>
          <a:bodyPr wrap="square" lIns="0" tIns="0" rIns="0" bIns="0" rtlCol="0" anchor="ctr"/>
          <a:lstStyle/>
          <a:p>
            <a:pPr indent="0" marL="0">
              <a:buNone/>
            </a:pPr>
            <a:r>
              <a:rPr lang="en-US" sz="1050" b="1" spc="220" kern="0" dirty="0">
                <a:solidFill>
                  <a:srgbClr val="5EC5B8"/>
                </a:solidFill>
                <a:latin typeface="Segoe UI" pitchFamily="34" charset="0"/>
                <a:ea typeface="Segoe UI" pitchFamily="34" charset="-122"/>
                <a:cs typeface="Segoe UI" pitchFamily="34" charset="-120"/>
              </a:rPr>
              <a:t>WHERE WE ARE FOCUSING</a:t>
            </a:r>
            <a:endParaRPr lang="en-US" sz="1050" dirty="0"/>
          </a:p>
        </p:txBody>
      </p:sp>
      <p:sp>
        <p:nvSpPr>
          <p:cNvPr id="3" name="Text 1"/>
          <p:cNvSpPr txBox="1"/>
          <p:nvPr/>
        </p:nvSpPr>
        <p:spPr>
          <a:xfrm>
            <a:off x="566928" y="731520"/>
            <a:ext cx="11057839" cy="512064"/>
          </a:xfrm>
          <a:prstGeom prst="rect">
            <a:avLst/>
          </a:prstGeom>
          <a:noFill/>
          <a:ln/>
        </p:spPr>
        <p:txBody>
          <a:bodyPr wrap="square" lIns="0" tIns="0" rIns="0" bIns="0"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Five things we are changing</a:t>
            </a:r>
            <a:endParaRPr lang="en-US" sz="3000" dirty="0"/>
          </a:p>
        </p:txBody>
      </p:sp>
      <p:sp>
        <p:nvSpPr>
          <p:cNvPr id="4" name="Text 2"/>
          <p:cNvSpPr txBox="1"/>
          <p:nvPr/>
        </p:nvSpPr>
        <p:spPr>
          <a:xfrm>
            <a:off x="566928" y="1261872"/>
            <a:ext cx="11057839" cy="274320"/>
          </a:xfrm>
          <a:prstGeom prst="rect">
            <a:avLst/>
          </a:prstGeom>
          <a:noFill/>
          <a:ln/>
        </p:spPr>
        <p:txBody>
          <a:bodyPr wrap="square" lIns="0" tIns="0" rIns="0" bIns="0" rtlCol="0" anchor="ctr"/>
          <a:lstStyle/>
          <a:p>
            <a:pPr indent="0" marL="0">
              <a:buNone/>
            </a:pPr>
            <a:r>
              <a:rPr lang="en-US" sz="1350" dirty="0">
                <a:solidFill>
                  <a:srgbClr val="93A9BF"/>
                </a:solidFill>
                <a:latin typeface="Segoe UI" pitchFamily="34" charset="0"/>
                <a:ea typeface="Segoe UI" pitchFamily="34" charset="-122"/>
                <a:cs typeface="Segoe UI" pitchFamily="34" charset="-120"/>
              </a:rPr>
              <a:t>Everything else in the encounter stays where it is. The rest of this deck is one slide per change.</a:t>
            </a:r>
            <a:endParaRPr lang="en-US" sz="1350" dirty="0"/>
          </a:p>
        </p:txBody>
      </p:sp>
      <p:sp>
        <p:nvSpPr>
          <p:cNvPr id="5" name="Shape 3"/>
          <p:cNvSpPr/>
          <p:nvPr/>
        </p:nvSpPr>
        <p:spPr>
          <a:xfrm>
            <a:off x="566928" y="1755648"/>
            <a:ext cx="11057839" cy="768096"/>
          </a:xfrm>
          <a:prstGeom prst="roundRect">
            <a:avLst>
              <a:gd name="adj" fmla="val 7143"/>
            </a:avLst>
          </a:prstGeom>
          <a:solidFill>
            <a:srgbClr val="17304C"/>
          </a:solidFill>
          <a:ln w="12700">
            <a:solidFill>
              <a:srgbClr val="24466B"/>
            </a:solidFill>
            <a:prstDash val="solid"/>
          </a:ln>
        </p:spPr>
      </p:sp>
      <p:sp>
        <p:nvSpPr>
          <p:cNvPr id="6" name="Shape 4"/>
          <p:cNvSpPr/>
          <p:nvPr/>
        </p:nvSpPr>
        <p:spPr>
          <a:xfrm>
            <a:off x="841248" y="1947672"/>
            <a:ext cx="384048" cy="384048"/>
          </a:xfrm>
          <a:prstGeom prst="ellipse">
            <a:avLst/>
          </a:prstGeom>
          <a:solidFill>
            <a:srgbClr val="0F766E"/>
          </a:solidFill>
          <a:ln w="12700">
            <a:solidFill>
              <a:srgbClr val="0F766E"/>
            </a:solidFill>
            <a:prstDash val="solid"/>
          </a:ln>
        </p:spPr>
      </p:sp>
      <p:sp>
        <p:nvSpPr>
          <p:cNvPr id="7" name="Text 5"/>
          <p:cNvSpPr txBox="1"/>
          <p:nvPr/>
        </p:nvSpPr>
        <p:spPr>
          <a:xfrm>
            <a:off x="841248" y="19476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8" name="Text 6"/>
          <p:cNvSpPr txBox="1"/>
          <p:nvPr/>
        </p:nvSpPr>
        <p:spPr>
          <a:xfrm>
            <a:off x="1426464" y="1874520"/>
            <a:ext cx="9692640"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Nothing reaches the chart unseen</a:t>
            </a:r>
            <a:endParaRPr lang="en-US" sz="1500" dirty="0"/>
          </a:p>
        </p:txBody>
      </p:sp>
      <p:sp>
        <p:nvSpPr>
          <p:cNvPr id="9" name="Text 7"/>
          <p:cNvSpPr txBox="1"/>
          <p:nvPr/>
        </p:nvSpPr>
        <p:spPr>
          <a:xfrm>
            <a:off x="1426464" y="2176272"/>
            <a:ext cx="9692640" cy="274320"/>
          </a:xfrm>
          <a:prstGeom prst="rect">
            <a:avLst/>
          </a:prstGeom>
          <a:noFill/>
          <a:ln/>
        </p:spPr>
        <p:txBody>
          <a:bodyPr wrap="square" lIns="0" tIns="0" rIns="0" bIns="0" rtlCol="0" anchor="ctr"/>
          <a:lstStyle/>
          <a:p>
            <a:pPr indent="0" marL="0">
              <a:buNone/>
            </a:pPr>
            <a:r>
              <a:rPr lang="en-US" sz="1200" dirty="0">
                <a:solidFill>
                  <a:srgbClr val="9DB3C8"/>
                </a:solidFill>
                <a:latin typeface="Segoe UI" pitchFamily="34" charset="0"/>
                <a:ea typeface="Segoe UI" pitchFamily="34" charset="-122"/>
                <a:cs typeface="Segoe UI" pitchFamily="34" charset="-120"/>
              </a:rPr>
              <a:t>The AI proposes; the provider decides. The note no longer saves itself.</a:t>
            </a:r>
            <a:endParaRPr lang="en-US" sz="1200" dirty="0"/>
          </a:p>
        </p:txBody>
      </p:sp>
      <p:sp>
        <p:nvSpPr>
          <p:cNvPr id="10" name="Shape 8"/>
          <p:cNvSpPr/>
          <p:nvPr/>
        </p:nvSpPr>
        <p:spPr>
          <a:xfrm>
            <a:off x="566928" y="2660904"/>
            <a:ext cx="11057839" cy="768096"/>
          </a:xfrm>
          <a:prstGeom prst="roundRect">
            <a:avLst>
              <a:gd name="adj" fmla="val 7143"/>
            </a:avLst>
          </a:prstGeom>
          <a:solidFill>
            <a:srgbClr val="17304C"/>
          </a:solidFill>
          <a:ln w="12700">
            <a:solidFill>
              <a:srgbClr val="24466B"/>
            </a:solidFill>
            <a:prstDash val="solid"/>
          </a:ln>
        </p:spPr>
      </p:sp>
      <p:sp>
        <p:nvSpPr>
          <p:cNvPr id="11" name="Shape 9"/>
          <p:cNvSpPr/>
          <p:nvPr/>
        </p:nvSpPr>
        <p:spPr>
          <a:xfrm>
            <a:off x="841248" y="2852928"/>
            <a:ext cx="384048" cy="384048"/>
          </a:xfrm>
          <a:prstGeom prst="ellipse">
            <a:avLst/>
          </a:prstGeom>
          <a:solidFill>
            <a:srgbClr val="0F766E"/>
          </a:solidFill>
          <a:ln w="12700">
            <a:solidFill>
              <a:srgbClr val="0F766E"/>
            </a:solidFill>
            <a:prstDash val="solid"/>
          </a:ln>
        </p:spPr>
      </p:sp>
      <p:sp>
        <p:nvSpPr>
          <p:cNvPr id="12" name="Text 10"/>
          <p:cNvSpPr txBox="1"/>
          <p:nvPr/>
        </p:nvSpPr>
        <p:spPr>
          <a:xfrm>
            <a:off x="841248" y="2852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3" name="Text 11"/>
          <p:cNvSpPr txBox="1"/>
          <p:nvPr/>
        </p:nvSpPr>
        <p:spPr>
          <a:xfrm>
            <a:off x="1426464" y="2779776"/>
            <a:ext cx="9692640"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Only what needs you comes forward</a:t>
            </a:r>
            <a:endParaRPr lang="en-US" sz="1500" dirty="0"/>
          </a:p>
        </p:txBody>
      </p:sp>
      <p:sp>
        <p:nvSpPr>
          <p:cNvPr id="14" name="Text 12"/>
          <p:cNvSpPr txBox="1"/>
          <p:nvPr/>
        </p:nvSpPr>
        <p:spPr>
          <a:xfrm>
            <a:off x="1426464" y="3081528"/>
            <a:ext cx="9692640" cy="274320"/>
          </a:xfrm>
          <a:prstGeom prst="rect">
            <a:avLst/>
          </a:prstGeom>
          <a:noFill/>
          <a:ln/>
        </p:spPr>
        <p:txBody>
          <a:bodyPr wrap="square" lIns="0" tIns="0" rIns="0" bIns="0" rtlCol="0" anchor="ctr"/>
          <a:lstStyle/>
          <a:p>
            <a:pPr indent="0" marL="0">
              <a:buNone/>
            </a:pPr>
            <a:r>
              <a:rPr lang="en-US" sz="1200" dirty="0">
                <a:solidFill>
                  <a:srgbClr val="9DB3C8"/>
                </a:solidFill>
                <a:latin typeface="Segoe UI" pitchFamily="34" charset="0"/>
                <a:ea typeface="Segoe UI" pitchFamily="34" charset="-122"/>
                <a:cs typeface="Segoe UI" pitchFamily="34" charset="-120"/>
              </a:rPr>
              <a:t>Confident, checked, unremarkable values go straight in. You are asked about the rest.</a:t>
            </a:r>
            <a:endParaRPr lang="en-US" sz="1200" dirty="0"/>
          </a:p>
        </p:txBody>
      </p:sp>
      <p:sp>
        <p:nvSpPr>
          <p:cNvPr id="15" name="Shape 13"/>
          <p:cNvSpPr/>
          <p:nvPr/>
        </p:nvSpPr>
        <p:spPr>
          <a:xfrm>
            <a:off x="566928" y="3566160"/>
            <a:ext cx="11057839" cy="768096"/>
          </a:xfrm>
          <a:prstGeom prst="roundRect">
            <a:avLst>
              <a:gd name="adj" fmla="val 7143"/>
            </a:avLst>
          </a:prstGeom>
          <a:solidFill>
            <a:srgbClr val="17304C"/>
          </a:solidFill>
          <a:ln w="12700">
            <a:solidFill>
              <a:srgbClr val="24466B"/>
            </a:solidFill>
            <a:prstDash val="solid"/>
          </a:ln>
        </p:spPr>
      </p:sp>
      <p:sp>
        <p:nvSpPr>
          <p:cNvPr id="16" name="Shape 14"/>
          <p:cNvSpPr/>
          <p:nvPr/>
        </p:nvSpPr>
        <p:spPr>
          <a:xfrm>
            <a:off x="841248" y="3758184"/>
            <a:ext cx="384048" cy="384048"/>
          </a:xfrm>
          <a:prstGeom prst="ellipse">
            <a:avLst/>
          </a:prstGeom>
          <a:solidFill>
            <a:srgbClr val="0F766E"/>
          </a:solidFill>
          <a:ln w="12700">
            <a:solidFill>
              <a:srgbClr val="0F766E"/>
            </a:solidFill>
            <a:prstDash val="solid"/>
          </a:ln>
        </p:spPr>
      </p:sp>
      <p:sp>
        <p:nvSpPr>
          <p:cNvPr id="17" name="Text 15"/>
          <p:cNvSpPr txBox="1"/>
          <p:nvPr/>
        </p:nvSpPr>
        <p:spPr>
          <a:xfrm>
            <a:off x="841248" y="375818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18" name="Text 16"/>
          <p:cNvSpPr txBox="1"/>
          <p:nvPr/>
        </p:nvSpPr>
        <p:spPr>
          <a:xfrm>
            <a:off x="1426464" y="3685032"/>
            <a:ext cx="9692640"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The note shows what the AI did</a:t>
            </a:r>
            <a:endParaRPr lang="en-US" sz="1500" dirty="0"/>
          </a:p>
        </p:txBody>
      </p:sp>
      <p:sp>
        <p:nvSpPr>
          <p:cNvPr id="19" name="Text 17"/>
          <p:cNvSpPr txBox="1"/>
          <p:nvPr/>
        </p:nvSpPr>
        <p:spPr>
          <a:xfrm>
            <a:off x="1426464" y="3986784"/>
            <a:ext cx="9692640" cy="274320"/>
          </a:xfrm>
          <a:prstGeom prst="rect">
            <a:avLst/>
          </a:prstGeom>
          <a:noFill/>
          <a:ln/>
        </p:spPr>
        <p:txBody>
          <a:bodyPr wrap="square" lIns="0" tIns="0" rIns="0" bIns="0" rtlCol="0" anchor="ctr"/>
          <a:lstStyle/>
          <a:p>
            <a:pPr indent="0" marL="0">
              <a:buNone/>
            </a:pPr>
            <a:r>
              <a:rPr lang="en-US" sz="1200" dirty="0">
                <a:solidFill>
                  <a:srgbClr val="9DB3C8"/>
                </a:solidFill>
                <a:latin typeface="Segoe UI" pitchFamily="34" charset="0"/>
                <a:ea typeface="Segoe UI" pitchFamily="34" charset="-122"/>
                <a:cs typeface="Segoe UI" pitchFamily="34" charset="-120"/>
              </a:rPr>
              <a:t>Every row is coloured by what happened to it, and every AI value can show its source.</a:t>
            </a:r>
            <a:endParaRPr lang="en-US" sz="1200" dirty="0"/>
          </a:p>
        </p:txBody>
      </p:sp>
      <p:sp>
        <p:nvSpPr>
          <p:cNvPr id="20" name="Shape 18"/>
          <p:cNvSpPr/>
          <p:nvPr/>
        </p:nvSpPr>
        <p:spPr>
          <a:xfrm>
            <a:off x="566928" y="4471416"/>
            <a:ext cx="11057839" cy="768096"/>
          </a:xfrm>
          <a:prstGeom prst="roundRect">
            <a:avLst>
              <a:gd name="adj" fmla="val 7143"/>
            </a:avLst>
          </a:prstGeom>
          <a:solidFill>
            <a:srgbClr val="17304C"/>
          </a:solidFill>
          <a:ln w="12700">
            <a:solidFill>
              <a:srgbClr val="24466B"/>
            </a:solidFill>
            <a:prstDash val="solid"/>
          </a:ln>
        </p:spPr>
      </p:sp>
      <p:sp>
        <p:nvSpPr>
          <p:cNvPr id="21" name="Shape 19"/>
          <p:cNvSpPr/>
          <p:nvPr/>
        </p:nvSpPr>
        <p:spPr>
          <a:xfrm>
            <a:off x="841248" y="4663440"/>
            <a:ext cx="384048" cy="384048"/>
          </a:xfrm>
          <a:prstGeom prst="ellipse">
            <a:avLst/>
          </a:prstGeom>
          <a:solidFill>
            <a:srgbClr val="0F766E"/>
          </a:solidFill>
          <a:ln w="12700">
            <a:solidFill>
              <a:srgbClr val="0F766E"/>
            </a:solidFill>
            <a:prstDash val="solid"/>
          </a:ln>
        </p:spPr>
      </p:sp>
      <p:sp>
        <p:nvSpPr>
          <p:cNvPr id="22" name="Text 20"/>
          <p:cNvSpPr txBox="1"/>
          <p:nvPr/>
        </p:nvSpPr>
        <p:spPr>
          <a:xfrm>
            <a:off x="841248" y="46634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23" name="Text 21"/>
          <p:cNvSpPr txBox="1"/>
          <p:nvPr/>
        </p:nvSpPr>
        <p:spPr>
          <a:xfrm>
            <a:off x="1426464" y="4590288"/>
            <a:ext cx="9692640"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Fix one field without re-running the note</a:t>
            </a:r>
            <a:endParaRPr lang="en-US" sz="1500" dirty="0"/>
          </a:p>
        </p:txBody>
      </p:sp>
      <p:sp>
        <p:nvSpPr>
          <p:cNvPr id="24" name="Text 22"/>
          <p:cNvSpPr txBox="1"/>
          <p:nvPr/>
        </p:nvSpPr>
        <p:spPr>
          <a:xfrm>
            <a:off x="1426464" y="4892040"/>
            <a:ext cx="9692640" cy="274320"/>
          </a:xfrm>
          <a:prstGeom prst="rect">
            <a:avLst/>
          </a:prstGeom>
          <a:noFill/>
          <a:ln/>
        </p:spPr>
        <p:txBody>
          <a:bodyPr wrap="square" lIns="0" tIns="0" rIns="0" bIns="0" rtlCol="0" anchor="ctr"/>
          <a:lstStyle/>
          <a:p>
            <a:pPr indent="0" marL="0">
              <a:buNone/>
            </a:pPr>
            <a:r>
              <a:rPr lang="en-US" sz="1200" dirty="0">
                <a:solidFill>
                  <a:srgbClr val="9DB3C8"/>
                </a:solidFill>
                <a:latin typeface="Segoe UI" pitchFamily="34" charset="0"/>
                <a:ea typeface="Segoe UI" pitchFamily="34" charset="-122"/>
                <a:cs typeface="Segoe UI" pitchFamily="34" charset="-120"/>
              </a:rPr>
              <a:t>Name the field, say the correction, press Execute. Nothing else is touched.</a:t>
            </a:r>
            <a:endParaRPr lang="en-US" sz="1200" dirty="0"/>
          </a:p>
        </p:txBody>
      </p:sp>
      <p:sp>
        <p:nvSpPr>
          <p:cNvPr id="25" name="Shape 23"/>
          <p:cNvSpPr/>
          <p:nvPr/>
        </p:nvSpPr>
        <p:spPr>
          <a:xfrm>
            <a:off x="566928" y="5376672"/>
            <a:ext cx="11057839" cy="768096"/>
          </a:xfrm>
          <a:prstGeom prst="roundRect">
            <a:avLst>
              <a:gd name="adj" fmla="val 7143"/>
            </a:avLst>
          </a:prstGeom>
          <a:solidFill>
            <a:srgbClr val="17304C"/>
          </a:solidFill>
          <a:ln w="12700">
            <a:solidFill>
              <a:srgbClr val="24466B"/>
            </a:solidFill>
            <a:prstDash val="solid"/>
          </a:ln>
        </p:spPr>
      </p:sp>
      <p:sp>
        <p:nvSpPr>
          <p:cNvPr id="26" name="Shape 24"/>
          <p:cNvSpPr/>
          <p:nvPr/>
        </p:nvSpPr>
        <p:spPr>
          <a:xfrm>
            <a:off x="841248" y="5568696"/>
            <a:ext cx="384048" cy="384048"/>
          </a:xfrm>
          <a:prstGeom prst="ellipse">
            <a:avLst/>
          </a:prstGeom>
          <a:solidFill>
            <a:srgbClr val="0F766E"/>
          </a:solidFill>
          <a:ln w="12700">
            <a:solidFill>
              <a:srgbClr val="0F766E"/>
            </a:solidFill>
            <a:prstDash val="solid"/>
          </a:ln>
        </p:spPr>
      </p:sp>
      <p:sp>
        <p:nvSpPr>
          <p:cNvPr id="27" name="Text 25"/>
          <p:cNvSpPr txBox="1"/>
          <p:nvPr/>
        </p:nvSpPr>
        <p:spPr>
          <a:xfrm>
            <a:off x="841248" y="55686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28" name="Text 26"/>
          <p:cNvSpPr txBox="1"/>
          <p:nvPr/>
        </p:nvSpPr>
        <p:spPr>
          <a:xfrm>
            <a:off x="1426464" y="5495544"/>
            <a:ext cx="9692640" cy="292608"/>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Every pass is a session — nothing is silently overwritten</a:t>
            </a:r>
            <a:endParaRPr lang="en-US" sz="1500" dirty="0"/>
          </a:p>
        </p:txBody>
      </p:sp>
      <p:sp>
        <p:nvSpPr>
          <p:cNvPr id="29" name="Text 27"/>
          <p:cNvSpPr txBox="1"/>
          <p:nvPr/>
        </p:nvSpPr>
        <p:spPr>
          <a:xfrm>
            <a:off x="1426464" y="5797296"/>
            <a:ext cx="9692640" cy="274320"/>
          </a:xfrm>
          <a:prstGeom prst="rect">
            <a:avLst/>
          </a:prstGeom>
          <a:noFill/>
          <a:ln/>
        </p:spPr>
        <p:txBody>
          <a:bodyPr wrap="square" lIns="0" tIns="0" rIns="0" bIns="0" rtlCol="0" anchor="ctr"/>
          <a:lstStyle/>
          <a:p>
            <a:pPr indent="0" marL="0">
              <a:buNone/>
            </a:pPr>
            <a:r>
              <a:rPr lang="en-US" sz="1200" dirty="0">
                <a:solidFill>
                  <a:srgbClr val="9DB3C8"/>
                </a:solidFill>
                <a:latin typeface="Segoe UI" pitchFamily="34" charset="0"/>
                <a:ea typeface="Segoe UI" pitchFamily="34" charset="-122"/>
                <a:cs typeface="Segoe UI" pitchFamily="34" charset="-120"/>
              </a:rPr>
              <a:t>A second pass over a filled field asks before it replaces. Decisions are added, never erased.</a:t>
            </a:r>
            <a:endParaRPr lang="en-US" sz="1200" dirty="0"/>
          </a:p>
        </p:txBody>
      </p:sp>
      <p:sp>
        <p:nvSpPr>
          <p:cNvPr id="30" name="Text 28"/>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31" name="Text 29"/>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THE PROPOSED JOURNEY</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Five stages, one new step</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Four of these five stages are what a provider does today. Only the fourth is new.</a:t>
            </a:r>
            <a:endParaRPr lang="en-US" sz="1350" dirty="0"/>
          </a:p>
        </p:txBody>
      </p:sp>
      <p:sp>
        <p:nvSpPr>
          <p:cNvPr id="5" name="Shape 3"/>
          <p:cNvSpPr/>
          <p:nvPr/>
        </p:nvSpPr>
        <p:spPr>
          <a:xfrm>
            <a:off x="566928" y="1664208"/>
            <a:ext cx="2036003" cy="2359152"/>
          </a:xfrm>
          <a:prstGeom prst="roundRect">
            <a:avLst>
              <a:gd name="adj" fmla="val 3144"/>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6" name="Shape 4"/>
          <p:cNvSpPr/>
          <p:nvPr/>
        </p:nvSpPr>
        <p:spPr>
          <a:xfrm>
            <a:off x="804672" y="1883664"/>
            <a:ext cx="365760" cy="365760"/>
          </a:xfrm>
          <a:prstGeom prst="ellipse">
            <a:avLst/>
          </a:prstGeom>
          <a:solidFill>
            <a:srgbClr val="93A9BF"/>
          </a:solidFill>
          <a:ln w="12700">
            <a:solidFill>
              <a:srgbClr val="93A9BF"/>
            </a:solidFill>
            <a:prstDash val="solid"/>
          </a:ln>
        </p:spPr>
      </p:sp>
      <p:sp>
        <p:nvSpPr>
          <p:cNvPr id="7" name="Text 5"/>
          <p:cNvSpPr txBox="1"/>
          <p:nvPr/>
        </p:nvSpPr>
        <p:spPr>
          <a:xfrm>
            <a:off x="804672"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8" name="Shape 6"/>
          <p:cNvSpPr/>
          <p:nvPr/>
        </p:nvSpPr>
        <p:spPr>
          <a:xfrm>
            <a:off x="1633667" y="1938528"/>
            <a:ext cx="731520" cy="256032"/>
          </a:xfrm>
          <a:prstGeom prst="roundRect">
            <a:avLst>
              <a:gd name="adj" fmla="val 17857"/>
            </a:avLst>
          </a:prstGeom>
          <a:solidFill>
            <a:srgbClr val="F1F5F9"/>
          </a:solidFill>
          <a:ln w="12700">
            <a:solidFill>
              <a:srgbClr val="CBD5E1"/>
            </a:solidFill>
            <a:prstDash val="solid"/>
          </a:ln>
        </p:spPr>
      </p:sp>
      <p:sp>
        <p:nvSpPr>
          <p:cNvPr id="9" name="Text 7"/>
          <p:cNvSpPr txBox="1"/>
          <p:nvPr/>
        </p:nvSpPr>
        <p:spPr>
          <a:xfrm>
            <a:off x="1633667" y="1938528"/>
            <a:ext cx="731520" cy="256032"/>
          </a:xfrm>
          <a:prstGeom prst="rect">
            <a:avLst/>
          </a:prstGeom>
          <a:noFill/>
          <a:ln/>
        </p:spPr>
        <p:txBody>
          <a:bodyPr wrap="square" lIns="0" tIns="0" rIns="0" bIns="0" rtlCol="0" anchor="ctr"/>
          <a:lstStyle/>
          <a:p>
            <a:pPr algn="ctr" indent="0" marL="0">
              <a:buNone/>
            </a:pPr>
            <a:r>
              <a:rPr lang="en-US" sz="850" b="1" spc="100" kern="0" dirty="0">
                <a:solidFill>
                  <a:srgbClr val="64748B"/>
                </a:solidFill>
                <a:latin typeface="Segoe UI" pitchFamily="34" charset="0"/>
                <a:ea typeface="Segoe UI" pitchFamily="34" charset="-122"/>
                <a:cs typeface="Segoe UI" pitchFamily="34" charset="-120"/>
              </a:rPr>
              <a:t>SAME</a:t>
            </a:r>
            <a:endParaRPr lang="en-US" sz="850" dirty="0"/>
          </a:p>
        </p:txBody>
      </p:sp>
      <p:sp>
        <p:nvSpPr>
          <p:cNvPr id="10" name="Text 8"/>
          <p:cNvSpPr txBox="1"/>
          <p:nvPr/>
        </p:nvSpPr>
        <p:spPr>
          <a:xfrm>
            <a:off x="804672" y="2395728"/>
            <a:ext cx="1560515" cy="548640"/>
          </a:xfrm>
          <a:prstGeom prst="rect">
            <a:avLst/>
          </a:prstGeom>
          <a:noFill/>
          <a:ln/>
        </p:spPr>
        <p:txBody>
          <a:bodyPr wrap="square" lIns="0" tIns="0" rIns="0" bIns="0" rtlCol="0" anchor="ctr"/>
          <a:lstStyle/>
          <a:p>
            <a:pPr indent="0" marL="0">
              <a:lnSpc>
                <a:spcPts val="1900"/>
              </a:lnSpc>
              <a:buNone/>
            </a:pPr>
            <a:r>
              <a:rPr lang="en-US" sz="1500" b="1" dirty="0">
                <a:solidFill>
                  <a:srgbClr val="10233A"/>
                </a:solidFill>
                <a:latin typeface="Segoe UI" pitchFamily="34" charset="0"/>
                <a:ea typeface="Segoe UI" pitchFamily="34" charset="-122"/>
                <a:cs typeface="Segoe UI" pitchFamily="34" charset="-120"/>
              </a:rPr>
              <a:t>Start</a:t>
            </a:r>
            <a:endParaRPr lang="en-US" sz="1500" dirty="0"/>
          </a:p>
        </p:txBody>
      </p:sp>
      <p:sp>
        <p:nvSpPr>
          <p:cNvPr id="11" name="Text 9"/>
          <p:cNvSpPr txBox="1"/>
          <p:nvPr/>
        </p:nvSpPr>
        <p:spPr>
          <a:xfrm>
            <a:off x="804672" y="2962656"/>
            <a:ext cx="1560515" cy="87782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Open the patient, pick the template.</a:t>
            </a:r>
            <a:endParaRPr lang="en-US" sz="1150" dirty="0"/>
          </a:p>
        </p:txBody>
      </p:sp>
      <p:sp>
        <p:nvSpPr>
          <p:cNvPr id="12" name="Shape 10"/>
          <p:cNvSpPr/>
          <p:nvPr/>
        </p:nvSpPr>
        <p:spPr>
          <a:xfrm>
            <a:off x="2822387" y="1664208"/>
            <a:ext cx="2036003" cy="2359152"/>
          </a:xfrm>
          <a:prstGeom prst="roundRect">
            <a:avLst>
              <a:gd name="adj" fmla="val 3144"/>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13" name="Shape 11"/>
          <p:cNvSpPr/>
          <p:nvPr/>
        </p:nvSpPr>
        <p:spPr>
          <a:xfrm>
            <a:off x="3060131" y="1883664"/>
            <a:ext cx="365760" cy="365760"/>
          </a:xfrm>
          <a:prstGeom prst="ellipse">
            <a:avLst/>
          </a:prstGeom>
          <a:solidFill>
            <a:srgbClr val="93A9BF"/>
          </a:solidFill>
          <a:ln w="12700">
            <a:solidFill>
              <a:srgbClr val="93A9BF"/>
            </a:solidFill>
            <a:prstDash val="solid"/>
          </a:ln>
        </p:spPr>
      </p:sp>
      <p:sp>
        <p:nvSpPr>
          <p:cNvPr id="14" name="Text 12"/>
          <p:cNvSpPr txBox="1"/>
          <p:nvPr/>
        </p:nvSpPr>
        <p:spPr>
          <a:xfrm>
            <a:off x="3060131"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5" name="Shape 13"/>
          <p:cNvSpPr/>
          <p:nvPr/>
        </p:nvSpPr>
        <p:spPr>
          <a:xfrm>
            <a:off x="3889126" y="1938528"/>
            <a:ext cx="731520" cy="256032"/>
          </a:xfrm>
          <a:prstGeom prst="roundRect">
            <a:avLst>
              <a:gd name="adj" fmla="val 17857"/>
            </a:avLst>
          </a:prstGeom>
          <a:solidFill>
            <a:srgbClr val="F1F5F9"/>
          </a:solidFill>
          <a:ln w="12700">
            <a:solidFill>
              <a:srgbClr val="CBD5E1"/>
            </a:solidFill>
            <a:prstDash val="solid"/>
          </a:ln>
        </p:spPr>
      </p:sp>
      <p:sp>
        <p:nvSpPr>
          <p:cNvPr id="16" name="Text 14"/>
          <p:cNvSpPr txBox="1"/>
          <p:nvPr/>
        </p:nvSpPr>
        <p:spPr>
          <a:xfrm>
            <a:off x="3889126" y="1938528"/>
            <a:ext cx="731520" cy="256032"/>
          </a:xfrm>
          <a:prstGeom prst="rect">
            <a:avLst/>
          </a:prstGeom>
          <a:noFill/>
          <a:ln/>
        </p:spPr>
        <p:txBody>
          <a:bodyPr wrap="square" lIns="0" tIns="0" rIns="0" bIns="0" rtlCol="0" anchor="ctr"/>
          <a:lstStyle/>
          <a:p>
            <a:pPr algn="ctr" indent="0" marL="0">
              <a:buNone/>
            </a:pPr>
            <a:r>
              <a:rPr lang="en-US" sz="850" b="1" spc="100" kern="0" dirty="0">
                <a:solidFill>
                  <a:srgbClr val="64748B"/>
                </a:solidFill>
                <a:latin typeface="Segoe UI" pitchFamily="34" charset="0"/>
                <a:ea typeface="Segoe UI" pitchFamily="34" charset="-122"/>
                <a:cs typeface="Segoe UI" pitchFamily="34" charset="-120"/>
              </a:rPr>
              <a:t>SAME</a:t>
            </a:r>
            <a:endParaRPr lang="en-US" sz="850" dirty="0"/>
          </a:p>
        </p:txBody>
      </p:sp>
      <p:sp>
        <p:nvSpPr>
          <p:cNvPr id="17" name="Text 15"/>
          <p:cNvSpPr txBox="1"/>
          <p:nvPr/>
        </p:nvSpPr>
        <p:spPr>
          <a:xfrm>
            <a:off x="3060131" y="2395728"/>
            <a:ext cx="1560515" cy="548640"/>
          </a:xfrm>
          <a:prstGeom prst="rect">
            <a:avLst/>
          </a:prstGeom>
          <a:noFill/>
          <a:ln/>
        </p:spPr>
        <p:txBody>
          <a:bodyPr wrap="square" lIns="0" tIns="0" rIns="0" bIns="0" rtlCol="0" anchor="ctr"/>
          <a:lstStyle/>
          <a:p>
            <a:pPr indent="0" marL="0">
              <a:lnSpc>
                <a:spcPts val="1900"/>
              </a:lnSpc>
              <a:buNone/>
            </a:pPr>
            <a:r>
              <a:rPr lang="en-US" sz="1500" b="1" dirty="0">
                <a:solidFill>
                  <a:srgbClr val="10233A"/>
                </a:solidFill>
                <a:latin typeface="Segoe UI" pitchFamily="34" charset="0"/>
                <a:ea typeface="Segoe UI" pitchFamily="34" charset="-122"/>
                <a:cs typeface="Segoe UI" pitchFamily="34" charset="-120"/>
              </a:rPr>
              <a:t>Capture</a:t>
            </a:r>
            <a:endParaRPr lang="en-US" sz="1500" dirty="0"/>
          </a:p>
        </p:txBody>
      </p:sp>
      <p:sp>
        <p:nvSpPr>
          <p:cNvPr id="18" name="Text 16"/>
          <p:cNvSpPr txBox="1"/>
          <p:nvPr/>
        </p:nvSpPr>
        <p:spPr>
          <a:xfrm>
            <a:off x="3060131" y="2962656"/>
            <a:ext cx="1560515" cy="87782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Dictate, paste or type into the composer.</a:t>
            </a:r>
            <a:endParaRPr lang="en-US" sz="1150" dirty="0"/>
          </a:p>
        </p:txBody>
      </p:sp>
      <p:sp>
        <p:nvSpPr>
          <p:cNvPr id="19" name="Shape 17"/>
          <p:cNvSpPr/>
          <p:nvPr/>
        </p:nvSpPr>
        <p:spPr>
          <a:xfrm>
            <a:off x="5077846" y="1664208"/>
            <a:ext cx="2036003" cy="2359152"/>
          </a:xfrm>
          <a:prstGeom prst="roundRect">
            <a:avLst>
              <a:gd name="adj" fmla="val 3144"/>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20" name="Shape 18"/>
          <p:cNvSpPr/>
          <p:nvPr/>
        </p:nvSpPr>
        <p:spPr>
          <a:xfrm>
            <a:off x="5315590" y="1883664"/>
            <a:ext cx="365760" cy="365760"/>
          </a:xfrm>
          <a:prstGeom prst="ellipse">
            <a:avLst/>
          </a:prstGeom>
          <a:solidFill>
            <a:srgbClr val="93A9BF"/>
          </a:solidFill>
          <a:ln w="12700">
            <a:solidFill>
              <a:srgbClr val="93A9BF"/>
            </a:solidFill>
            <a:prstDash val="solid"/>
          </a:ln>
        </p:spPr>
      </p:sp>
      <p:sp>
        <p:nvSpPr>
          <p:cNvPr id="21" name="Text 19"/>
          <p:cNvSpPr txBox="1"/>
          <p:nvPr/>
        </p:nvSpPr>
        <p:spPr>
          <a:xfrm>
            <a:off x="5315590"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2" name="Shape 20"/>
          <p:cNvSpPr/>
          <p:nvPr/>
        </p:nvSpPr>
        <p:spPr>
          <a:xfrm>
            <a:off x="6144585" y="1938528"/>
            <a:ext cx="731520" cy="256032"/>
          </a:xfrm>
          <a:prstGeom prst="roundRect">
            <a:avLst>
              <a:gd name="adj" fmla="val 17857"/>
            </a:avLst>
          </a:prstGeom>
          <a:solidFill>
            <a:srgbClr val="F1F5F9"/>
          </a:solidFill>
          <a:ln w="12700">
            <a:solidFill>
              <a:srgbClr val="CBD5E1"/>
            </a:solidFill>
            <a:prstDash val="solid"/>
          </a:ln>
        </p:spPr>
      </p:sp>
      <p:sp>
        <p:nvSpPr>
          <p:cNvPr id="23" name="Text 21"/>
          <p:cNvSpPr txBox="1"/>
          <p:nvPr/>
        </p:nvSpPr>
        <p:spPr>
          <a:xfrm>
            <a:off x="6144585" y="1938528"/>
            <a:ext cx="731520" cy="256032"/>
          </a:xfrm>
          <a:prstGeom prst="rect">
            <a:avLst/>
          </a:prstGeom>
          <a:noFill/>
          <a:ln/>
        </p:spPr>
        <p:txBody>
          <a:bodyPr wrap="square" lIns="0" tIns="0" rIns="0" bIns="0" rtlCol="0" anchor="ctr"/>
          <a:lstStyle/>
          <a:p>
            <a:pPr algn="ctr" indent="0" marL="0">
              <a:buNone/>
            </a:pPr>
            <a:r>
              <a:rPr lang="en-US" sz="850" b="1" spc="100" kern="0" dirty="0">
                <a:solidFill>
                  <a:srgbClr val="64748B"/>
                </a:solidFill>
                <a:latin typeface="Segoe UI" pitchFamily="34" charset="0"/>
                <a:ea typeface="Segoe UI" pitchFamily="34" charset="-122"/>
                <a:cs typeface="Segoe UI" pitchFamily="34" charset="-120"/>
              </a:rPr>
              <a:t>SAME</a:t>
            </a:r>
            <a:endParaRPr lang="en-US" sz="850" dirty="0"/>
          </a:p>
        </p:txBody>
      </p:sp>
      <p:sp>
        <p:nvSpPr>
          <p:cNvPr id="24" name="Text 22"/>
          <p:cNvSpPr txBox="1"/>
          <p:nvPr/>
        </p:nvSpPr>
        <p:spPr>
          <a:xfrm>
            <a:off x="5315590" y="2395728"/>
            <a:ext cx="1560515" cy="548640"/>
          </a:xfrm>
          <a:prstGeom prst="rect">
            <a:avLst/>
          </a:prstGeom>
          <a:noFill/>
          <a:ln/>
        </p:spPr>
        <p:txBody>
          <a:bodyPr wrap="square" lIns="0" tIns="0" rIns="0" bIns="0" rtlCol="0" anchor="ctr"/>
          <a:lstStyle/>
          <a:p>
            <a:pPr indent="0" marL="0">
              <a:lnSpc>
                <a:spcPts val="1900"/>
              </a:lnSpc>
              <a:buNone/>
            </a:pPr>
            <a:r>
              <a:rPr lang="en-US" sz="1500" b="1" dirty="0">
                <a:solidFill>
                  <a:srgbClr val="10233A"/>
                </a:solidFill>
                <a:latin typeface="Segoe UI" pitchFamily="34" charset="0"/>
                <a:ea typeface="Segoe UI" pitchFamily="34" charset="-122"/>
                <a:cs typeface="Segoe UI" pitchFamily="34" charset="-120"/>
              </a:rPr>
              <a:t>Draft</a:t>
            </a:r>
            <a:endParaRPr lang="en-US" sz="1500" dirty="0"/>
          </a:p>
        </p:txBody>
      </p:sp>
      <p:sp>
        <p:nvSpPr>
          <p:cNvPr id="25" name="Text 23"/>
          <p:cNvSpPr txBox="1"/>
          <p:nvPr/>
        </p:nvSpPr>
        <p:spPr>
          <a:xfrm>
            <a:off x="5315590" y="2962656"/>
            <a:ext cx="1560515" cy="87782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Watch the note come back, field by field.</a:t>
            </a:r>
            <a:endParaRPr lang="en-US" sz="1150" dirty="0"/>
          </a:p>
        </p:txBody>
      </p:sp>
      <p:sp>
        <p:nvSpPr>
          <p:cNvPr id="26" name="Shape 24"/>
          <p:cNvSpPr/>
          <p:nvPr/>
        </p:nvSpPr>
        <p:spPr>
          <a:xfrm>
            <a:off x="7333305" y="1664208"/>
            <a:ext cx="2036003" cy="2359152"/>
          </a:xfrm>
          <a:prstGeom prst="roundRect">
            <a:avLst>
              <a:gd name="adj" fmla="val 3144"/>
            </a:avLst>
          </a:prstGeom>
          <a:solidFill>
            <a:srgbClr val="CCE6E4"/>
          </a:solidFill>
          <a:ln w="12700">
            <a:solidFill>
              <a:srgbClr val="0F766E"/>
            </a:solidFill>
            <a:prstDash val="solid"/>
          </a:ln>
          <a:effectLst>
            <a:outerShdw sx="100000" sy="100000" kx="0" ky="0" algn="bl" rotWithShape="0" blurRad="127000" dist="25400" dir="5400000">
              <a:srgbClr val="10233A">
                <a:alpha val="8000"/>
              </a:srgbClr>
            </a:outerShdw>
          </a:effectLst>
        </p:spPr>
      </p:sp>
      <p:sp>
        <p:nvSpPr>
          <p:cNvPr id="27" name="Shape 25"/>
          <p:cNvSpPr/>
          <p:nvPr/>
        </p:nvSpPr>
        <p:spPr>
          <a:xfrm>
            <a:off x="7571049" y="1883664"/>
            <a:ext cx="365760" cy="365760"/>
          </a:xfrm>
          <a:prstGeom prst="ellipse">
            <a:avLst/>
          </a:prstGeom>
          <a:solidFill>
            <a:srgbClr val="0F766E"/>
          </a:solidFill>
          <a:ln w="12700">
            <a:solidFill>
              <a:srgbClr val="0F766E"/>
            </a:solidFill>
            <a:prstDash val="solid"/>
          </a:ln>
        </p:spPr>
      </p:sp>
      <p:sp>
        <p:nvSpPr>
          <p:cNvPr id="28" name="Text 26"/>
          <p:cNvSpPr txBox="1"/>
          <p:nvPr/>
        </p:nvSpPr>
        <p:spPr>
          <a:xfrm>
            <a:off x="7571049"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29" name="Shape 27"/>
          <p:cNvSpPr/>
          <p:nvPr/>
        </p:nvSpPr>
        <p:spPr>
          <a:xfrm>
            <a:off x="8400044" y="1938528"/>
            <a:ext cx="731520" cy="256032"/>
          </a:xfrm>
          <a:prstGeom prst="roundRect">
            <a:avLst>
              <a:gd name="adj" fmla="val 17857"/>
            </a:avLst>
          </a:prstGeom>
          <a:solidFill>
            <a:srgbClr val="0F766E"/>
          </a:solidFill>
          <a:ln w="12700">
            <a:solidFill>
              <a:srgbClr val="0F766E"/>
            </a:solidFill>
            <a:prstDash val="solid"/>
          </a:ln>
        </p:spPr>
      </p:sp>
      <p:sp>
        <p:nvSpPr>
          <p:cNvPr id="30" name="Text 28"/>
          <p:cNvSpPr txBox="1"/>
          <p:nvPr/>
        </p:nvSpPr>
        <p:spPr>
          <a:xfrm>
            <a:off x="8400044" y="1938528"/>
            <a:ext cx="73152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Segoe UI" pitchFamily="34" charset="0"/>
                <a:ea typeface="Segoe UI" pitchFamily="34" charset="-122"/>
                <a:cs typeface="Segoe UI" pitchFamily="34" charset="-120"/>
              </a:rPr>
              <a:t>NEW</a:t>
            </a:r>
            <a:endParaRPr lang="en-US" sz="850" dirty="0"/>
          </a:p>
        </p:txBody>
      </p:sp>
      <p:sp>
        <p:nvSpPr>
          <p:cNvPr id="31" name="Text 29"/>
          <p:cNvSpPr txBox="1"/>
          <p:nvPr/>
        </p:nvSpPr>
        <p:spPr>
          <a:xfrm>
            <a:off x="7571049" y="2395728"/>
            <a:ext cx="1560515" cy="548640"/>
          </a:xfrm>
          <a:prstGeom prst="rect">
            <a:avLst/>
          </a:prstGeom>
          <a:noFill/>
          <a:ln/>
        </p:spPr>
        <p:txBody>
          <a:bodyPr wrap="square" lIns="0" tIns="0" rIns="0" bIns="0" rtlCol="0" anchor="ctr"/>
          <a:lstStyle/>
          <a:p>
            <a:pPr indent="0" marL="0">
              <a:lnSpc>
                <a:spcPts val="1900"/>
              </a:lnSpc>
              <a:buNone/>
            </a:pPr>
            <a:r>
              <a:rPr lang="en-US" sz="1500" b="1" dirty="0">
                <a:solidFill>
                  <a:srgbClr val="0F766E"/>
                </a:solidFill>
                <a:latin typeface="Segoe UI" pitchFamily="34" charset="0"/>
                <a:ea typeface="Segoe UI" pitchFamily="34" charset="-122"/>
                <a:cs typeface="Segoe UI" pitchFamily="34" charset="-120"/>
              </a:rPr>
              <a:t>Review &amp; attest</a:t>
            </a:r>
            <a:endParaRPr lang="en-US" sz="1500" dirty="0"/>
          </a:p>
        </p:txBody>
      </p:sp>
      <p:sp>
        <p:nvSpPr>
          <p:cNvPr id="32" name="Text 30"/>
          <p:cNvSpPr txBox="1"/>
          <p:nvPr/>
        </p:nvSpPr>
        <p:spPr>
          <a:xfrm>
            <a:off x="7571049" y="2962656"/>
            <a:ext cx="1560515" cy="877824"/>
          </a:xfrm>
          <a:prstGeom prst="rect">
            <a:avLst/>
          </a:prstGeom>
          <a:noFill/>
          <a:ln/>
        </p:spPr>
        <p:txBody>
          <a:bodyPr wrap="square" lIns="0" tIns="0" rIns="0" bIns="0" rtlCol="0" anchor="ctr"/>
          <a:lstStyle/>
          <a:p>
            <a:pPr indent="0" marL="0">
              <a:lnSpc>
                <a:spcPts val="1500"/>
              </a:lnSpc>
              <a:buNone/>
            </a:pPr>
            <a:r>
              <a:rPr lang="en-US" sz="1150" dirty="0">
                <a:solidFill>
                  <a:srgbClr val="186F68"/>
                </a:solidFill>
                <a:latin typeface="Segoe UI" pitchFamily="34" charset="0"/>
                <a:ea typeface="Segoe UI" pitchFamily="34" charset="-122"/>
                <a:cs typeface="Segoe UI" pitchFamily="34" charset="-120"/>
              </a:rPr>
              <a:t>Resolve what the system flagged — accept, edit, discard or skip.</a:t>
            </a:r>
            <a:endParaRPr lang="en-US" sz="1150" dirty="0"/>
          </a:p>
        </p:txBody>
      </p:sp>
      <p:sp>
        <p:nvSpPr>
          <p:cNvPr id="33" name="Shape 31"/>
          <p:cNvSpPr/>
          <p:nvPr/>
        </p:nvSpPr>
        <p:spPr>
          <a:xfrm>
            <a:off x="9588764" y="1664208"/>
            <a:ext cx="2036003" cy="2359152"/>
          </a:xfrm>
          <a:prstGeom prst="roundRect">
            <a:avLst>
              <a:gd name="adj" fmla="val 3144"/>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34" name="Shape 32"/>
          <p:cNvSpPr/>
          <p:nvPr/>
        </p:nvSpPr>
        <p:spPr>
          <a:xfrm>
            <a:off x="9826508" y="1883664"/>
            <a:ext cx="365760" cy="365760"/>
          </a:xfrm>
          <a:prstGeom prst="ellipse">
            <a:avLst/>
          </a:prstGeom>
          <a:solidFill>
            <a:srgbClr val="93A9BF"/>
          </a:solidFill>
          <a:ln w="12700">
            <a:solidFill>
              <a:srgbClr val="93A9BF"/>
            </a:solidFill>
            <a:prstDash val="solid"/>
          </a:ln>
        </p:spPr>
      </p:sp>
      <p:sp>
        <p:nvSpPr>
          <p:cNvPr id="35" name="Text 33"/>
          <p:cNvSpPr txBox="1"/>
          <p:nvPr/>
        </p:nvSpPr>
        <p:spPr>
          <a:xfrm>
            <a:off x="9826508" y="18836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Shape 34"/>
          <p:cNvSpPr/>
          <p:nvPr/>
        </p:nvSpPr>
        <p:spPr>
          <a:xfrm>
            <a:off x="10655503" y="1938528"/>
            <a:ext cx="731520" cy="256032"/>
          </a:xfrm>
          <a:prstGeom prst="roundRect">
            <a:avLst>
              <a:gd name="adj" fmla="val 17857"/>
            </a:avLst>
          </a:prstGeom>
          <a:solidFill>
            <a:srgbClr val="F1F5F9"/>
          </a:solidFill>
          <a:ln w="12700">
            <a:solidFill>
              <a:srgbClr val="CBD5E1"/>
            </a:solidFill>
            <a:prstDash val="solid"/>
          </a:ln>
        </p:spPr>
      </p:sp>
      <p:sp>
        <p:nvSpPr>
          <p:cNvPr id="37" name="Text 35"/>
          <p:cNvSpPr txBox="1"/>
          <p:nvPr/>
        </p:nvSpPr>
        <p:spPr>
          <a:xfrm>
            <a:off x="10655503" y="1938528"/>
            <a:ext cx="731520" cy="256032"/>
          </a:xfrm>
          <a:prstGeom prst="rect">
            <a:avLst/>
          </a:prstGeom>
          <a:noFill/>
          <a:ln/>
        </p:spPr>
        <p:txBody>
          <a:bodyPr wrap="square" lIns="0" tIns="0" rIns="0" bIns="0" rtlCol="0" anchor="ctr"/>
          <a:lstStyle/>
          <a:p>
            <a:pPr algn="ctr" indent="0" marL="0">
              <a:buNone/>
            </a:pPr>
            <a:r>
              <a:rPr lang="en-US" sz="850" b="1" spc="100" kern="0" dirty="0">
                <a:solidFill>
                  <a:srgbClr val="64748B"/>
                </a:solidFill>
                <a:latin typeface="Segoe UI" pitchFamily="34" charset="0"/>
                <a:ea typeface="Segoe UI" pitchFamily="34" charset="-122"/>
                <a:cs typeface="Segoe UI" pitchFamily="34" charset="-120"/>
              </a:rPr>
              <a:t>SAME</a:t>
            </a:r>
            <a:endParaRPr lang="en-US" sz="850" dirty="0"/>
          </a:p>
        </p:txBody>
      </p:sp>
      <p:sp>
        <p:nvSpPr>
          <p:cNvPr id="38" name="Text 36"/>
          <p:cNvSpPr txBox="1"/>
          <p:nvPr/>
        </p:nvSpPr>
        <p:spPr>
          <a:xfrm>
            <a:off x="9826508" y="2395728"/>
            <a:ext cx="1560515" cy="548640"/>
          </a:xfrm>
          <a:prstGeom prst="rect">
            <a:avLst/>
          </a:prstGeom>
          <a:noFill/>
          <a:ln/>
        </p:spPr>
        <p:txBody>
          <a:bodyPr wrap="square" lIns="0" tIns="0" rIns="0" bIns="0" rtlCol="0" anchor="ctr"/>
          <a:lstStyle/>
          <a:p>
            <a:pPr indent="0" marL="0">
              <a:lnSpc>
                <a:spcPts val="1900"/>
              </a:lnSpc>
              <a:buNone/>
            </a:pPr>
            <a:r>
              <a:rPr lang="en-US" sz="1500" b="1" dirty="0">
                <a:solidFill>
                  <a:srgbClr val="10233A"/>
                </a:solidFill>
                <a:latin typeface="Segoe UI" pitchFamily="34" charset="0"/>
                <a:ea typeface="Segoe UI" pitchFamily="34" charset="-122"/>
                <a:cs typeface="Segoe UI" pitchFamily="34" charset="-120"/>
              </a:rPr>
              <a:t>Sign &amp; submit</a:t>
            </a:r>
            <a:endParaRPr lang="en-US" sz="1500" dirty="0"/>
          </a:p>
        </p:txBody>
      </p:sp>
      <p:sp>
        <p:nvSpPr>
          <p:cNvPr id="39" name="Text 37"/>
          <p:cNvSpPr txBox="1"/>
          <p:nvPr/>
        </p:nvSpPr>
        <p:spPr>
          <a:xfrm>
            <a:off x="9826508" y="2962656"/>
            <a:ext cx="1560515" cy="87782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Sign the encounter. Signature locks the record.</a:t>
            </a:r>
            <a:endParaRPr lang="en-US" sz="1150" dirty="0"/>
          </a:p>
        </p:txBody>
      </p:sp>
      <p:sp>
        <p:nvSpPr>
          <p:cNvPr id="40" name="Text 38"/>
          <p:cNvSpPr txBox="1"/>
          <p:nvPr/>
        </p:nvSpPr>
        <p:spPr>
          <a:xfrm>
            <a:off x="2602931" y="2670048"/>
            <a:ext cx="219456" cy="365760"/>
          </a:xfrm>
          <a:prstGeom prst="rect">
            <a:avLst/>
          </a:prstGeom>
          <a:noFill/>
          <a:ln/>
        </p:spPr>
        <p:txBody>
          <a:bodyPr wrap="square" lIns="0" tIns="0" rIns="0" bIns="0" rtlCol="0" anchor="ctr"/>
          <a:lstStyle/>
          <a:p>
            <a:pPr algn="ctr" indent="0" marL="0">
              <a:buNone/>
            </a:pPr>
            <a:r>
              <a:rPr lang="en-US" sz="2000" b="1" dirty="0">
                <a:solidFill>
                  <a:srgbClr val="9FB3C8"/>
                </a:solidFill>
                <a:latin typeface="Segoe UI" pitchFamily="34" charset="0"/>
                <a:ea typeface="Segoe UI" pitchFamily="34" charset="-122"/>
                <a:cs typeface="Segoe UI" pitchFamily="34" charset="-120"/>
              </a:rPr>
              <a:t>›</a:t>
            </a:r>
            <a:endParaRPr lang="en-US" sz="2000" dirty="0"/>
          </a:p>
        </p:txBody>
      </p:sp>
      <p:sp>
        <p:nvSpPr>
          <p:cNvPr id="41" name="Text 39"/>
          <p:cNvSpPr txBox="1"/>
          <p:nvPr/>
        </p:nvSpPr>
        <p:spPr>
          <a:xfrm>
            <a:off x="4858390" y="2670048"/>
            <a:ext cx="219456" cy="365760"/>
          </a:xfrm>
          <a:prstGeom prst="rect">
            <a:avLst/>
          </a:prstGeom>
          <a:noFill/>
          <a:ln/>
        </p:spPr>
        <p:txBody>
          <a:bodyPr wrap="square" lIns="0" tIns="0" rIns="0" bIns="0" rtlCol="0" anchor="ctr"/>
          <a:lstStyle/>
          <a:p>
            <a:pPr algn="ctr" indent="0" marL="0">
              <a:buNone/>
            </a:pPr>
            <a:r>
              <a:rPr lang="en-US" sz="2000" b="1" dirty="0">
                <a:solidFill>
                  <a:srgbClr val="9FB3C8"/>
                </a:solidFill>
                <a:latin typeface="Segoe UI" pitchFamily="34" charset="0"/>
                <a:ea typeface="Segoe UI" pitchFamily="34" charset="-122"/>
                <a:cs typeface="Segoe UI" pitchFamily="34" charset="-120"/>
              </a:rPr>
              <a:t>›</a:t>
            </a:r>
            <a:endParaRPr lang="en-US" sz="2000" dirty="0"/>
          </a:p>
        </p:txBody>
      </p:sp>
      <p:sp>
        <p:nvSpPr>
          <p:cNvPr id="42" name="Text 40"/>
          <p:cNvSpPr txBox="1"/>
          <p:nvPr/>
        </p:nvSpPr>
        <p:spPr>
          <a:xfrm>
            <a:off x="7113849" y="2670048"/>
            <a:ext cx="219456" cy="365760"/>
          </a:xfrm>
          <a:prstGeom prst="rect">
            <a:avLst/>
          </a:prstGeom>
          <a:noFill/>
          <a:ln/>
        </p:spPr>
        <p:txBody>
          <a:bodyPr wrap="square" lIns="0" tIns="0" rIns="0" bIns="0" rtlCol="0" anchor="ctr"/>
          <a:lstStyle/>
          <a:p>
            <a:pPr algn="ctr" indent="0" marL="0">
              <a:buNone/>
            </a:pPr>
            <a:r>
              <a:rPr lang="en-US" sz="2000" b="1" dirty="0">
                <a:solidFill>
                  <a:srgbClr val="9FB3C8"/>
                </a:solidFill>
                <a:latin typeface="Segoe UI" pitchFamily="34" charset="0"/>
                <a:ea typeface="Segoe UI" pitchFamily="34" charset="-122"/>
                <a:cs typeface="Segoe UI" pitchFamily="34" charset="-120"/>
              </a:rPr>
              <a:t>›</a:t>
            </a:r>
            <a:endParaRPr lang="en-US" sz="2000" dirty="0"/>
          </a:p>
        </p:txBody>
      </p:sp>
      <p:sp>
        <p:nvSpPr>
          <p:cNvPr id="43" name="Text 41"/>
          <p:cNvSpPr txBox="1"/>
          <p:nvPr/>
        </p:nvSpPr>
        <p:spPr>
          <a:xfrm>
            <a:off x="9369308" y="2670048"/>
            <a:ext cx="219456" cy="365760"/>
          </a:xfrm>
          <a:prstGeom prst="rect">
            <a:avLst/>
          </a:prstGeom>
          <a:noFill/>
          <a:ln/>
        </p:spPr>
        <p:txBody>
          <a:bodyPr wrap="square" lIns="0" tIns="0" rIns="0" bIns="0" rtlCol="0" anchor="ctr"/>
          <a:lstStyle/>
          <a:p>
            <a:pPr algn="ctr" indent="0" marL="0">
              <a:buNone/>
            </a:pPr>
            <a:r>
              <a:rPr lang="en-US" sz="2000" b="1" dirty="0">
                <a:solidFill>
                  <a:srgbClr val="9FB3C8"/>
                </a:solidFill>
                <a:latin typeface="Segoe UI" pitchFamily="34" charset="0"/>
                <a:ea typeface="Segoe UI" pitchFamily="34" charset="-122"/>
                <a:cs typeface="Segoe UI" pitchFamily="34" charset="-120"/>
              </a:rPr>
              <a:t>›</a:t>
            </a:r>
            <a:endParaRPr lang="en-US" sz="2000" dirty="0"/>
          </a:p>
        </p:txBody>
      </p:sp>
      <p:sp>
        <p:nvSpPr>
          <p:cNvPr id="44" name="Shape 42"/>
          <p:cNvSpPr/>
          <p:nvPr/>
        </p:nvSpPr>
        <p:spPr>
          <a:xfrm>
            <a:off x="566928" y="4261104"/>
            <a:ext cx="11057839" cy="1883664"/>
          </a:xfrm>
          <a:prstGeom prst="roundRect">
            <a:avLst>
              <a:gd name="adj" fmla="val 3398"/>
            </a:avLst>
          </a:prstGeom>
          <a:solidFill>
            <a:srgbClr val="F1F5F9"/>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45" name="Text 43"/>
          <p:cNvSpPr txBox="1"/>
          <p:nvPr/>
        </p:nvSpPr>
        <p:spPr>
          <a:xfrm>
            <a:off x="932688" y="4498848"/>
            <a:ext cx="10326319" cy="256032"/>
          </a:xfrm>
          <a:prstGeom prst="rect">
            <a:avLst/>
          </a:prstGeom>
          <a:noFill/>
          <a:ln/>
        </p:spPr>
        <p:txBody>
          <a:bodyPr wrap="square" lIns="0" tIns="0" rIns="0" bIns="0" rtlCol="0" anchor="ctr"/>
          <a:lstStyle/>
          <a:p>
            <a:pPr indent="0" marL="0">
              <a:buNone/>
            </a:pPr>
            <a:r>
              <a:rPr lang="en-US" sz="1150" b="1" spc="180" kern="0" dirty="0">
                <a:solidFill>
                  <a:srgbClr val="33445B"/>
                </a:solidFill>
                <a:latin typeface="Segoe UI" pitchFamily="34" charset="0"/>
                <a:ea typeface="Segoe UI" pitchFamily="34" charset="-122"/>
                <a:cs typeface="Segoe UI" pitchFamily="34" charset="-120"/>
              </a:rPr>
              <a:t>WHAT THE NEW STEP IS FOR</a:t>
            </a:r>
            <a:endParaRPr lang="en-US" sz="1150" dirty="0"/>
          </a:p>
        </p:txBody>
      </p:sp>
      <p:sp>
        <p:nvSpPr>
          <p:cNvPr id="46" name="Text 44"/>
          <p:cNvSpPr txBox="1"/>
          <p:nvPr/>
        </p:nvSpPr>
        <p:spPr>
          <a:xfrm>
            <a:off x="932688" y="4864608"/>
            <a:ext cx="3222650" cy="274320"/>
          </a:xfrm>
          <a:prstGeom prst="rect">
            <a:avLst/>
          </a:prstGeom>
          <a:noFill/>
          <a:ln/>
        </p:spPr>
        <p:txBody>
          <a:bodyPr wrap="square" lIns="0" tIns="0" rIns="0" bIns="0" rtlCol="0" anchor="ctr"/>
          <a:lstStyle/>
          <a:p>
            <a:pPr indent="0" marL="0">
              <a:buNone/>
            </a:pPr>
            <a:r>
              <a:rPr lang="en-US" sz="1300" b="1" dirty="0">
                <a:solidFill>
                  <a:srgbClr val="0F766E"/>
                </a:solidFill>
                <a:latin typeface="Segoe UI" pitchFamily="34" charset="0"/>
                <a:ea typeface="Segoe UI" pitchFamily="34" charset="-122"/>
                <a:cs typeface="Segoe UI" pitchFamily="34" charset="-120"/>
              </a:rPr>
              <a:t>It decides what you are shown</a:t>
            </a:r>
            <a:endParaRPr lang="en-US" sz="1300" dirty="0"/>
          </a:p>
        </p:txBody>
      </p:sp>
      <p:sp>
        <p:nvSpPr>
          <p:cNvPr id="47" name="Text 45"/>
          <p:cNvSpPr txBox="1"/>
          <p:nvPr/>
        </p:nvSpPr>
        <p:spPr>
          <a:xfrm>
            <a:off x="932688" y="5175504"/>
            <a:ext cx="3222650" cy="859536"/>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Not what may be written. A confident value still appears in the note, and it still needs your attestation before you can sign.</a:t>
            </a:r>
            <a:endParaRPr lang="en-US" sz="1150" dirty="0"/>
          </a:p>
        </p:txBody>
      </p:sp>
      <p:sp>
        <p:nvSpPr>
          <p:cNvPr id="48" name="Text 46"/>
          <p:cNvSpPr txBox="1"/>
          <p:nvPr/>
        </p:nvSpPr>
        <p:spPr>
          <a:xfrm>
            <a:off x="4484522" y="4864608"/>
            <a:ext cx="3222650" cy="274320"/>
          </a:xfrm>
          <a:prstGeom prst="rect">
            <a:avLst/>
          </a:prstGeom>
          <a:noFill/>
          <a:ln/>
        </p:spPr>
        <p:txBody>
          <a:bodyPr wrap="square" lIns="0" tIns="0" rIns="0" bIns="0" rtlCol="0" anchor="ctr"/>
          <a:lstStyle/>
          <a:p>
            <a:pPr indent="0" marL="0">
              <a:buNone/>
            </a:pPr>
            <a:r>
              <a:rPr lang="en-US" sz="1300" b="1" dirty="0">
                <a:solidFill>
                  <a:srgbClr val="0F766E"/>
                </a:solidFill>
                <a:latin typeface="Segoe UI" pitchFamily="34" charset="0"/>
                <a:ea typeface="Segoe UI" pitchFamily="34" charset="-122"/>
                <a:cs typeface="Segoe UI" pitchFamily="34" charset="-120"/>
              </a:rPr>
              <a:t>It happens before anything is saved</a:t>
            </a:r>
            <a:endParaRPr lang="en-US" sz="1300" dirty="0"/>
          </a:p>
        </p:txBody>
      </p:sp>
      <p:sp>
        <p:nvSpPr>
          <p:cNvPr id="49" name="Text 47"/>
          <p:cNvSpPr txBox="1"/>
          <p:nvPr/>
        </p:nvSpPr>
        <p:spPr>
          <a:xfrm>
            <a:off x="4484522" y="5175504"/>
            <a:ext cx="3222650" cy="859536"/>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Until you confirm, the encounter form is untouched. Walking away from the review costs nothing.</a:t>
            </a:r>
            <a:endParaRPr lang="en-US" sz="1150" dirty="0"/>
          </a:p>
        </p:txBody>
      </p:sp>
      <p:sp>
        <p:nvSpPr>
          <p:cNvPr id="50" name="Text 48"/>
          <p:cNvSpPr txBox="1"/>
          <p:nvPr/>
        </p:nvSpPr>
        <p:spPr>
          <a:xfrm>
            <a:off x="8036357" y="4864608"/>
            <a:ext cx="3222650" cy="274320"/>
          </a:xfrm>
          <a:prstGeom prst="rect">
            <a:avLst/>
          </a:prstGeom>
          <a:noFill/>
          <a:ln/>
        </p:spPr>
        <p:txBody>
          <a:bodyPr wrap="square" lIns="0" tIns="0" rIns="0" bIns="0" rtlCol="0" anchor="ctr"/>
          <a:lstStyle/>
          <a:p>
            <a:pPr indent="0" marL="0">
              <a:buNone/>
            </a:pPr>
            <a:r>
              <a:rPr lang="en-US" sz="1300" b="1" dirty="0">
                <a:solidFill>
                  <a:srgbClr val="0F766E"/>
                </a:solidFill>
                <a:latin typeface="Segoe UI" pitchFamily="34" charset="0"/>
                <a:ea typeface="Segoe UI" pitchFamily="34" charset="-122"/>
                <a:cs typeface="Segoe UI" pitchFamily="34" charset="-120"/>
              </a:rPr>
              <a:t>It can be left, but not skipped</a:t>
            </a:r>
            <a:endParaRPr lang="en-US" sz="1300" dirty="0"/>
          </a:p>
        </p:txBody>
      </p:sp>
      <p:sp>
        <p:nvSpPr>
          <p:cNvPr id="51" name="Text 49"/>
          <p:cNvSpPr txBox="1"/>
          <p:nvPr/>
        </p:nvSpPr>
        <p:spPr>
          <a:xfrm>
            <a:off x="8036357" y="5175504"/>
            <a:ext cx="3222650" cy="859536"/>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You can close it and come back. Anything still undecided is marked in the note and blocks signature — never traps you in a queue.</a:t>
            </a:r>
            <a:endParaRPr lang="en-US" sz="1150" dirty="0"/>
          </a:p>
        </p:txBody>
      </p:sp>
      <p:sp>
        <p:nvSpPr>
          <p:cNvPr id="52" name="Text 50"/>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53" name="Text 51"/>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CHANGE 1  ·  THE CHECKPOINT</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Nothing reaches the chart unseen</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The timer that submits the encounter one second after the AI answers is removed. A provider decision takes its place.</a:t>
            </a:r>
            <a:endParaRPr lang="en-US" sz="1350" dirty="0"/>
          </a:p>
        </p:txBody>
      </p:sp>
      <p:sp>
        <p:nvSpPr>
          <p:cNvPr id="5" name="Shape 3"/>
          <p:cNvSpPr/>
          <p:nvPr/>
        </p:nvSpPr>
        <p:spPr>
          <a:xfrm>
            <a:off x="566928" y="1664208"/>
            <a:ext cx="11057839" cy="1078992"/>
          </a:xfrm>
          <a:prstGeom prst="roundRect">
            <a:avLst>
              <a:gd name="adj" fmla="val 5932"/>
            </a:avLst>
          </a:prstGeom>
          <a:solidFill>
            <a:srgbClr val="FCE7E7"/>
          </a:solidFill>
          <a:ln w="12700">
            <a:solidFill>
              <a:srgbClr val="B91C1C"/>
            </a:solidFill>
            <a:prstDash val="solid"/>
          </a:ln>
          <a:effectLst>
            <a:outerShdw sx="100000" sy="100000" kx="0" ky="0" algn="bl" rotWithShape="0" blurRad="127000" dist="25400" dir="5400000">
              <a:srgbClr val="10233A">
                <a:alpha val="8000"/>
              </a:srgbClr>
            </a:outerShdw>
          </a:effectLst>
        </p:spPr>
      </p:sp>
      <p:sp>
        <p:nvSpPr>
          <p:cNvPr id="6" name="Text 4"/>
          <p:cNvSpPr txBox="1"/>
          <p:nvPr/>
        </p:nvSpPr>
        <p:spPr>
          <a:xfrm>
            <a:off x="932688" y="1865376"/>
            <a:ext cx="1188720" cy="274320"/>
          </a:xfrm>
          <a:prstGeom prst="rect">
            <a:avLst/>
          </a:prstGeom>
          <a:noFill/>
          <a:ln/>
        </p:spPr>
        <p:txBody>
          <a:bodyPr wrap="square" lIns="0" tIns="0" rIns="0" bIns="0" rtlCol="0" anchor="ctr"/>
          <a:lstStyle/>
          <a:p>
            <a:pPr indent="0" marL="0">
              <a:buNone/>
            </a:pPr>
            <a:r>
              <a:rPr lang="en-US" sz="1050" b="1" spc="180" kern="0" dirty="0">
                <a:solidFill>
                  <a:srgbClr val="B91C1C"/>
                </a:solidFill>
                <a:latin typeface="Segoe UI" pitchFamily="34" charset="0"/>
                <a:ea typeface="Segoe UI" pitchFamily="34" charset="-122"/>
                <a:cs typeface="Segoe UI" pitchFamily="34" charset="-120"/>
              </a:rPr>
              <a:t>REMOVED</a:t>
            </a:r>
            <a:endParaRPr lang="en-US" sz="1050" dirty="0"/>
          </a:p>
        </p:txBody>
      </p:sp>
      <p:sp>
        <p:nvSpPr>
          <p:cNvPr id="7" name="Text 5"/>
          <p:cNvSpPr txBox="1"/>
          <p:nvPr/>
        </p:nvSpPr>
        <p:spPr>
          <a:xfrm>
            <a:off x="2212848" y="1828800"/>
            <a:ext cx="2926080" cy="310896"/>
          </a:xfrm>
          <a:prstGeom prst="rect">
            <a:avLst/>
          </a:prstGeom>
          <a:noFill/>
          <a:ln/>
        </p:spPr>
        <p:txBody>
          <a:bodyPr wrap="square" lIns="0" tIns="0" rIns="0" bIns="0" rtlCol="0" anchor="ctr"/>
          <a:lstStyle/>
          <a:p>
            <a:pPr indent="0" marL="0">
              <a:buNone/>
            </a:pPr>
            <a:r>
              <a:rPr lang="en-US" sz="1600" b="1" dirty="0">
                <a:solidFill>
                  <a:srgbClr val="B91C1C"/>
                </a:solidFill>
                <a:latin typeface="Segoe UI" pitchFamily="34" charset="0"/>
                <a:ea typeface="Segoe UI" pitchFamily="34" charset="-122"/>
                <a:cs typeface="Segoe UI" pitchFamily="34" charset="-120"/>
              </a:rPr>
              <a:t>The automatic save.</a:t>
            </a:r>
            <a:endParaRPr lang="en-US" sz="1600" dirty="0"/>
          </a:p>
        </p:txBody>
      </p:sp>
      <p:sp>
        <p:nvSpPr>
          <p:cNvPr id="8" name="Text 6"/>
          <p:cNvSpPr txBox="1"/>
          <p:nvPr/>
        </p:nvSpPr>
        <p:spPr>
          <a:xfrm>
            <a:off x="2212848" y="2157984"/>
            <a:ext cx="9235440" cy="475488"/>
          </a:xfrm>
          <a:prstGeom prst="rect">
            <a:avLst/>
          </a:prstGeom>
          <a:noFill/>
          <a:ln/>
        </p:spPr>
        <p:txBody>
          <a:bodyPr wrap="square" lIns="0" tIns="0" rIns="0" bIns="0" rtlCol="0" anchor="ctr"/>
          <a:lstStyle/>
          <a:p>
            <a:pPr indent="0" marL="0">
              <a:lnSpc>
                <a:spcPts val="1600"/>
              </a:lnSpc>
              <a:buNone/>
            </a:pPr>
            <a:r>
              <a:rPr lang="en-US" sz="1250" dirty="0">
                <a:solidFill>
                  <a:srgbClr val="8A3A3A"/>
                </a:solidFill>
                <a:latin typeface="Segoe UI" pitchFamily="34" charset="0"/>
                <a:ea typeface="Segoe UI" pitchFamily="34" charset="-122"/>
                <a:cs typeface="Segoe UI" pitchFamily="34" charset="-120"/>
              </a:rPr>
              <a:t>Today the encounter submits itself one second after the model replies — with no check on the values, no list of which fields may be written, and no human in between.</a:t>
            </a:r>
            <a:endParaRPr lang="en-US" sz="1250" dirty="0"/>
          </a:p>
        </p:txBody>
      </p:sp>
      <p:sp>
        <p:nvSpPr>
          <p:cNvPr id="9" name="Text 7"/>
          <p:cNvSpPr txBox="1"/>
          <p:nvPr/>
        </p:nvSpPr>
        <p:spPr>
          <a:xfrm>
            <a:off x="566928" y="2999232"/>
            <a:ext cx="11057839" cy="256032"/>
          </a:xfrm>
          <a:prstGeom prst="rect">
            <a:avLst/>
          </a:prstGeom>
          <a:noFill/>
          <a:ln/>
        </p:spPr>
        <p:txBody>
          <a:bodyPr wrap="square" lIns="0" tIns="0" rIns="0" bIns="0" rtlCol="0" anchor="ctr"/>
          <a:lstStyle/>
          <a:p>
            <a:pPr indent="0" marL="0">
              <a:buNone/>
            </a:pPr>
            <a:r>
              <a:rPr lang="en-US" sz="1150" b="1" spc="180" kern="0" dirty="0">
                <a:solidFill>
                  <a:srgbClr val="33445B"/>
                </a:solidFill>
                <a:latin typeface="Segoe UI" pitchFamily="34" charset="0"/>
                <a:ea typeface="Segoe UI" pitchFamily="34" charset="-122"/>
                <a:cs typeface="Segoe UI" pitchFamily="34" charset="-120"/>
              </a:rPr>
              <a:t>FOUR ANSWERS FOR EVERY FLAGGED FIELD</a:t>
            </a:r>
            <a:endParaRPr lang="en-US" sz="1150" dirty="0"/>
          </a:p>
        </p:txBody>
      </p:sp>
      <p:sp>
        <p:nvSpPr>
          <p:cNvPr id="10" name="Shape 8"/>
          <p:cNvSpPr/>
          <p:nvPr/>
        </p:nvSpPr>
        <p:spPr>
          <a:xfrm>
            <a:off x="566928" y="3328416"/>
            <a:ext cx="2558720" cy="1481328"/>
          </a:xfrm>
          <a:prstGeom prst="roundRect">
            <a:avLst>
              <a:gd name="adj" fmla="val 4321"/>
            </a:avLst>
          </a:prstGeom>
          <a:solidFill>
            <a:srgbClr val="DDF2E3"/>
          </a:solidFill>
          <a:ln w="12700">
            <a:solidFill>
              <a:srgbClr val="15803D"/>
            </a:solidFill>
            <a:prstDash val="solid"/>
          </a:ln>
          <a:effectLst>
            <a:outerShdw sx="100000" sy="100000" kx="0" ky="0" algn="bl" rotWithShape="0" blurRad="127000" dist="25400" dir="5400000">
              <a:srgbClr val="10233A">
                <a:alpha val="8000"/>
              </a:srgbClr>
            </a:outerShdw>
          </a:effectLst>
        </p:spPr>
      </p:sp>
      <p:sp>
        <p:nvSpPr>
          <p:cNvPr id="11" name="Text 9"/>
          <p:cNvSpPr txBox="1"/>
          <p:nvPr/>
        </p:nvSpPr>
        <p:spPr>
          <a:xfrm>
            <a:off x="841248" y="3547872"/>
            <a:ext cx="2010080" cy="329184"/>
          </a:xfrm>
          <a:prstGeom prst="rect">
            <a:avLst/>
          </a:prstGeom>
          <a:noFill/>
          <a:ln/>
        </p:spPr>
        <p:txBody>
          <a:bodyPr wrap="square" lIns="0" tIns="0" rIns="0" bIns="0" rtlCol="0" anchor="ctr"/>
          <a:lstStyle/>
          <a:p>
            <a:pPr indent="0" marL="0">
              <a:buNone/>
            </a:pPr>
            <a:r>
              <a:rPr lang="en-US" sz="1800" b="1" dirty="0">
                <a:solidFill>
                  <a:srgbClr val="15803D"/>
                </a:solidFill>
                <a:latin typeface="Segoe UI" pitchFamily="34" charset="0"/>
                <a:ea typeface="Segoe UI" pitchFamily="34" charset="-122"/>
                <a:cs typeface="Segoe UI" pitchFamily="34" charset="-120"/>
              </a:rPr>
              <a:t>Accept</a:t>
            </a:r>
            <a:endParaRPr lang="en-US" sz="1800" dirty="0"/>
          </a:p>
        </p:txBody>
      </p:sp>
      <p:sp>
        <p:nvSpPr>
          <p:cNvPr id="12" name="Text 10"/>
          <p:cNvSpPr txBox="1"/>
          <p:nvPr/>
        </p:nvSpPr>
        <p:spPr>
          <a:xfrm>
            <a:off x="841248" y="3931920"/>
            <a:ext cx="2010080" cy="749808"/>
          </a:xfrm>
          <a:prstGeom prst="rect">
            <a:avLst/>
          </a:prstGeom>
          <a:noFill/>
          <a:ln/>
        </p:spPr>
        <p:txBody>
          <a:bodyPr wrap="square" lIns="0" tIns="0" rIns="0" bIns="0" rtlCol="0" anchor="ctr"/>
          <a:lstStyle/>
          <a:p>
            <a:pPr indent="0" marL="0">
              <a:lnSpc>
                <a:spcPts val="1500"/>
              </a:lnSpc>
              <a:buNone/>
            </a:pPr>
            <a:r>
              <a:rPr lang="en-US" sz="1150" dirty="0">
                <a:solidFill>
                  <a:srgbClr val="15803D"/>
                </a:solidFill>
                <a:latin typeface="Segoe UI" pitchFamily="34" charset="0"/>
                <a:ea typeface="Segoe UI" pitchFamily="34" charset="-122"/>
                <a:cs typeface="Segoe UI" pitchFamily="34" charset="-120"/>
              </a:rPr>
              <a:t>The value goes in as proposed, marked as an AI value at the confidence it carried.</a:t>
            </a:r>
            <a:endParaRPr lang="en-US" sz="1150" dirty="0"/>
          </a:p>
        </p:txBody>
      </p:sp>
      <p:sp>
        <p:nvSpPr>
          <p:cNvPr id="13" name="Shape 11"/>
          <p:cNvSpPr/>
          <p:nvPr/>
        </p:nvSpPr>
        <p:spPr>
          <a:xfrm>
            <a:off x="3399968" y="3328416"/>
            <a:ext cx="2558720" cy="1481328"/>
          </a:xfrm>
          <a:prstGeom prst="roundRect">
            <a:avLst>
              <a:gd name="adj" fmla="val 4321"/>
            </a:avLst>
          </a:prstGeom>
          <a:solidFill>
            <a:srgbClr val="FDF0DC"/>
          </a:solidFill>
          <a:ln w="12700">
            <a:solidFill>
              <a:srgbClr val="B45309"/>
            </a:solidFill>
            <a:prstDash val="solid"/>
          </a:ln>
          <a:effectLst>
            <a:outerShdw sx="100000" sy="100000" kx="0" ky="0" algn="bl" rotWithShape="0" blurRad="127000" dist="25400" dir="5400000">
              <a:srgbClr val="10233A">
                <a:alpha val="8000"/>
              </a:srgbClr>
            </a:outerShdw>
          </a:effectLst>
        </p:spPr>
      </p:sp>
      <p:sp>
        <p:nvSpPr>
          <p:cNvPr id="14" name="Text 12"/>
          <p:cNvSpPr txBox="1"/>
          <p:nvPr/>
        </p:nvSpPr>
        <p:spPr>
          <a:xfrm>
            <a:off x="3674288" y="3547872"/>
            <a:ext cx="2010080" cy="329184"/>
          </a:xfrm>
          <a:prstGeom prst="rect">
            <a:avLst/>
          </a:prstGeom>
          <a:noFill/>
          <a:ln/>
        </p:spPr>
        <p:txBody>
          <a:bodyPr wrap="square" lIns="0" tIns="0" rIns="0" bIns="0" rtlCol="0" anchor="ctr"/>
          <a:lstStyle/>
          <a:p>
            <a:pPr indent="0" marL="0">
              <a:buNone/>
            </a:pPr>
            <a:r>
              <a:rPr lang="en-US" sz="1800" b="1" dirty="0">
                <a:solidFill>
                  <a:srgbClr val="B45309"/>
                </a:solidFill>
                <a:latin typeface="Segoe UI" pitchFamily="34" charset="0"/>
                <a:ea typeface="Segoe UI" pitchFamily="34" charset="-122"/>
                <a:cs typeface="Segoe UI" pitchFamily="34" charset="-120"/>
              </a:rPr>
              <a:t>Edit</a:t>
            </a:r>
            <a:endParaRPr lang="en-US" sz="1800" dirty="0"/>
          </a:p>
        </p:txBody>
      </p:sp>
      <p:sp>
        <p:nvSpPr>
          <p:cNvPr id="15" name="Text 13"/>
          <p:cNvSpPr txBox="1"/>
          <p:nvPr/>
        </p:nvSpPr>
        <p:spPr>
          <a:xfrm>
            <a:off x="3674288" y="3931920"/>
            <a:ext cx="2010080" cy="749808"/>
          </a:xfrm>
          <a:prstGeom prst="rect">
            <a:avLst/>
          </a:prstGeom>
          <a:noFill/>
          <a:ln/>
        </p:spPr>
        <p:txBody>
          <a:bodyPr wrap="square" lIns="0" tIns="0" rIns="0" bIns="0" rtlCol="0" anchor="ctr"/>
          <a:lstStyle/>
          <a:p>
            <a:pPr indent="0" marL="0">
              <a:lnSpc>
                <a:spcPts val="1500"/>
              </a:lnSpc>
              <a:buNone/>
            </a:pPr>
            <a:r>
              <a:rPr lang="en-US" sz="1150" dirty="0">
                <a:solidFill>
                  <a:srgbClr val="B45309"/>
                </a:solidFill>
                <a:latin typeface="Segoe UI" pitchFamily="34" charset="0"/>
                <a:ea typeface="Segoe UI" pitchFamily="34" charset="-122"/>
                <a:cs typeface="Segoe UI" pitchFamily="34" charset="-120"/>
              </a:rPr>
              <a:t>You correct it in place. The note keeps what was proposed and what you changed it to.</a:t>
            </a:r>
            <a:endParaRPr lang="en-US" sz="1150" dirty="0"/>
          </a:p>
        </p:txBody>
      </p:sp>
      <p:sp>
        <p:nvSpPr>
          <p:cNvPr id="16" name="Shape 14"/>
          <p:cNvSpPr/>
          <p:nvPr/>
        </p:nvSpPr>
        <p:spPr>
          <a:xfrm>
            <a:off x="6233008" y="3328416"/>
            <a:ext cx="2558720" cy="1481328"/>
          </a:xfrm>
          <a:prstGeom prst="roundRect">
            <a:avLst>
              <a:gd name="adj" fmla="val 4321"/>
            </a:avLst>
          </a:prstGeom>
          <a:solidFill>
            <a:srgbClr val="FCE7E7"/>
          </a:solidFill>
          <a:ln w="12700">
            <a:solidFill>
              <a:srgbClr val="B91C1C"/>
            </a:solidFill>
            <a:prstDash val="solid"/>
          </a:ln>
          <a:effectLst>
            <a:outerShdw sx="100000" sy="100000" kx="0" ky="0" algn="bl" rotWithShape="0" blurRad="127000" dist="25400" dir="5400000">
              <a:srgbClr val="10233A">
                <a:alpha val="8000"/>
              </a:srgbClr>
            </a:outerShdw>
          </a:effectLst>
        </p:spPr>
      </p:sp>
      <p:sp>
        <p:nvSpPr>
          <p:cNvPr id="17" name="Text 15"/>
          <p:cNvSpPr txBox="1"/>
          <p:nvPr/>
        </p:nvSpPr>
        <p:spPr>
          <a:xfrm>
            <a:off x="6507328" y="3547872"/>
            <a:ext cx="2010080" cy="329184"/>
          </a:xfrm>
          <a:prstGeom prst="rect">
            <a:avLst/>
          </a:prstGeom>
          <a:noFill/>
          <a:ln/>
        </p:spPr>
        <p:txBody>
          <a:bodyPr wrap="square" lIns="0" tIns="0" rIns="0" bIns="0" rtlCol="0" anchor="ctr"/>
          <a:lstStyle/>
          <a:p>
            <a:pPr indent="0" marL="0">
              <a:buNone/>
            </a:pPr>
            <a:r>
              <a:rPr lang="en-US" sz="1800" b="1" dirty="0">
                <a:solidFill>
                  <a:srgbClr val="B91C1C"/>
                </a:solidFill>
                <a:latin typeface="Segoe UI" pitchFamily="34" charset="0"/>
                <a:ea typeface="Segoe UI" pitchFamily="34" charset="-122"/>
                <a:cs typeface="Segoe UI" pitchFamily="34" charset="-120"/>
              </a:rPr>
              <a:t>Discard</a:t>
            </a:r>
            <a:endParaRPr lang="en-US" sz="1800" dirty="0"/>
          </a:p>
        </p:txBody>
      </p:sp>
      <p:sp>
        <p:nvSpPr>
          <p:cNvPr id="18" name="Text 16"/>
          <p:cNvSpPr txBox="1"/>
          <p:nvPr/>
        </p:nvSpPr>
        <p:spPr>
          <a:xfrm>
            <a:off x="6507328" y="3931920"/>
            <a:ext cx="2010080" cy="749808"/>
          </a:xfrm>
          <a:prstGeom prst="rect">
            <a:avLst/>
          </a:prstGeom>
          <a:noFill/>
          <a:ln/>
        </p:spPr>
        <p:txBody>
          <a:bodyPr wrap="square" lIns="0" tIns="0" rIns="0" bIns="0" rtlCol="0" anchor="ctr"/>
          <a:lstStyle/>
          <a:p>
            <a:pPr indent="0" marL="0">
              <a:lnSpc>
                <a:spcPts val="1500"/>
              </a:lnSpc>
              <a:buNone/>
            </a:pPr>
            <a:r>
              <a:rPr lang="en-US" sz="1150" dirty="0">
                <a:solidFill>
                  <a:srgbClr val="B91C1C"/>
                </a:solidFill>
                <a:latin typeface="Segoe UI" pitchFamily="34" charset="0"/>
                <a:ea typeface="Segoe UI" pitchFamily="34" charset="-122"/>
                <a:cs typeface="Segoe UI" pitchFamily="34" charset="-120"/>
              </a:rPr>
              <a:t>It does not go on the chart. The field reads not documented, with your reason kept.</a:t>
            </a:r>
            <a:endParaRPr lang="en-US" sz="1150" dirty="0"/>
          </a:p>
        </p:txBody>
      </p:sp>
      <p:sp>
        <p:nvSpPr>
          <p:cNvPr id="19" name="Shape 17"/>
          <p:cNvSpPr/>
          <p:nvPr/>
        </p:nvSpPr>
        <p:spPr>
          <a:xfrm>
            <a:off x="9066047" y="3328416"/>
            <a:ext cx="2558720" cy="1481328"/>
          </a:xfrm>
          <a:prstGeom prst="roundRect">
            <a:avLst>
              <a:gd name="adj" fmla="val 4321"/>
            </a:avLst>
          </a:prstGeom>
          <a:solidFill>
            <a:srgbClr val="F1F5F9"/>
          </a:solidFill>
          <a:ln w="12700">
            <a:solidFill>
              <a:srgbClr val="55667D"/>
            </a:solidFill>
            <a:prstDash val="solid"/>
          </a:ln>
          <a:effectLst>
            <a:outerShdw sx="100000" sy="100000" kx="0" ky="0" algn="bl" rotWithShape="0" blurRad="127000" dist="25400" dir="5400000">
              <a:srgbClr val="10233A">
                <a:alpha val="8000"/>
              </a:srgbClr>
            </a:outerShdw>
          </a:effectLst>
        </p:spPr>
      </p:sp>
      <p:sp>
        <p:nvSpPr>
          <p:cNvPr id="20" name="Text 18"/>
          <p:cNvSpPr txBox="1"/>
          <p:nvPr/>
        </p:nvSpPr>
        <p:spPr>
          <a:xfrm>
            <a:off x="9340367" y="3547872"/>
            <a:ext cx="2010080" cy="329184"/>
          </a:xfrm>
          <a:prstGeom prst="rect">
            <a:avLst/>
          </a:prstGeom>
          <a:noFill/>
          <a:ln/>
        </p:spPr>
        <p:txBody>
          <a:bodyPr wrap="square" lIns="0" tIns="0" rIns="0" bIns="0" rtlCol="0" anchor="ctr"/>
          <a:lstStyle/>
          <a:p>
            <a:pPr indent="0" marL="0">
              <a:buNone/>
            </a:pPr>
            <a:r>
              <a:rPr lang="en-US" sz="1800" b="1" dirty="0">
                <a:solidFill>
                  <a:srgbClr val="55667D"/>
                </a:solidFill>
                <a:latin typeface="Segoe UI" pitchFamily="34" charset="0"/>
                <a:ea typeface="Segoe UI" pitchFamily="34" charset="-122"/>
                <a:cs typeface="Segoe UI" pitchFamily="34" charset="-120"/>
              </a:rPr>
              <a:t>Skip</a:t>
            </a:r>
            <a:endParaRPr lang="en-US" sz="1800" dirty="0"/>
          </a:p>
        </p:txBody>
      </p:sp>
      <p:sp>
        <p:nvSpPr>
          <p:cNvPr id="21" name="Text 19"/>
          <p:cNvSpPr txBox="1"/>
          <p:nvPr/>
        </p:nvSpPr>
        <p:spPr>
          <a:xfrm>
            <a:off x="9340367" y="3931920"/>
            <a:ext cx="2010080" cy="749808"/>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Undecided for now. It stays marked in the note and blocks signature until you answer.</a:t>
            </a:r>
            <a:endParaRPr lang="en-US" sz="1150" dirty="0"/>
          </a:p>
        </p:txBody>
      </p:sp>
      <p:sp>
        <p:nvSpPr>
          <p:cNvPr id="22" name="Shape 20"/>
          <p:cNvSpPr/>
          <p:nvPr/>
        </p:nvSpPr>
        <p:spPr>
          <a:xfrm>
            <a:off x="566928" y="5010912"/>
            <a:ext cx="11057839" cy="1133856"/>
          </a:xfrm>
          <a:prstGeom prst="roundRect">
            <a:avLst>
              <a:gd name="adj" fmla="val 5645"/>
            </a:avLst>
          </a:prstGeom>
          <a:solidFill>
            <a:srgbClr val="F1F5F9"/>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23" name="Text 21"/>
          <p:cNvSpPr txBox="1"/>
          <p:nvPr/>
        </p:nvSpPr>
        <p:spPr>
          <a:xfrm>
            <a:off x="932688" y="5010912"/>
            <a:ext cx="10326319" cy="1133856"/>
          </a:xfrm>
          <a:prstGeom prst="rect">
            <a:avLst/>
          </a:prstGeom>
          <a:noFill/>
          <a:ln/>
        </p:spPr>
        <p:txBody>
          <a:bodyPr wrap="square" lIns="0" tIns="0" rIns="0" bIns="0" rtlCol="0" anchor="ctr"/>
          <a:lstStyle/>
          <a:p>
            <a:pPr indent="0" marL="0">
              <a:lnSpc>
                <a:spcPts val="1900"/>
              </a:lnSpc>
              <a:buNone/>
            </a:pPr>
            <a:r>
              <a:rPr lang="en-US" sz="1300" dirty="0">
                <a:solidFill>
                  <a:srgbClr val="33445B"/>
                </a:solidFill>
                <a:latin typeface="Segoe UI" pitchFamily="34" charset="0"/>
                <a:ea typeface="Segoe UI" pitchFamily="34" charset="-122"/>
                <a:cs typeface="Segoe UI" pitchFamily="34" charset="-120"/>
              </a:rPr>
              <a:t>Whatever you choose is recorded — the field, what was proposed, what you decided, who you are and when.  That record is what makes an AI-assisted note defensible in an audit, and it cannot be reconstructed after the fact.</a:t>
            </a:r>
            <a:endParaRPr lang="en-US" sz="1300" dirty="0"/>
          </a:p>
        </p:txBody>
      </p:sp>
      <p:sp>
        <p:nvSpPr>
          <p:cNvPr id="24" name="Text 22"/>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25" name="Text 23"/>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CHANGE 2  ·  THE REVIEW LOAD</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Only what needs you comes forward</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A review step that asks about every field is one nobody uses by the third encounter. Most fields never reach you.</a:t>
            </a:r>
            <a:endParaRPr lang="en-US" sz="1350" dirty="0"/>
          </a:p>
        </p:txBody>
      </p:sp>
      <p:sp>
        <p:nvSpPr>
          <p:cNvPr id="5" name="Shape 3"/>
          <p:cNvSpPr/>
          <p:nvPr/>
        </p:nvSpPr>
        <p:spPr>
          <a:xfrm>
            <a:off x="566928" y="1664208"/>
            <a:ext cx="6903720" cy="2121408"/>
          </a:xfrm>
          <a:prstGeom prst="roundRect">
            <a:avLst>
              <a:gd name="adj" fmla="val 3017"/>
            </a:avLst>
          </a:prstGeom>
          <a:solidFill>
            <a:srgbClr val="F1F5F9"/>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6" name="Text 4"/>
          <p:cNvSpPr txBox="1"/>
          <p:nvPr/>
        </p:nvSpPr>
        <p:spPr>
          <a:xfrm>
            <a:off x="914400" y="1865376"/>
            <a:ext cx="6217920" cy="256032"/>
          </a:xfrm>
          <a:prstGeom prst="rect">
            <a:avLst/>
          </a:prstGeom>
          <a:noFill/>
          <a:ln/>
        </p:spPr>
        <p:txBody>
          <a:bodyPr wrap="square" lIns="0" tIns="0" rIns="0" bIns="0" rtlCol="0" anchor="ctr"/>
          <a:lstStyle/>
          <a:p>
            <a:pPr indent="0" marL="0">
              <a:buNone/>
            </a:pPr>
            <a:r>
              <a:rPr lang="en-US" sz="1150" b="1" spc="180" kern="0" dirty="0">
                <a:solidFill>
                  <a:srgbClr val="33445B"/>
                </a:solidFill>
                <a:latin typeface="Segoe UI" pitchFamily="34" charset="0"/>
                <a:ea typeface="Segoe UI" pitchFamily="34" charset="-122"/>
                <a:cs typeface="Segoe UI" pitchFamily="34" charset="-120"/>
              </a:rPr>
              <a:t>HOW A FIELD IS ROUTED</a:t>
            </a:r>
            <a:endParaRPr lang="en-US" sz="1150" dirty="0"/>
          </a:p>
        </p:txBody>
      </p:sp>
      <p:sp>
        <p:nvSpPr>
          <p:cNvPr id="7" name="Shape 5"/>
          <p:cNvSpPr/>
          <p:nvPr/>
        </p:nvSpPr>
        <p:spPr>
          <a:xfrm>
            <a:off x="914400" y="2231136"/>
            <a:ext cx="3127248" cy="1316736"/>
          </a:xfrm>
          <a:prstGeom prst="roundRect">
            <a:avLst>
              <a:gd name="adj" fmla="val 4167"/>
            </a:avLst>
          </a:prstGeom>
          <a:solidFill>
            <a:srgbClr val="DDF2E3"/>
          </a:solidFill>
          <a:ln w="12700">
            <a:solidFill>
              <a:srgbClr val="15803D"/>
            </a:solidFill>
            <a:prstDash val="solid"/>
          </a:ln>
        </p:spPr>
      </p:sp>
      <p:sp>
        <p:nvSpPr>
          <p:cNvPr id="8" name="Text 6"/>
          <p:cNvSpPr txBox="1"/>
          <p:nvPr/>
        </p:nvSpPr>
        <p:spPr>
          <a:xfrm>
            <a:off x="1133856" y="2395728"/>
            <a:ext cx="2743200" cy="274320"/>
          </a:xfrm>
          <a:prstGeom prst="rect">
            <a:avLst/>
          </a:prstGeom>
          <a:noFill/>
          <a:ln/>
        </p:spPr>
        <p:txBody>
          <a:bodyPr wrap="square" lIns="0" tIns="0" rIns="0" bIns="0" rtlCol="0" anchor="ctr"/>
          <a:lstStyle/>
          <a:p>
            <a:pPr indent="0" marL="0">
              <a:buNone/>
            </a:pPr>
            <a:r>
              <a:rPr lang="en-US" sz="1350" b="1" dirty="0">
                <a:solidFill>
                  <a:srgbClr val="15803D"/>
                </a:solidFill>
                <a:latin typeface="Segoe UI" pitchFamily="34" charset="0"/>
                <a:ea typeface="Segoe UI" pitchFamily="34" charset="-122"/>
                <a:cs typeface="Segoe UI" pitchFamily="34" charset="-120"/>
              </a:rPr>
              <a:t>Straight into the note</a:t>
            </a:r>
            <a:endParaRPr lang="en-US" sz="1350" dirty="0"/>
          </a:p>
        </p:txBody>
      </p:sp>
      <p:sp>
        <p:nvSpPr>
          <p:cNvPr id="9" name="Text 7"/>
          <p:cNvSpPr txBox="1"/>
          <p:nvPr/>
        </p:nvSpPr>
        <p:spPr>
          <a:xfrm>
            <a:off x="1133856" y="2688336"/>
            <a:ext cx="2743200" cy="768096"/>
          </a:xfrm>
          <a:prstGeom prst="rect">
            <a:avLst/>
          </a:prstGeom>
          <a:noFill/>
          <a:ln/>
        </p:spPr>
        <p:txBody>
          <a:bodyPr wrap="square" lIns="0" tIns="0" rIns="0" bIns="0" rtlCol="0" anchor="ctr"/>
          <a:lstStyle/>
          <a:p>
            <a:pPr indent="0" marL="0">
              <a:lnSpc>
                <a:spcPts val="1450"/>
              </a:lnSpc>
              <a:buNone/>
            </a:pPr>
            <a:r>
              <a:rPr lang="en-US" sz="1100" dirty="0">
                <a:solidFill>
                  <a:srgbClr val="1E6B3A"/>
                </a:solidFill>
                <a:latin typeface="Segoe UI" pitchFamily="34" charset="0"/>
                <a:ea typeface="Segoe UI" pitchFamily="34" charset="-122"/>
                <a:cs typeface="Segoe UI" pitchFamily="34" charset="-120"/>
              </a:rPr>
              <a:t>Confidently heard, inside its expected range, and not clinically alarming. It still shows as an AI value and still needs attestation.</a:t>
            </a:r>
            <a:endParaRPr lang="en-US" sz="1100" dirty="0"/>
          </a:p>
        </p:txBody>
      </p:sp>
      <p:sp>
        <p:nvSpPr>
          <p:cNvPr id="10" name="Shape 8"/>
          <p:cNvSpPr/>
          <p:nvPr/>
        </p:nvSpPr>
        <p:spPr>
          <a:xfrm>
            <a:off x="4187952" y="2231136"/>
            <a:ext cx="3127248" cy="1316736"/>
          </a:xfrm>
          <a:prstGeom prst="roundRect">
            <a:avLst>
              <a:gd name="adj" fmla="val 4167"/>
            </a:avLst>
          </a:prstGeom>
          <a:solidFill>
            <a:srgbClr val="FDF0DC"/>
          </a:solidFill>
          <a:ln w="12700">
            <a:solidFill>
              <a:srgbClr val="B45309"/>
            </a:solidFill>
            <a:prstDash val="solid"/>
          </a:ln>
        </p:spPr>
      </p:sp>
      <p:sp>
        <p:nvSpPr>
          <p:cNvPr id="11" name="Text 9"/>
          <p:cNvSpPr txBox="1"/>
          <p:nvPr/>
        </p:nvSpPr>
        <p:spPr>
          <a:xfrm>
            <a:off x="4407408" y="2395728"/>
            <a:ext cx="2743200" cy="274320"/>
          </a:xfrm>
          <a:prstGeom prst="rect">
            <a:avLst/>
          </a:prstGeom>
          <a:noFill/>
          <a:ln/>
        </p:spPr>
        <p:txBody>
          <a:bodyPr wrap="square" lIns="0" tIns="0" rIns="0" bIns="0" rtlCol="0" anchor="ctr"/>
          <a:lstStyle/>
          <a:p>
            <a:pPr indent="0" marL="0">
              <a:buNone/>
            </a:pPr>
            <a:r>
              <a:rPr lang="en-US" sz="1350" b="1" dirty="0">
                <a:solidFill>
                  <a:srgbClr val="B45309"/>
                </a:solidFill>
                <a:latin typeface="Segoe UI" pitchFamily="34" charset="0"/>
                <a:ea typeface="Segoe UI" pitchFamily="34" charset="-122"/>
                <a:cs typeface="Segoe UI" pitchFamily="34" charset="-120"/>
              </a:rPr>
              <a:t>Comes to you for review</a:t>
            </a:r>
            <a:endParaRPr lang="en-US" sz="1350" dirty="0"/>
          </a:p>
        </p:txBody>
      </p:sp>
      <p:sp>
        <p:nvSpPr>
          <p:cNvPr id="12" name="Text 10"/>
          <p:cNvSpPr txBox="1"/>
          <p:nvPr/>
        </p:nvSpPr>
        <p:spPr>
          <a:xfrm>
            <a:off x="4407408" y="2688336"/>
            <a:ext cx="2743200" cy="768096"/>
          </a:xfrm>
          <a:prstGeom prst="rect">
            <a:avLst/>
          </a:prstGeom>
          <a:noFill/>
          <a:ln/>
        </p:spPr>
        <p:txBody>
          <a:bodyPr wrap="square" lIns="0" tIns="0" rIns="0" bIns="0" rtlCol="0" anchor="ctr"/>
          <a:lstStyle/>
          <a:p>
            <a:pPr indent="0" marL="0">
              <a:lnSpc>
                <a:spcPts val="1450"/>
              </a:lnSpc>
              <a:buNone/>
            </a:pPr>
            <a:r>
              <a:rPr lang="en-US" sz="1100" dirty="0">
                <a:solidFill>
                  <a:srgbClr val="8A5A12"/>
                </a:solidFill>
                <a:latin typeface="Segoe UI" pitchFamily="34" charset="0"/>
                <a:ea typeface="Segoe UI" pitchFamily="34" charset="-122"/>
                <a:cs typeface="Segoe UI" pitchFamily="34" charset="-120"/>
              </a:rPr>
              <a:t>Anything the system was unsure of, anything outside its expected range, and anything clinically alarming — three separate reasons, not one.</a:t>
            </a:r>
            <a:endParaRPr lang="en-US" sz="1100" dirty="0"/>
          </a:p>
        </p:txBody>
      </p:sp>
      <p:sp>
        <p:nvSpPr>
          <p:cNvPr id="13" name="Shape 11"/>
          <p:cNvSpPr/>
          <p:nvPr/>
        </p:nvSpPr>
        <p:spPr>
          <a:xfrm>
            <a:off x="7744968" y="1664208"/>
            <a:ext cx="3879799" cy="2121408"/>
          </a:xfrm>
          <a:prstGeom prst="roundRect">
            <a:avLst>
              <a:gd name="adj" fmla="val 3017"/>
            </a:avLst>
          </a:prstGeom>
          <a:solidFill>
            <a:srgbClr val="10233A"/>
          </a:solidFill>
          <a:ln w="12700">
            <a:solidFill>
              <a:srgbClr val="10233A"/>
            </a:solidFill>
            <a:prstDash val="solid"/>
          </a:ln>
          <a:effectLst>
            <a:outerShdw sx="100000" sy="100000" kx="0" ky="0" algn="bl" rotWithShape="0" blurRad="127000" dist="25400" dir="5400000">
              <a:srgbClr val="10233A">
                <a:alpha val="8000"/>
              </a:srgbClr>
            </a:outerShdw>
          </a:effectLst>
        </p:spPr>
      </p:sp>
      <p:sp>
        <p:nvSpPr>
          <p:cNvPr id="14" name="Text 12"/>
          <p:cNvSpPr txBox="1"/>
          <p:nvPr/>
        </p:nvSpPr>
        <p:spPr>
          <a:xfrm>
            <a:off x="8037576" y="1865376"/>
            <a:ext cx="3291840" cy="256032"/>
          </a:xfrm>
          <a:prstGeom prst="rect">
            <a:avLst/>
          </a:prstGeom>
          <a:noFill/>
          <a:ln/>
        </p:spPr>
        <p:txBody>
          <a:bodyPr wrap="square" lIns="0" tIns="0" rIns="0" bIns="0" rtlCol="0" anchor="ctr"/>
          <a:lstStyle/>
          <a:p>
            <a:pPr indent="0" marL="0">
              <a:buNone/>
            </a:pPr>
            <a:r>
              <a:rPr lang="en-US" sz="1050" b="1" spc="180" kern="0" dirty="0">
                <a:solidFill>
                  <a:srgbClr val="5EC5B8"/>
                </a:solidFill>
                <a:latin typeface="Segoe UI" pitchFamily="34" charset="0"/>
                <a:ea typeface="Segoe UI" pitchFamily="34" charset="-122"/>
                <a:cs typeface="Segoe UI" pitchFamily="34" charset="-120"/>
              </a:rPr>
              <a:t>ON A TYPICAL TEMPLATE</a:t>
            </a:r>
            <a:endParaRPr lang="en-US" sz="1050" dirty="0"/>
          </a:p>
        </p:txBody>
      </p:sp>
      <p:sp>
        <p:nvSpPr>
          <p:cNvPr id="15" name="Text 13"/>
          <p:cNvSpPr txBox="1"/>
          <p:nvPr/>
        </p:nvSpPr>
        <p:spPr>
          <a:xfrm>
            <a:off x="8037576" y="2194560"/>
            <a:ext cx="3291840" cy="713232"/>
          </a:xfrm>
          <a:prstGeom prst="rect">
            <a:avLst/>
          </a:prstGeom>
          <a:noFill/>
          <a:ln/>
        </p:spPr>
        <p:txBody>
          <a:bodyPr wrap="square" lIns="0" tIns="0" rIns="0" bIns="0" rtlCol="0" anchor="ctr"/>
          <a:lstStyle/>
          <a:p>
            <a:pPr indent="0" marL="0">
              <a:buNone/>
            </a:pPr>
            <a:r>
              <a:rPr lang="en-US" sz="4400" b="1" dirty="0">
                <a:solidFill>
                  <a:srgbClr val="FFFFFF"/>
                </a:solidFill>
                <a:latin typeface="Segoe UI" pitchFamily="34" charset="0"/>
                <a:ea typeface="Segoe UI" pitchFamily="34" charset="-122"/>
                <a:cs typeface="Segoe UI" pitchFamily="34" charset="-120"/>
              </a:rPr>
              <a:t>4 of 19</a:t>
            </a:r>
            <a:endParaRPr lang="en-US" sz="4400" dirty="0"/>
          </a:p>
        </p:txBody>
      </p:sp>
      <p:sp>
        <p:nvSpPr>
          <p:cNvPr id="16" name="Text 14"/>
          <p:cNvSpPr txBox="1"/>
          <p:nvPr/>
        </p:nvSpPr>
        <p:spPr>
          <a:xfrm>
            <a:off x="8037576" y="2944368"/>
            <a:ext cx="3291840" cy="658368"/>
          </a:xfrm>
          <a:prstGeom prst="rect">
            <a:avLst/>
          </a:prstGeom>
          <a:noFill/>
          <a:ln/>
        </p:spPr>
        <p:txBody>
          <a:bodyPr wrap="square" lIns="0" tIns="0" rIns="0" bIns="0" rtlCol="0" anchor="ctr"/>
          <a:lstStyle/>
          <a:p>
            <a:pPr indent="0" marL="0">
              <a:lnSpc>
                <a:spcPts val="1500"/>
              </a:lnSpc>
              <a:buNone/>
            </a:pPr>
            <a:r>
              <a:rPr lang="en-US" sz="1150" dirty="0">
                <a:solidFill>
                  <a:srgbClr val="9DB3C8"/>
                </a:solidFill>
                <a:latin typeface="Segoe UI" pitchFamily="34" charset="0"/>
                <a:ea typeface="Segoe UI" pitchFamily="34" charset="-122"/>
                <a:cs typeface="Segoe UI" pitchFamily="34" charset="-120"/>
              </a:rPr>
              <a:t>fields reach the review step on a short encounter note — not nineteen cards for a four-sentence dictation.</a:t>
            </a:r>
            <a:endParaRPr lang="en-US" sz="1150" dirty="0"/>
          </a:p>
        </p:txBody>
      </p:sp>
      <p:sp>
        <p:nvSpPr>
          <p:cNvPr id="17" name="Text 15"/>
          <p:cNvSpPr txBox="1"/>
          <p:nvPr/>
        </p:nvSpPr>
        <p:spPr>
          <a:xfrm>
            <a:off x="566928" y="3931920"/>
            <a:ext cx="11057839" cy="256032"/>
          </a:xfrm>
          <a:prstGeom prst="rect">
            <a:avLst/>
          </a:prstGeom>
          <a:noFill/>
          <a:ln/>
        </p:spPr>
        <p:txBody>
          <a:bodyPr wrap="square" lIns="0" tIns="0" rIns="0" bIns="0" rtlCol="0" anchor="ctr"/>
          <a:lstStyle/>
          <a:p>
            <a:pPr indent="0" marL="0">
              <a:buNone/>
            </a:pPr>
            <a:r>
              <a:rPr lang="en-US" sz="1150" b="1" spc="180" kern="0" dirty="0">
                <a:solidFill>
                  <a:srgbClr val="33445B"/>
                </a:solidFill>
                <a:latin typeface="Segoe UI" pitchFamily="34" charset="0"/>
                <a:ea typeface="Segoe UI" pitchFamily="34" charset="-122"/>
                <a:cs typeface="Segoe UI" pitchFamily="34" charset="-120"/>
              </a:rPr>
              <a:t>THREE THINGS THAT KEEP THE LIST SHORT</a:t>
            </a:r>
            <a:endParaRPr lang="en-US" sz="1150" dirty="0"/>
          </a:p>
        </p:txBody>
      </p:sp>
      <p:sp>
        <p:nvSpPr>
          <p:cNvPr id="18" name="Shape 16"/>
          <p:cNvSpPr/>
          <p:nvPr/>
        </p:nvSpPr>
        <p:spPr>
          <a:xfrm>
            <a:off x="566928" y="4242816"/>
            <a:ext cx="3503066" cy="1901952"/>
          </a:xfrm>
          <a:prstGeom prst="roundRect">
            <a:avLst>
              <a:gd name="adj" fmla="val 3365"/>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19" name="Shape 17"/>
          <p:cNvSpPr/>
          <p:nvPr/>
        </p:nvSpPr>
        <p:spPr>
          <a:xfrm>
            <a:off x="841248" y="4443984"/>
            <a:ext cx="310896" cy="310896"/>
          </a:xfrm>
          <a:prstGeom prst="ellipse">
            <a:avLst/>
          </a:prstGeom>
          <a:solidFill>
            <a:srgbClr val="0F766E"/>
          </a:solidFill>
          <a:ln w="12700">
            <a:solidFill>
              <a:srgbClr val="0F766E"/>
            </a:solidFill>
            <a:prstDash val="solid"/>
          </a:ln>
        </p:spPr>
      </p:sp>
      <p:sp>
        <p:nvSpPr>
          <p:cNvPr id="20" name="Text 18"/>
          <p:cNvSpPr txBox="1"/>
          <p:nvPr/>
        </p:nvSpPr>
        <p:spPr>
          <a:xfrm>
            <a:off x="841248" y="44439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21" name="Text 19"/>
          <p:cNvSpPr txBox="1"/>
          <p:nvPr/>
        </p:nvSpPr>
        <p:spPr>
          <a:xfrm>
            <a:off x="841248" y="4809744"/>
            <a:ext cx="2954426" cy="530352"/>
          </a:xfrm>
          <a:prstGeom prst="rect">
            <a:avLst/>
          </a:prstGeom>
          <a:noFill/>
          <a:ln/>
        </p:spPr>
        <p:txBody>
          <a:bodyPr wrap="square" lIns="0" tIns="0" rIns="0" bIns="0" rtlCol="0" anchor="ctr"/>
          <a:lstStyle/>
          <a:p>
            <a:pPr indent="0" marL="0">
              <a:lnSpc>
                <a:spcPts val="1800"/>
              </a:lnSpc>
              <a:buNone/>
            </a:pPr>
            <a:r>
              <a:rPr lang="en-US" sz="1350" b="1" dirty="0">
                <a:solidFill>
                  <a:srgbClr val="10233A"/>
                </a:solidFill>
                <a:latin typeface="Segoe UI" pitchFamily="34" charset="0"/>
                <a:ea typeface="Segoe UI" pitchFamily="34" charset="-122"/>
                <a:cs typeface="Segoe UI" pitchFamily="34" charset="-120"/>
              </a:rPr>
              <a:t>“Not mentioned” is not a question</a:t>
            </a:r>
            <a:endParaRPr lang="en-US" sz="1350" dirty="0"/>
          </a:p>
        </p:txBody>
      </p:sp>
      <p:sp>
        <p:nvSpPr>
          <p:cNvPr id="22" name="Text 20"/>
          <p:cNvSpPr txBox="1"/>
          <p:nvPr/>
        </p:nvSpPr>
        <p:spPr>
          <a:xfrm>
            <a:off x="841248" y="5358384"/>
            <a:ext cx="2954426" cy="731520"/>
          </a:xfrm>
          <a:prstGeom prst="rect">
            <a:avLst/>
          </a:prstGeom>
          <a:noFill/>
          <a:ln/>
        </p:spPr>
        <p:txBody>
          <a:bodyPr wrap="square" lIns="0" tIns="0" rIns="0" bIns="0" rtlCol="0" anchor="ctr"/>
          <a:lstStyle/>
          <a:p>
            <a:pPr indent="0" marL="0">
              <a:lnSpc>
                <a:spcPts val="1450"/>
              </a:lnSpc>
              <a:buNone/>
            </a:pPr>
            <a:r>
              <a:rPr lang="en-US" sz="1100" dirty="0">
                <a:solidFill>
                  <a:srgbClr val="64748B"/>
                </a:solidFill>
                <a:latin typeface="Segoe UI" pitchFamily="34" charset="0"/>
                <a:ea typeface="Segoe UI" pitchFamily="34" charset="-122"/>
                <a:cs typeface="Segoe UI" pitchFamily="34" charset="-120"/>
              </a:rPr>
              <a:t>If the dictation never touched a field, that is silence, not a doubtful answer. Those fields never reach you — they read not documented in the note.</a:t>
            </a:r>
            <a:endParaRPr lang="en-US" sz="1100" dirty="0"/>
          </a:p>
        </p:txBody>
      </p:sp>
      <p:sp>
        <p:nvSpPr>
          <p:cNvPr id="23" name="Shape 21"/>
          <p:cNvSpPr/>
          <p:nvPr/>
        </p:nvSpPr>
        <p:spPr>
          <a:xfrm>
            <a:off x="4344314" y="4242816"/>
            <a:ext cx="3503066" cy="1901952"/>
          </a:xfrm>
          <a:prstGeom prst="roundRect">
            <a:avLst>
              <a:gd name="adj" fmla="val 3365"/>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24" name="Shape 22"/>
          <p:cNvSpPr/>
          <p:nvPr/>
        </p:nvSpPr>
        <p:spPr>
          <a:xfrm>
            <a:off x="4618634" y="4443984"/>
            <a:ext cx="310896" cy="310896"/>
          </a:xfrm>
          <a:prstGeom prst="ellipse">
            <a:avLst/>
          </a:prstGeom>
          <a:solidFill>
            <a:srgbClr val="0F766E"/>
          </a:solidFill>
          <a:ln w="12700">
            <a:solidFill>
              <a:srgbClr val="0F766E"/>
            </a:solidFill>
            <a:prstDash val="solid"/>
          </a:ln>
        </p:spPr>
      </p:sp>
      <p:sp>
        <p:nvSpPr>
          <p:cNvPr id="25" name="Text 23"/>
          <p:cNvSpPr txBox="1"/>
          <p:nvPr/>
        </p:nvSpPr>
        <p:spPr>
          <a:xfrm>
            <a:off x="4618634" y="44439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26" name="Text 24"/>
          <p:cNvSpPr txBox="1"/>
          <p:nvPr/>
        </p:nvSpPr>
        <p:spPr>
          <a:xfrm>
            <a:off x="4618634" y="4809744"/>
            <a:ext cx="2954426" cy="530352"/>
          </a:xfrm>
          <a:prstGeom prst="rect">
            <a:avLst/>
          </a:prstGeom>
          <a:noFill/>
          <a:ln/>
        </p:spPr>
        <p:txBody>
          <a:bodyPr wrap="square" lIns="0" tIns="0" rIns="0" bIns="0" rtlCol="0" anchor="ctr"/>
          <a:lstStyle/>
          <a:p>
            <a:pPr indent="0" marL="0">
              <a:lnSpc>
                <a:spcPts val="1800"/>
              </a:lnSpc>
              <a:buNone/>
            </a:pPr>
            <a:r>
              <a:rPr lang="en-US" sz="1350" b="1" dirty="0">
                <a:solidFill>
                  <a:srgbClr val="10233A"/>
                </a:solidFill>
                <a:latin typeface="Segoe UI" pitchFamily="34" charset="0"/>
                <a:ea typeface="Segoe UI" pitchFamily="34" charset="-122"/>
                <a:cs typeface="Segoe UI" pitchFamily="34" charset="-120"/>
              </a:rPr>
              <a:t>One screen, not one popup per field</a:t>
            </a:r>
            <a:endParaRPr lang="en-US" sz="1350" dirty="0"/>
          </a:p>
        </p:txBody>
      </p:sp>
      <p:sp>
        <p:nvSpPr>
          <p:cNvPr id="27" name="Text 25"/>
          <p:cNvSpPr txBox="1"/>
          <p:nvPr/>
        </p:nvSpPr>
        <p:spPr>
          <a:xfrm>
            <a:off x="4618634" y="5358384"/>
            <a:ext cx="2954426" cy="731520"/>
          </a:xfrm>
          <a:prstGeom prst="rect">
            <a:avLst/>
          </a:prstGeom>
          <a:noFill/>
          <a:ln/>
        </p:spPr>
        <p:txBody>
          <a:bodyPr wrap="square" lIns="0" tIns="0" rIns="0" bIns="0" rtlCol="0" anchor="ctr"/>
          <a:lstStyle/>
          <a:p>
            <a:pPr indent="0" marL="0">
              <a:lnSpc>
                <a:spcPts val="1450"/>
              </a:lnSpc>
              <a:buNone/>
            </a:pPr>
            <a:r>
              <a:rPr lang="en-US" sz="1100" dirty="0">
                <a:solidFill>
                  <a:srgbClr val="64748B"/>
                </a:solidFill>
                <a:latin typeface="Segoe UI" pitchFamily="34" charset="0"/>
                <a:ea typeface="Segoe UI" pitchFamily="34" charset="-122"/>
                <a:cs typeface="Segoe UI" pitchFamily="34" charset="-120"/>
              </a:rPr>
              <a:t>Every flagged field on one screen with a running count — the whole job visible from the first second, worked in any order you like.</a:t>
            </a:r>
            <a:endParaRPr lang="en-US" sz="1100" dirty="0"/>
          </a:p>
        </p:txBody>
      </p:sp>
      <p:sp>
        <p:nvSpPr>
          <p:cNvPr id="28" name="Shape 26"/>
          <p:cNvSpPr/>
          <p:nvPr/>
        </p:nvSpPr>
        <p:spPr>
          <a:xfrm>
            <a:off x="8121701" y="4242816"/>
            <a:ext cx="3503066" cy="1901952"/>
          </a:xfrm>
          <a:prstGeom prst="roundRect">
            <a:avLst>
              <a:gd name="adj" fmla="val 3365"/>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29" name="Shape 27"/>
          <p:cNvSpPr/>
          <p:nvPr/>
        </p:nvSpPr>
        <p:spPr>
          <a:xfrm>
            <a:off x="8396021" y="4443984"/>
            <a:ext cx="310896" cy="310896"/>
          </a:xfrm>
          <a:prstGeom prst="ellipse">
            <a:avLst/>
          </a:prstGeom>
          <a:solidFill>
            <a:srgbClr val="0F766E"/>
          </a:solidFill>
          <a:ln w="12700">
            <a:solidFill>
              <a:srgbClr val="0F766E"/>
            </a:solidFill>
            <a:prstDash val="solid"/>
          </a:ln>
        </p:spPr>
      </p:sp>
      <p:sp>
        <p:nvSpPr>
          <p:cNvPr id="30" name="Text 28"/>
          <p:cNvSpPr txBox="1"/>
          <p:nvPr/>
        </p:nvSpPr>
        <p:spPr>
          <a:xfrm>
            <a:off x="8396021" y="44439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31" name="Text 29"/>
          <p:cNvSpPr txBox="1"/>
          <p:nvPr/>
        </p:nvSpPr>
        <p:spPr>
          <a:xfrm>
            <a:off x="8396021" y="4809744"/>
            <a:ext cx="2954426" cy="530352"/>
          </a:xfrm>
          <a:prstGeom prst="rect">
            <a:avLst/>
          </a:prstGeom>
          <a:noFill/>
          <a:ln/>
        </p:spPr>
        <p:txBody>
          <a:bodyPr wrap="square" lIns="0" tIns="0" rIns="0" bIns="0" rtlCol="0" anchor="ctr"/>
          <a:lstStyle/>
          <a:p>
            <a:pPr indent="0" marL="0">
              <a:lnSpc>
                <a:spcPts val="1800"/>
              </a:lnSpc>
              <a:buNone/>
            </a:pPr>
            <a:r>
              <a:rPr lang="en-US" sz="1350" b="1" dirty="0">
                <a:solidFill>
                  <a:srgbClr val="10233A"/>
                </a:solidFill>
                <a:latin typeface="Segoe UI" pitchFamily="34" charset="0"/>
                <a:ea typeface="Segoe UI" pitchFamily="34" charset="-122"/>
                <a:cs typeface="Segoe UI" pitchFamily="34" charset="-120"/>
              </a:rPr>
              <a:t>Nothing is committed until you confirm</a:t>
            </a:r>
            <a:endParaRPr lang="en-US" sz="1350" dirty="0"/>
          </a:p>
        </p:txBody>
      </p:sp>
      <p:sp>
        <p:nvSpPr>
          <p:cNvPr id="32" name="Text 30"/>
          <p:cNvSpPr txBox="1"/>
          <p:nvPr/>
        </p:nvSpPr>
        <p:spPr>
          <a:xfrm>
            <a:off x="8396021" y="5358384"/>
            <a:ext cx="2954426" cy="731520"/>
          </a:xfrm>
          <a:prstGeom prst="rect">
            <a:avLst/>
          </a:prstGeom>
          <a:noFill/>
          <a:ln/>
        </p:spPr>
        <p:txBody>
          <a:bodyPr wrap="square" lIns="0" tIns="0" rIns="0" bIns="0" rtlCol="0" anchor="ctr"/>
          <a:lstStyle/>
          <a:p>
            <a:pPr indent="0" marL="0">
              <a:lnSpc>
                <a:spcPts val="1450"/>
              </a:lnSpc>
              <a:buNone/>
            </a:pPr>
            <a:r>
              <a:rPr lang="en-US" sz="1100" dirty="0">
                <a:solidFill>
                  <a:srgbClr val="64748B"/>
                </a:solidFill>
                <a:latin typeface="Segoe UI" pitchFamily="34" charset="0"/>
                <a:ea typeface="Segoe UI" pitchFamily="34" charset="-122"/>
                <a:cs typeface="Segoe UI" pitchFamily="34" charset="-120"/>
              </a:rPr>
              <a:t>A summary shows everything you accepted, changed and left out before a single value moves — and any line can still be changed.</a:t>
            </a:r>
            <a:endParaRPr lang="en-US" sz="1100" dirty="0"/>
          </a:p>
        </p:txBody>
      </p:sp>
      <p:sp>
        <p:nvSpPr>
          <p:cNvPr id="33" name="Text 31"/>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34" name="Text 32"/>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CHANGE 3  ·  THE NOTE ITSELF</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The note shows what the AI did</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One look down the form answers the question providers ask most: what exactly did it change?</a:t>
            </a:r>
            <a:endParaRPr lang="en-US" sz="1350" dirty="0"/>
          </a:p>
        </p:txBody>
      </p:sp>
      <p:sp>
        <p:nvSpPr>
          <p:cNvPr id="5" name="Text 3"/>
          <p:cNvSpPr txBox="1"/>
          <p:nvPr/>
        </p:nvSpPr>
        <p:spPr>
          <a:xfrm>
            <a:off x="566928" y="1645920"/>
            <a:ext cx="6858000" cy="256032"/>
          </a:xfrm>
          <a:prstGeom prst="rect">
            <a:avLst/>
          </a:prstGeom>
          <a:noFill/>
          <a:ln/>
        </p:spPr>
        <p:txBody>
          <a:bodyPr wrap="square" lIns="0" tIns="0" rIns="0" bIns="0" rtlCol="0" anchor="ctr"/>
          <a:lstStyle/>
          <a:p>
            <a:pPr indent="0" marL="0">
              <a:buNone/>
            </a:pPr>
            <a:r>
              <a:rPr lang="en-US" sz="1150" b="1" spc="180" kern="0" dirty="0">
                <a:solidFill>
                  <a:srgbClr val="33445B"/>
                </a:solidFill>
                <a:latin typeface="Segoe UI" pitchFamily="34" charset="0"/>
                <a:ea typeface="Segoe UI" pitchFamily="34" charset="-122"/>
                <a:cs typeface="Segoe UI" pitchFamily="34" charset="-120"/>
              </a:rPr>
              <a:t>EVERY ROW CARRIES ITS OUTCOME</a:t>
            </a:r>
            <a:endParaRPr lang="en-US" sz="1150" dirty="0"/>
          </a:p>
        </p:txBody>
      </p:sp>
      <p:sp>
        <p:nvSpPr>
          <p:cNvPr id="6" name="Shape 4"/>
          <p:cNvSpPr/>
          <p:nvPr/>
        </p:nvSpPr>
        <p:spPr>
          <a:xfrm>
            <a:off x="566928" y="1993392"/>
            <a:ext cx="6858000" cy="713232"/>
          </a:xfrm>
          <a:prstGeom prst="roundRect">
            <a:avLst>
              <a:gd name="adj" fmla="val 7692"/>
            </a:avLst>
          </a:prstGeom>
          <a:solidFill>
            <a:srgbClr val="DDF2E3"/>
          </a:solidFill>
          <a:ln w="12700">
            <a:solidFill>
              <a:srgbClr val="15803D"/>
            </a:solidFill>
            <a:prstDash val="solid"/>
          </a:ln>
        </p:spPr>
      </p:sp>
      <p:sp>
        <p:nvSpPr>
          <p:cNvPr id="7" name="Shape 5"/>
          <p:cNvSpPr/>
          <p:nvPr/>
        </p:nvSpPr>
        <p:spPr>
          <a:xfrm>
            <a:off x="822960" y="2212848"/>
            <a:ext cx="274320" cy="274320"/>
          </a:xfrm>
          <a:prstGeom prst="ellipse">
            <a:avLst/>
          </a:prstGeom>
          <a:solidFill>
            <a:srgbClr val="15803D"/>
          </a:solidFill>
          <a:ln w="12700">
            <a:solidFill>
              <a:srgbClr val="15803D"/>
            </a:solidFill>
            <a:prstDash val="solid"/>
          </a:ln>
        </p:spPr>
      </p:sp>
      <p:sp>
        <p:nvSpPr>
          <p:cNvPr id="8" name="Text 6"/>
          <p:cNvSpPr txBox="1"/>
          <p:nvPr/>
        </p:nvSpPr>
        <p:spPr>
          <a:xfrm>
            <a:off x="1225296" y="2084832"/>
            <a:ext cx="2103120" cy="274320"/>
          </a:xfrm>
          <a:prstGeom prst="rect">
            <a:avLst/>
          </a:prstGeom>
          <a:noFill/>
          <a:ln/>
        </p:spPr>
        <p:txBody>
          <a:bodyPr wrap="square" lIns="0" tIns="0" rIns="0" bIns="0" rtlCol="0" anchor="ctr"/>
          <a:lstStyle/>
          <a:p>
            <a:pPr indent="0" marL="0">
              <a:buNone/>
            </a:pPr>
            <a:r>
              <a:rPr lang="en-US" sz="1400" b="1" dirty="0">
                <a:solidFill>
                  <a:srgbClr val="15803D"/>
                </a:solidFill>
                <a:latin typeface="Segoe UI" pitchFamily="34" charset="0"/>
                <a:ea typeface="Segoe UI" pitchFamily="34" charset="-122"/>
                <a:cs typeface="Segoe UI" pitchFamily="34" charset="-120"/>
              </a:rPr>
              <a:t>Accepted</a:t>
            </a:r>
            <a:endParaRPr lang="en-US" sz="1400" dirty="0"/>
          </a:p>
        </p:txBody>
      </p:sp>
      <p:sp>
        <p:nvSpPr>
          <p:cNvPr id="9" name="Text 7"/>
          <p:cNvSpPr txBox="1"/>
          <p:nvPr/>
        </p:nvSpPr>
        <p:spPr>
          <a:xfrm>
            <a:off x="3264408" y="2103120"/>
            <a:ext cx="3977640" cy="512064"/>
          </a:xfrm>
          <a:prstGeom prst="rect">
            <a:avLst/>
          </a:prstGeom>
          <a:noFill/>
          <a:ln/>
        </p:spPr>
        <p:txBody>
          <a:bodyPr wrap="square" lIns="0" tIns="0" rIns="0" bIns="0" rtlCol="0" anchor="ctr"/>
          <a:lstStyle/>
          <a:p>
            <a:pPr indent="0" marL="0">
              <a:lnSpc>
                <a:spcPts val="1500"/>
              </a:lnSpc>
              <a:buNone/>
            </a:pPr>
            <a:r>
              <a:rPr lang="en-US" sz="1150" dirty="0">
                <a:solidFill>
                  <a:srgbClr val="15803D"/>
                </a:solidFill>
                <a:latin typeface="Segoe UI" pitchFamily="34" charset="0"/>
                <a:ea typeface="Segoe UI" pitchFamily="34" charset="-122"/>
                <a:cs typeface="Segoe UI" pitchFamily="34" charset="-120"/>
              </a:rPr>
              <a:t>The AI value, taken as proposed.</a:t>
            </a:r>
            <a:endParaRPr lang="en-US" sz="1150" dirty="0"/>
          </a:p>
        </p:txBody>
      </p:sp>
      <p:sp>
        <p:nvSpPr>
          <p:cNvPr id="10" name="Shape 8"/>
          <p:cNvSpPr/>
          <p:nvPr/>
        </p:nvSpPr>
        <p:spPr>
          <a:xfrm>
            <a:off x="566928" y="2834640"/>
            <a:ext cx="6858000" cy="713232"/>
          </a:xfrm>
          <a:prstGeom prst="roundRect">
            <a:avLst>
              <a:gd name="adj" fmla="val 7692"/>
            </a:avLst>
          </a:prstGeom>
          <a:solidFill>
            <a:srgbClr val="FDF0DC"/>
          </a:solidFill>
          <a:ln w="12700">
            <a:solidFill>
              <a:srgbClr val="B45309"/>
            </a:solidFill>
            <a:prstDash val="solid"/>
          </a:ln>
        </p:spPr>
      </p:sp>
      <p:sp>
        <p:nvSpPr>
          <p:cNvPr id="11" name="Shape 9"/>
          <p:cNvSpPr/>
          <p:nvPr/>
        </p:nvSpPr>
        <p:spPr>
          <a:xfrm>
            <a:off x="822960" y="3054096"/>
            <a:ext cx="274320" cy="274320"/>
          </a:xfrm>
          <a:prstGeom prst="ellipse">
            <a:avLst/>
          </a:prstGeom>
          <a:solidFill>
            <a:srgbClr val="B45309"/>
          </a:solidFill>
          <a:ln w="12700">
            <a:solidFill>
              <a:srgbClr val="B45309"/>
            </a:solidFill>
            <a:prstDash val="solid"/>
          </a:ln>
        </p:spPr>
      </p:sp>
      <p:sp>
        <p:nvSpPr>
          <p:cNvPr id="12" name="Text 10"/>
          <p:cNvSpPr txBox="1"/>
          <p:nvPr/>
        </p:nvSpPr>
        <p:spPr>
          <a:xfrm>
            <a:off x="1225296" y="2926080"/>
            <a:ext cx="2103120" cy="274320"/>
          </a:xfrm>
          <a:prstGeom prst="rect">
            <a:avLst/>
          </a:prstGeom>
          <a:noFill/>
          <a:ln/>
        </p:spPr>
        <p:txBody>
          <a:bodyPr wrap="square" lIns="0" tIns="0" rIns="0" bIns="0" rtlCol="0" anchor="ctr"/>
          <a:lstStyle/>
          <a:p>
            <a:pPr indent="0" marL="0">
              <a:buNone/>
            </a:pPr>
            <a:r>
              <a:rPr lang="en-US" sz="1400" b="1" dirty="0">
                <a:solidFill>
                  <a:srgbClr val="B45309"/>
                </a:solidFill>
                <a:latin typeface="Segoe UI" pitchFamily="34" charset="0"/>
                <a:ea typeface="Segoe UI" pitchFamily="34" charset="-122"/>
                <a:cs typeface="Segoe UI" pitchFamily="34" charset="-120"/>
              </a:rPr>
              <a:t>Edited</a:t>
            </a:r>
            <a:endParaRPr lang="en-US" sz="1400" dirty="0"/>
          </a:p>
        </p:txBody>
      </p:sp>
      <p:sp>
        <p:nvSpPr>
          <p:cNvPr id="13" name="Text 11"/>
          <p:cNvSpPr txBox="1"/>
          <p:nvPr/>
        </p:nvSpPr>
        <p:spPr>
          <a:xfrm>
            <a:off x="3264408" y="2944368"/>
            <a:ext cx="3977640" cy="512064"/>
          </a:xfrm>
          <a:prstGeom prst="rect">
            <a:avLst/>
          </a:prstGeom>
          <a:noFill/>
          <a:ln/>
        </p:spPr>
        <p:txBody>
          <a:bodyPr wrap="square" lIns="0" tIns="0" rIns="0" bIns="0" rtlCol="0" anchor="ctr"/>
          <a:lstStyle/>
          <a:p>
            <a:pPr indent="0" marL="0">
              <a:lnSpc>
                <a:spcPts val="1500"/>
              </a:lnSpc>
              <a:buNone/>
            </a:pPr>
            <a:r>
              <a:rPr lang="en-US" sz="1150" dirty="0">
                <a:solidFill>
                  <a:srgbClr val="B45309"/>
                </a:solidFill>
                <a:latin typeface="Segoe UI" pitchFamily="34" charset="0"/>
                <a:ea typeface="Segoe UI" pitchFamily="34" charset="-122"/>
                <a:cs typeface="Segoe UI" pitchFamily="34" charset="-120"/>
              </a:rPr>
              <a:t>The AI proposed it; you changed it.</a:t>
            </a:r>
            <a:endParaRPr lang="en-US" sz="1150" dirty="0"/>
          </a:p>
        </p:txBody>
      </p:sp>
      <p:sp>
        <p:nvSpPr>
          <p:cNvPr id="14" name="Shape 12"/>
          <p:cNvSpPr/>
          <p:nvPr/>
        </p:nvSpPr>
        <p:spPr>
          <a:xfrm>
            <a:off x="566928" y="3675888"/>
            <a:ext cx="6858000" cy="713232"/>
          </a:xfrm>
          <a:prstGeom prst="roundRect">
            <a:avLst>
              <a:gd name="adj" fmla="val 7692"/>
            </a:avLst>
          </a:prstGeom>
          <a:solidFill>
            <a:srgbClr val="FCE7E7"/>
          </a:solidFill>
          <a:ln w="12700">
            <a:solidFill>
              <a:srgbClr val="B91C1C"/>
            </a:solidFill>
            <a:prstDash val="solid"/>
          </a:ln>
        </p:spPr>
      </p:sp>
      <p:sp>
        <p:nvSpPr>
          <p:cNvPr id="15" name="Shape 13"/>
          <p:cNvSpPr/>
          <p:nvPr/>
        </p:nvSpPr>
        <p:spPr>
          <a:xfrm>
            <a:off x="822960" y="3895344"/>
            <a:ext cx="274320" cy="274320"/>
          </a:xfrm>
          <a:prstGeom prst="ellipse">
            <a:avLst/>
          </a:prstGeom>
          <a:solidFill>
            <a:srgbClr val="B91C1C"/>
          </a:solidFill>
          <a:ln w="12700">
            <a:solidFill>
              <a:srgbClr val="B91C1C"/>
            </a:solidFill>
            <a:prstDash val="solid"/>
          </a:ln>
        </p:spPr>
      </p:sp>
      <p:sp>
        <p:nvSpPr>
          <p:cNvPr id="16" name="Text 14"/>
          <p:cNvSpPr txBox="1"/>
          <p:nvPr/>
        </p:nvSpPr>
        <p:spPr>
          <a:xfrm>
            <a:off x="1225296" y="3767328"/>
            <a:ext cx="2103120" cy="274320"/>
          </a:xfrm>
          <a:prstGeom prst="rect">
            <a:avLst/>
          </a:prstGeom>
          <a:noFill/>
          <a:ln/>
        </p:spPr>
        <p:txBody>
          <a:bodyPr wrap="square" lIns="0" tIns="0" rIns="0" bIns="0" rtlCol="0" anchor="ctr"/>
          <a:lstStyle/>
          <a:p>
            <a:pPr indent="0" marL="0">
              <a:buNone/>
            </a:pPr>
            <a:r>
              <a:rPr lang="en-US" sz="1400" b="1" dirty="0">
                <a:solidFill>
                  <a:srgbClr val="B91C1C"/>
                </a:solidFill>
                <a:latin typeface="Segoe UI" pitchFamily="34" charset="0"/>
                <a:ea typeface="Segoe UI" pitchFamily="34" charset="-122"/>
                <a:cs typeface="Segoe UI" pitchFamily="34" charset="-120"/>
              </a:rPr>
              <a:t>Discarded</a:t>
            </a:r>
            <a:endParaRPr lang="en-US" sz="1400" dirty="0"/>
          </a:p>
        </p:txBody>
      </p:sp>
      <p:sp>
        <p:nvSpPr>
          <p:cNvPr id="17" name="Text 15"/>
          <p:cNvSpPr txBox="1"/>
          <p:nvPr/>
        </p:nvSpPr>
        <p:spPr>
          <a:xfrm>
            <a:off x="3264408" y="3785616"/>
            <a:ext cx="3977640" cy="512064"/>
          </a:xfrm>
          <a:prstGeom prst="rect">
            <a:avLst/>
          </a:prstGeom>
          <a:noFill/>
          <a:ln/>
        </p:spPr>
        <p:txBody>
          <a:bodyPr wrap="square" lIns="0" tIns="0" rIns="0" bIns="0" rtlCol="0" anchor="ctr"/>
          <a:lstStyle/>
          <a:p>
            <a:pPr indent="0" marL="0">
              <a:lnSpc>
                <a:spcPts val="1500"/>
              </a:lnSpc>
              <a:buNone/>
            </a:pPr>
            <a:r>
              <a:rPr lang="en-US" sz="1150" dirty="0">
                <a:solidFill>
                  <a:srgbClr val="B91C1C"/>
                </a:solidFill>
                <a:latin typeface="Segoe UI" pitchFamily="34" charset="0"/>
                <a:ea typeface="Segoe UI" pitchFamily="34" charset="-122"/>
                <a:cs typeface="Segoe UI" pitchFamily="34" charset="-120"/>
              </a:rPr>
              <a:t>Reads not documented, with the reason kept.</a:t>
            </a:r>
            <a:endParaRPr lang="en-US" sz="1150" dirty="0"/>
          </a:p>
        </p:txBody>
      </p:sp>
      <p:sp>
        <p:nvSpPr>
          <p:cNvPr id="18" name="Shape 16"/>
          <p:cNvSpPr/>
          <p:nvPr/>
        </p:nvSpPr>
        <p:spPr>
          <a:xfrm>
            <a:off x="566928" y="4517136"/>
            <a:ext cx="6858000" cy="713232"/>
          </a:xfrm>
          <a:prstGeom prst="roundRect">
            <a:avLst>
              <a:gd name="adj" fmla="val 7692"/>
            </a:avLst>
          </a:prstGeom>
          <a:solidFill>
            <a:srgbClr val="F1F5F9"/>
          </a:solidFill>
          <a:ln w="12700">
            <a:solidFill>
              <a:srgbClr val="55667D"/>
            </a:solidFill>
            <a:prstDash val="solid"/>
          </a:ln>
        </p:spPr>
      </p:sp>
      <p:sp>
        <p:nvSpPr>
          <p:cNvPr id="19" name="Shape 17"/>
          <p:cNvSpPr/>
          <p:nvPr/>
        </p:nvSpPr>
        <p:spPr>
          <a:xfrm>
            <a:off x="822960" y="4736592"/>
            <a:ext cx="274320" cy="274320"/>
          </a:xfrm>
          <a:prstGeom prst="ellipse">
            <a:avLst/>
          </a:prstGeom>
          <a:solidFill>
            <a:srgbClr val="55667D"/>
          </a:solidFill>
          <a:ln w="12700">
            <a:solidFill>
              <a:srgbClr val="55667D"/>
            </a:solidFill>
            <a:prstDash val="solid"/>
          </a:ln>
        </p:spPr>
      </p:sp>
      <p:sp>
        <p:nvSpPr>
          <p:cNvPr id="20" name="Text 18"/>
          <p:cNvSpPr txBox="1"/>
          <p:nvPr/>
        </p:nvSpPr>
        <p:spPr>
          <a:xfrm>
            <a:off x="1225296" y="4608576"/>
            <a:ext cx="2103120" cy="274320"/>
          </a:xfrm>
          <a:prstGeom prst="rect">
            <a:avLst/>
          </a:prstGeom>
          <a:noFill/>
          <a:ln/>
        </p:spPr>
        <p:txBody>
          <a:bodyPr wrap="square" lIns="0" tIns="0" rIns="0" bIns="0" rtlCol="0" anchor="ctr"/>
          <a:lstStyle/>
          <a:p>
            <a:pPr indent="0" marL="0">
              <a:buNone/>
            </a:pPr>
            <a:r>
              <a:rPr lang="en-US" sz="1400" b="1" dirty="0">
                <a:solidFill>
                  <a:srgbClr val="55667D"/>
                </a:solidFill>
                <a:latin typeface="Segoe UI" pitchFamily="34" charset="0"/>
                <a:ea typeface="Segoe UI" pitchFamily="34" charset="-122"/>
                <a:cs typeface="Segoe UI" pitchFamily="34" charset="-120"/>
              </a:rPr>
              <a:t>Undecided</a:t>
            </a:r>
            <a:endParaRPr lang="en-US" sz="1400" dirty="0"/>
          </a:p>
        </p:txBody>
      </p:sp>
      <p:sp>
        <p:nvSpPr>
          <p:cNvPr id="21" name="Text 19"/>
          <p:cNvSpPr txBox="1"/>
          <p:nvPr/>
        </p:nvSpPr>
        <p:spPr>
          <a:xfrm>
            <a:off x="3264408" y="4626864"/>
            <a:ext cx="3977640" cy="512064"/>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Still open. Marked on its tab, and it blocks signing.</a:t>
            </a:r>
            <a:endParaRPr lang="en-US" sz="1150" dirty="0"/>
          </a:p>
        </p:txBody>
      </p:sp>
      <p:sp>
        <p:nvSpPr>
          <p:cNvPr id="22" name="Shape 20"/>
          <p:cNvSpPr/>
          <p:nvPr/>
        </p:nvSpPr>
        <p:spPr>
          <a:xfrm>
            <a:off x="566928" y="5358384"/>
            <a:ext cx="6858000" cy="713232"/>
          </a:xfrm>
          <a:prstGeom prst="roundRect">
            <a:avLst>
              <a:gd name="adj" fmla="val 7692"/>
            </a:avLst>
          </a:prstGeom>
          <a:solidFill>
            <a:srgbClr val="D5E3EC"/>
          </a:solidFill>
          <a:ln w="12700">
            <a:solidFill>
              <a:srgbClr val="33445B"/>
            </a:solidFill>
            <a:prstDash val="solid"/>
          </a:ln>
        </p:spPr>
      </p:sp>
      <p:sp>
        <p:nvSpPr>
          <p:cNvPr id="23" name="Shape 21"/>
          <p:cNvSpPr/>
          <p:nvPr/>
        </p:nvSpPr>
        <p:spPr>
          <a:xfrm>
            <a:off x="822960" y="5577840"/>
            <a:ext cx="274320" cy="274320"/>
          </a:xfrm>
          <a:prstGeom prst="ellipse">
            <a:avLst/>
          </a:prstGeom>
          <a:solidFill>
            <a:srgbClr val="33445B"/>
          </a:solidFill>
          <a:ln w="12700">
            <a:solidFill>
              <a:srgbClr val="33445B"/>
            </a:solidFill>
            <a:prstDash val="solid"/>
          </a:ln>
        </p:spPr>
      </p:sp>
      <p:sp>
        <p:nvSpPr>
          <p:cNvPr id="24" name="Text 22"/>
          <p:cNvSpPr txBox="1"/>
          <p:nvPr/>
        </p:nvSpPr>
        <p:spPr>
          <a:xfrm>
            <a:off x="1225296" y="5449824"/>
            <a:ext cx="2103120" cy="274320"/>
          </a:xfrm>
          <a:prstGeom prst="rect">
            <a:avLst/>
          </a:prstGeom>
          <a:noFill/>
          <a:ln/>
        </p:spPr>
        <p:txBody>
          <a:bodyPr wrap="square" lIns="0" tIns="0" rIns="0" bIns="0" rtlCol="0" anchor="ctr"/>
          <a:lstStyle/>
          <a:p>
            <a:pPr indent="0" marL="0">
              <a:buNone/>
            </a:pPr>
            <a:r>
              <a:rPr lang="en-US" sz="1400" b="1" dirty="0">
                <a:solidFill>
                  <a:srgbClr val="33445B"/>
                </a:solidFill>
                <a:latin typeface="Segoe UI" pitchFamily="34" charset="0"/>
                <a:ea typeface="Segoe UI" pitchFamily="34" charset="-122"/>
                <a:cs typeface="Segoe UI" pitchFamily="34" charset="-120"/>
              </a:rPr>
              <a:t>Added by you</a:t>
            </a:r>
            <a:endParaRPr lang="en-US" sz="1400" dirty="0"/>
          </a:p>
        </p:txBody>
      </p:sp>
      <p:sp>
        <p:nvSpPr>
          <p:cNvPr id="25" name="Text 23"/>
          <p:cNvSpPr txBox="1"/>
          <p:nvPr/>
        </p:nvSpPr>
        <p:spPr>
          <a:xfrm>
            <a:off x="3264408" y="5468112"/>
            <a:ext cx="3977640" cy="512064"/>
          </a:xfrm>
          <a:prstGeom prst="rect">
            <a:avLst/>
          </a:prstGeom>
          <a:noFill/>
          <a:ln/>
        </p:spPr>
        <p:txBody>
          <a:bodyPr wrap="square" lIns="0" tIns="0" rIns="0" bIns="0" rtlCol="0" anchor="ctr"/>
          <a:lstStyle/>
          <a:p>
            <a:pPr indent="0" marL="0">
              <a:lnSpc>
                <a:spcPts val="1500"/>
              </a:lnSpc>
              <a:buNone/>
            </a:pPr>
            <a:r>
              <a:rPr lang="en-US" sz="1150" dirty="0">
                <a:solidFill>
                  <a:srgbClr val="33445B"/>
                </a:solidFill>
                <a:latin typeface="Segoe UI" pitchFamily="34" charset="0"/>
                <a:ea typeface="Segoe UI" pitchFamily="34" charset="-122"/>
                <a:cs typeface="Segoe UI" pitchFamily="34" charset="-120"/>
              </a:rPr>
              <a:t>Typed, inserted from Normals, or pulled from a previous encounter.</a:t>
            </a:r>
            <a:endParaRPr lang="en-US" sz="1150" dirty="0"/>
          </a:p>
        </p:txBody>
      </p:sp>
      <p:sp>
        <p:nvSpPr>
          <p:cNvPr id="26" name="Text 24"/>
          <p:cNvSpPr txBox="1"/>
          <p:nvPr/>
        </p:nvSpPr>
        <p:spPr>
          <a:xfrm>
            <a:off x="566928" y="6089904"/>
            <a:ext cx="6858000" cy="274320"/>
          </a:xfrm>
          <a:prstGeom prst="rect">
            <a:avLst/>
          </a:prstGeom>
          <a:noFill/>
          <a:ln/>
        </p:spPr>
        <p:txBody>
          <a:bodyPr wrap="square" lIns="0" tIns="0" rIns="0" bIns="0" rtlCol="0" anchor="ctr"/>
          <a:lstStyle/>
          <a:p>
            <a:pPr indent="0" marL="0">
              <a:buNone/>
            </a:pPr>
            <a:r>
              <a:rPr lang="en-US" sz="1050" i="1" dirty="0">
                <a:solidFill>
                  <a:srgbClr val="64748B"/>
                </a:solidFill>
                <a:latin typeface="Segoe UI" pitchFamily="34" charset="0"/>
                <a:ea typeface="Segoe UI" pitchFamily="34" charset="-122"/>
                <a:cs typeface="Segoe UI" pitchFamily="34" charset="-120"/>
              </a:rPr>
              <a:t>Colour is never on its own — every row also carries an icon and a text label.</a:t>
            </a:r>
            <a:endParaRPr lang="en-US" sz="1050" dirty="0"/>
          </a:p>
        </p:txBody>
      </p:sp>
      <p:sp>
        <p:nvSpPr>
          <p:cNvPr id="27" name="Shape 25"/>
          <p:cNvSpPr/>
          <p:nvPr/>
        </p:nvSpPr>
        <p:spPr>
          <a:xfrm>
            <a:off x="7744968" y="1645920"/>
            <a:ext cx="3879799" cy="2249424"/>
          </a:xfrm>
          <a:prstGeom prst="roundRect">
            <a:avLst>
              <a:gd name="adj" fmla="val 2846"/>
            </a:avLst>
          </a:prstGeom>
          <a:solidFill>
            <a:srgbClr val="CCE6E4"/>
          </a:solidFill>
          <a:ln w="12700">
            <a:solidFill>
              <a:srgbClr val="0F766E"/>
            </a:solidFill>
            <a:prstDash val="solid"/>
          </a:ln>
          <a:effectLst>
            <a:outerShdw sx="100000" sy="100000" kx="0" ky="0" algn="bl" rotWithShape="0" blurRad="127000" dist="25400" dir="5400000">
              <a:srgbClr val="10233A">
                <a:alpha val="8000"/>
              </a:srgbClr>
            </a:outerShdw>
          </a:effectLst>
        </p:spPr>
      </p:sp>
      <p:sp>
        <p:nvSpPr>
          <p:cNvPr id="28" name="Text 26"/>
          <p:cNvSpPr txBox="1"/>
          <p:nvPr/>
        </p:nvSpPr>
        <p:spPr>
          <a:xfrm>
            <a:off x="8037576" y="1847088"/>
            <a:ext cx="3291840" cy="256032"/>
          </a:xfrm>
          <a:prstGeom prst="rect">
            <a:avLst/>
          </a:prstGeom>
          <a:noFill/>
          <a:ln/>
        </p:spPr>
        <p:txBody>
          <a:bodyPr wrap="square" lIns="0" tIns="0" rIns="0" bIns="0" rtlCol="0" anchor="ctr"/>
          <a:lstStyle/>
          <a:p>
            <a:pPr indent="0" marL="0">
              <a:buNone/>
            </a:pPr>
            <a:r>
              <a:rPr lang="en-US" sz="1050" b="1" spc="180" kern="0" dirty="0">
                <a:solidFill>
                  <a:srgbClr val="0F766E"/>
                </a:solidFill>
                <a:latin typeface="Segoe UI" pitchFamily="34" charset="0"/>
                <a:ea typeface="Segoe UI" pitchFamily="34" charset="-122"/>
                <a:cs typeface="Segoe UI" pitchFamily="34" charset="-120"/>
              </a:rPr>
              <a:t>AND ON EVERY AI VALUE</a:t>
            </a:r>
            <a:endParaRPr lang="en-US" sz="1050" dirty="0"/>
          </a:p>
        </p:txBody>
      </p:sp>
      <p:sp>
        <p:nvSpPr>
          <p:cNvPr id="29" name="Text 27"/>
          <p:cNvSpPr txBox="1"/>
          <p:nvPr/>
        </p:nvSpPr>
        <p:spPr>
          <a:xfrm>
            <a:off x="8037576" y="2139696"/>
            <a:ext cx="3291840" cy="566928"/>
          </a:xfrm>
          <a:prstGeom prst="rect">
            <a:avLst/>
          </a:prstGeom>
          <a:noFill/>
          <a:ln/>
        </p:spPr>
        <p:txBody>
          <a:bodyPr wrap="square" lIns="0" tIns="0" rIns="0" bIns="0" rtlCol="0" anchor="ctr"/>
          <a:lstStyle/>
          <a:p>
            <a:pPr indent="0" marL="0">
              <a:lnSpc>
                <a:spcPts val="2400"/>
              </a:lnSpc>
              <a:buNone/>
            </a:pPr>
            <a:r>
              <a:rPr lang="en-US" sz="1900" b="1" dirty="0">
                <a:solidFill>
                  <a:srgbClr val="0F766E"/>
                </a:solidFill>
                <a:latin typeface="Segoe UI" pitchFamily="34" charset="0"/>
                <a:ea typeface="Segoe UI" pitchFamily="34" charset="-122"/>
                <a:cs typeface="Segoe UI" pitchFamily="34" charset="-120"/>
              </a:rPr>
              <a:t>Where did this come from?</a:t>
            </a:r>
            <a:endParaRPr lang="en-US" sz="1900" dirty="0"/>
          </a:p>
        </p:txBody>
      </p:sp>
      <p:sp>
        <p:nvSpPr>
          <p:cNvPr id="30" name="Text 28"/>
          <p:cNvSpPr txBox="1"/>
          <p:nvPr/>
        </p:nvSpPr>
        <p:spPr>
          <a:xfrm>
            <a:off x="8037576" y="2779776"/>
            <a:ext cx="3291840" cy="932688"/>
          </a:xfrm>
          <a:prstGeom prst="rect">
            <a:avLst/>
          </a:prstGeom>
          <a:noFill/>
          <a:ln/>
        </p:spPr>
        <p:txBody>
          <a:bodyPr wrap="square" lIns="0" tIns="0" rIns="0" bIns="0" rtlCol="0" anchor="ctr"/>
          <a:lstStyle/>
          <a:p>
            <a:pPr indent="0" marL="0">
              <a:lnSpc>
                <a:spcPts val="1600"/>
              </a:lnSpc>
              <a:buNone/>
            </a:pPr>
            <a:r>
              <a:rPr lang="en-US" sz="1200" dirty="0">
                <a:solidFill>
                  <a:srgbClr val="186F68"/>
                </a:solidFill>
                <a:latin typeface="Segoe UI" pitchFamily="34" charset="0"/>
                <a:ea typeface="Segoe UI" pitchFamily="34" charset="-122"/>
                <a:cs typeface="Segoe UI" pitchFamily="34" charset="-120"/>
              </a:rPr>
              <a:t>A link under the value opens the exact sentence that produced it, highlighted. Two seconds to check a field instead of re-reading a paragraph.</a:t>
            </a:r>
            <a:endParaRPr lang="en-US" sz="1200" dirty="0"/>
          </a:p>
        </p:txBody>
      </p:sp>
      <p:sp>
        <p:nvSpPr>
          <p:cNvPr id="31" name="Shape 29"/>
          <p:cNvSpPr/>
          <p:nvPr/>
        </p:nvSpPr>
        <p:spPr>
          <a:xfrm>
            <a:off x="7744968" y="4059936"/>
            <a:ext cx="3879799" cy="2084832"/>
          </a:xfrm>
          <a:prstGeom prst="roundRect">
            <a:avLst>
              <a:gd name="adj" fmla="val 3070"/>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32" name="Text 30"/>
          <p:cNvSpPr txBox="1"/>
          <p:nvPr/>
        </p:nvSpPr>
        <p:spPr>
          <a:xfrm>
            <a:off x="8037576" y="4261104"/>
            <a:ext cx="3291840" cy="256032"/>
          </a:xfrm>
          <a:prstGeom prst="rect">
            <a:avLst/>
          </a:prstGeom>
          <a:noFill/>
          <a:ln/>
        </p:spPr>
        <p:txBody>
          <a:bodyPr wrap="square" lIns="0" tIns="0" rIns="0" bIns="0" rtlCol="0" anchor="ctr"/>
          <a:lstStyle/>
          <a:p>
            <a:pPr indent="0" marL="0">
              <a:buNone/>
            </a:pPr>
            <a:r>
              <a:rPr lang="en-US" sz="1050" b="1" spc="180" kern="0" dirty="0">
                <a:solidFill>
                  <a:srgbClr val="33445B"/>
                </a:solidFill>
                <a:latin typeface="Segoe UI" pitchFamily="34" charset="0"/>
                <a:ea typeface="Segoe UI" pitchFamily="34" charset="-122"/>
                <a:cs typeface="Segoe UI" pitchFamily="34" charset="-120"/>
              </a:rPr>
              <a:t>FOUR KINDS OF SOURCE</a:t>
            </a:r>
            <a:endParaRPr lang="en-US" sz="1050" dirty="0"/>
          </a:p>
        </p:txBody>
      </p:sp>
      <p:sp>
        <p:nvSpPr>
          <p:cNvPr id="33" name="Text 31"/>
          <p:cNvSpPr txBox="1"/>
          <p:nvPr/>
        </p:nvSpPr>
        <p:spPr>
          <a:xfrm>
            <a:off x="8037576" y="4553712"/>
            <a:ext cx="1481328" cy="274320"/>
          </a:xfrm>
          <a:prstGeom prst="rect">
            <a:avLst/>
          </a:prstGeom>
          <a:noFill/>
          <a:ln/>
        </p:spPr>
        <p:txBody>
          <a:bodyPr wrap="square" lIns="0" tIns="0" rIns="0" bIns="0" rtlCol="0" anchor="ctr"/>
          <a:lstStyle/>
          <a:p>
            <a:pPr indent="0" marL="0">
              <a:buNone/>
            </a:pPr>
            <a:r>
              <a:rPr lang="en-US" sz="1200" b="1" dirty="0">
                <a:solidFill>
                  <a:srgbClr val="10233A"/>
                </a:solidFill>
                <a:latin typeface="Segoe UI" pitchFamily="34" charset="0"/>
                <a:ea typeface="Segoe UI" pitchFamily="34" charset="-122"/>
                <a:cs typeface="Segoe UI" pitchFamily="34" charset="-120"/>
              </a:rPr>
              <a:t>Dictation</a:t>
            </a:r>
            <a:endParaRPr lang="en-US" sz="1200" dirty="0"/>
          </a:p>
        </p:txBody>
      </p:sp>
      <p:sp>
        <p:nvSpPr>
          <p:cNvPr id="34" name="Text 32"/>
          <p:cNvSpPr txBox="1"/>
          <p:nvPr/>
        </p:nvSpPr>
        <p:spPr>
          <a:xfrm>
            <a:off x="9546336" y="4553712"/>
            <a:ext cx="178308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the sentence you said</a:t>
            </a:r>
            <a:endParaRPr lang="en-US" sz="1100" dirty="0"/>
          </a:p>
        </p:txBody>
      </p:sp>
      <p:sp>
        <p:nvSpPr>
          <p:cNvPr id="35" name="Text 33"/>
          <p:cNvSpPr txBox="1"/>
          <p:nvPr/>
        </p:nvSpPr>
        <p:spPr>
          <a:xfrm>
            <a:off x="8037576" y="4946904"/>
            <a:ext cx="1481328" cy="274320"/>
          </a:xfrm>
          <a:prstGeom prst="rect">
            <a:avLst/>
          </a:prstGeom>
          <a:noFill/>
          <a:ln/>
        </p:spPr>
        <p:txBody>
          <a:bodyPr wrap="square" lIns="0" tIns="0" rIns="0" bIns="0" rtlCol="0" anchor="ctr"/>
          <a:lstStyle/>
          <a:p>
            <a:pPr indent="0" marL="0">
              <a:buNone/>
            </a:pPr>
            <a:r>
              <a:rPr lang="en-US" sz="1200" b="1" dirty="0">
                <a:solidFill>
                  <a:srgbClr val="10233A"/>
                </a:solidFill>
                <a:latin typeface="Segoe UI" pitchFamily="34" charset="0"/>
                <a:ea typeface="Segoe UI" pitchFamily="34" charset="-122"/>
                <a:cs typeface="Segoe UI" pitchFamily="34" charset="-120"/>
              </a:rPr>
              <a:t>Chart</a:t>
            </a:r>
            <a:endParaRPr lang="en-US" sz="1200" dirty="0"/>
          </a:p>
        </p:txBody>
      </p:sp>
      <p:sp>
        <p:nvSpPr>
          <p:cNvPr id="36" name="Text 34"/>
          <p:cNvSpPr txBox="1"/>
          <p:nvPr/>
        </p:nvSpPr>
        <p:spPr>
          <a:xfrm>
            <a:off x="9546336" y="4946904"/>
            <a:ext cx="178308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the record and its date</a:t>
            </a:r>
            <a:endParaRPr lang="en-US" sz="1100" dirty="0"/>
          </a:p>
        </p:txBody>
      </p:sp>
      <p:sp>
        <p:nvSpPr>
          <p:cNvPr id="37" name="Text 35"/>
          <p:cNvSpPr txBox="1"/>
          <p:nvPr/>
        </p:nvSpPr>
        <p:spPr>
          <a:xfrm>
            <a:off x="8037576" y="5340096"/>
            <a:ext cx="1481328" cy="274320"/>
          </a:xfrm>
          <a:prstGeom prst="rect">
            <a:avLst/>
          </a:prstGeom>
          <a:noFill/>
          <a:ln/>
        </p:spPr>
        <p:txBody>
          <a:bodyPr wrap="square" lIns="0" tIns="0" rIns="0" bIns="0" rtlCol="0" anchor="ctr"/>
          <a:lstStyle/>
          <a:p>
            <a:pPr indent="0" marL="0">
              <a:buNone/>
            </a:pPr>
            <a:r>
              <a:rPr lang="en-US" sz="1200" b="1" dirty="0">
                <a:solidFill>
                  <a:srgbClr val="10233A"/>
                </a:solidFill>
                <a:latin typeface="Segoe UI" pitchFamily="34" charset="0"/>
                <a:ea typeface="Segoe UI" pitchFamily="34" charset="-122"/>
                <a:cs typeface="Segoe UI" pitchFamily="34" charset="-120"/>
              </a:rPr>
              <a:t>Calculation</a:t>
            </a:r>
            <a:endParaRPr lang="en-US" sz="1200" dirty="0"/>
          </a:p>
        </p:txBody>
      </p:sp>
      <p:sp>
        <p:nvSpPr>
          <p:cNvPr id="38" name="Text 36"/>
          <p:cNvSpPr txBox="1"/>
          <p:nvPr/>
        </p:nvSpPr>
        <p:spPr>
          <a:xfrm>
            <a:off x="9546336" y="5340096"/>
            <a:ext cx="178308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the figures behind it</a:t>
            </a:r>
            <a:endParaRPr lang="en-US" sz="1100" dirty="0"/>
          </a:p>
        </p:txBody>
      </p:sp>
      <p:sp>
        <p:nvSpPr>
          <p:cNvPr id="39" name="Text 37"/>
          <p:cNvSpPr txBox="1"/>
          <p:nvPr/>
        </p:nvSpPr>
        <p:spPr>
          <a:xfrm>
            <a:off x="8037576" y="5733288"/>
            <a:ext cx="1481328" cy="274320"/>
          </a:xfrm>
          <a:prstGeom prst="rect">
            <a:avLst/>
          </a:prstGeom>
          <a:noFill/>
          <a:ln/>
        </p:spPr>
        <p:txBody>
          <a:bodyPr wrap="square" lIns="0" tIns="0" rIns="0" bIns="0" rtlCol="0" anchor="ctr"/>
          <a:lstStyle/>
          <a:p>
            <a:pPr indent="0" marL="0">
              <a:buNone/>
            </a:pPr>
            <a:r>
              <a:rPr lang="en-US" sz="1200" b="1" dirty="0">
                <a:solidFill>
                  <a:srgbClr val="10233A"/>
                </a:solidFill>
                <a:latin typeface="Segoe UI" pitchFamily="34" charset="0"/>
                <a:ea typeface="Segoe UI" pitchFamily="34" charset="-122"/>
                <a:cs typeface="Segoe UI" pitchFamily="34" charset="-120"/>
              </a:rPr>
              <a:t>Previous encounter</a:t>
            </a:r>
            <a:endParaRPr lang="en-US" sz="1200" dirty="0"/>
          </a:p>
        </p:txBody>
      </p:sp>
      <p:sp>
        <p:nvSpPr>
          <p:cNvPr id="40" name="Text 38"/>
          <p:cNvSpPr txBox="1"/>
          <p:nvPr/>
        </p:nvSpPr>
        <p:spPr>
          <a:xfrm>
            <a:off x="9546336" y="5733288"/>
            <a:ext cx="178308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which visit, signed by whom</a:t>
            </a:r>
            <a:endParaRPr lang="en-US" sz="1100" dirty="0"/>
          </a:p>
        </p:txBody>
      </p:sp>
      <p:sp>
        <p:nvSpPr>
          <p:cNvPr id="41" name="Text 39"/>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42" name="Text 40"/>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CHANGE 4  ·  GOING AGAIN</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Fix one field without re-running the note</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One pass is rarely enough, and the second pass is nearly always about one or two particular fields.</a:t>
            </a:r>
            <a:endParaRPr lang="en-US" sz="1350" dirty="0"/>
          </a:p>
        </p:txBody>
      </p:sp>
      <p:sp>
        <p:nvSpPr>
          <p:cNvPr id="5" name="Shape 3"/>
          <p:cNvSpPr/>
          <p:nvPr/>
        </p:nvSpPr>
        <p:spPr>
          <a:xfrm>
            <a:off x="566928" y="1664208"/>
            <a:ext cx="11057839" cy="1207008"/>
          </a:xfrm>
          <a:prstGeom prst="roundRect">
            <a:avLst>
              <a:gd name="adj" fmla="val 5303"/>
            </a:avLst>
          </a:prstGeom>
          <a:solidFill>
            <a:srgbClr val="FCE7E7"/>
          </a:solidFill>
          <a:ln w="12700">
            <a:solidFill>
              <a:srgbClr val="B91C1C"/>
            </a:solidFill>
            <a:prstDash val="solid"/>
          </a:ln>
          <a:effectLst>
            <a:outerShdw sx="100000" sy="100000" kx="0" ky="0" algn="bl" rotWithShape="0" blurRad="127000" dist="25400" dir="5400000">
              <a:srgbClr val="10233A">
                <a:alpha val="8000"/>
              </a:srgbClr>
            </a:outerShdw>
          </a:effectLst>
        </p:spPr>
      </p:sp>
      <p:sp>
        <p:nvSpPr>
          <p:cNvPr id="6" name="Text 4"/>
          <p:cNvSpPr txBox="1"/>
          <p:nvPr/>
        </p:nvSpPr>
        <p:spPr>
          <a:xfrm>
            <a:off x="932688" y="1883664"/>
            <a:ext cx="914400" cy="274320"/>
          </a:xfrm>
          <a:prstGeom prst="rect">
            <a:avLst/>
          </a:prstGeom>
          <a:noFill/>
          <a:ln/>
        </p:spPr>
        <p:txBody>
          <a:bodyPr wrap="square" lIns="0" tIns="0" rIns="0" bIns="0" rtlCol="0" anchor="ctr"/>
          <a:lstStyle/>
          <a:p>
            <a:pPr indent="0" marL="0">
              <a:buNone/>
            </a:pPr>
            <a:r>
              <a:rPr lang="en-US" sz="1050" b="1" spc="180" kern="0" dirty="0">
                <a:solidFill>
                  <a:srgbClr val="B91C1C"/>
                </a:solidFill>
                <a:latin typeface="Segoe UI" pitchFamily="34" charset="0"/>
                <a:ea typeface="Segoe UI" pitchFamily="34" charset="-122"/>
                <a:cs typeface="Segoe UI" pitchFamily="34" charset="-120"/>
              </a:rPr>
              <a:t>TODAY</a:t>
            </a:r>
            <a:endParaRPr lang="en-US" sz="1050" dirty="0"/>
          </a:p>
        </p:txBody>
      </p:sp>
      <p:sp>
        <p:nvSpPr>
          <p:cNvPr id="7" name="Text 5"/>
          <p:cNvSpPr txBox="1"/>
          <p:nvPr/>
        </p:nvSpPr>
        <p:spPr>
          <a:xfrm>
            <a:off x="2048256" y="1847088"/>
            <a:ext cx="8778240" cy="310896"/>
          </a:xfrm>
          <a:prstGeom prst="rect">
            <a:avLst/>
          </a:prstGeom>
          <a:noFill/>
          <a:ln/>
        </p:spPr>
        <p:txBody>
          <a:bodyPr wrap="square" lIns="0" tIns="0" rIns="0" bIns="0" rtlCol="0" anchor="ctr"/>
          <a:lstStyle/>
          <a:p>
            <a:pPr indent="0" marL="0">
              <a:buNone/>
            </a:pPr>
            <a:r>
              <a:rPr lang="en-US" sz="1600" b="1" dirty="0">
                <a:solidFill>
                  <a:srgbClr val="B91C1C"/>
                </a:solidFill>
                <a:latin typeface="Segoe UI" pitchFamily="34" charset="0"/>
                <a:ea typeface="Segoe UI" pitchFamily="34" charset="-122"/>
                <a:cs typeface="Segoe UI" pitchFamily="34" charset="-120"/>
              </a:rPr>
              <a:t>The only way to correct the AI is to run the whole note again.</a:t>
            </a:r>
            <a:endParaRPr lang="en-US" sz="1600" dirty="0"/>
          </a:p>
        </p:txBody>
      </p:sp>
      <p:sp>
        <p:nvSpPr>
          <p:cNvPr id="8" name="Text 6"/>
          <p:cNvSpPr txBox="1"/>
          <p:nvPr/>
        </p:nvSpPr>
        <p:spPr>
          <a:xfrm>
            <a:off x="2048256" y="2194560"/>
            <a:ext cx="9418320" cy="512064"/>
          </a:xfrm>
          <a:prstGeom prst="rect">
            <a:avLst/>
          </a:prstGeom>
          <a:noFill/>
          <a:ln/>
        </p:spPr>
        <p:txBody>
          <a:bodyPr wrap="square" lIns="0" tIns="0" rIns="0" bIns="0" rtlCol="0" anchor="ctr"/>
          <a:lstStyle/>
          <a:p>
            <a:pPr indent="0" marL="0">
              <a:lnSpc>
                <a:spcPts val="1600"/>
              </a:lnSpc>
              <a:buNone/>
            </a:pPr>
            <a:r>
              <a:rPr lang="en-US" sz="1250" dirty="0">
                <a:solidFill>
                  <a:srgbClr val="8A3A3A"/>
                </a:solidFill>
                <a:latin typeface="Segoe UI" pitchFamily="34" charset="0"/>
                <a:ea typeface="Segoe UI" pitchFamily="34" charset="-122"/>
                <a:cs typeface="Segoe UI" pitchFamily="34" charset="-120"/>
              </a:rPr>
              <a:t>Which returns a value for every field — including the ones you already accepted, corrected or deliberately left out. The second pass quietly undoes the review that came before it.</a:t>
            </a:r>
            <a:endParaRPr lang="en-US" sz="1250" dirty="0"/>
          </a:p>
        </p:txBody>
      </p:sp>
      <p:sp>
        <p:nvSpPr>
          <p:cNvPr id="9" name="Text 7"/>
          <p:cNvSpPr txBox="1"/>
          <p:nvPr/>
        </p:nvSpPr>
        <p:spPr>
          <a:xfrm>
            <a:off x="566928" y="3127248"/>
            <a:ext cx="11057839" cy="256032"/>
          </a:xfrm>
          <a:prstGeom prst="rect">
            <a:avLst/>
          </a:prstGeom>
          <a:noFill/>
          <a:ln/>
        </p:spPr>
        <p:txBody>
          <a:bodyPr wrap="square" lIns="0" tIns="0" rIns="0" bIns="0" rtlCol="0" anchor="ctr"/>
          <a:lstStyle/>
          <a:p>
            <a:pPr indent="0" marL="0">
              <a:buNone/>
            </a:pPr>
            <a:r>
              <a:rPr lang="en-US" sz="1150" b="1" spc="180" kern="0" dirty="0">
                <a:solidFill>
                  <a:srgbClr val="0F766E"/>
                </a:solidFill>
                <a:latin typeface="Segoe UI" pitchFamily="34" charset="0"/>
                <a:ea typeface="Segoe UI" pitchFamily="34" charset="-122"/>
                <a:cs typeface="Segoe UI" pitchFamily="34" charset="-120"/>
              </a:rPr>
              <a:t>WHAT IT BECOMES</a:t>
            </a:r>
            <a:endParaRPr lang="en-US" sz="1150" dirty="0"/>
          </a:p>
        </p:txBody>
      </p:sp>
      <p:sp>
        <p:nvSpPr>
          <p:cNvPr id="10" name="Shape 8"/>
          <p:cNvSpPr/>
          <p:nvPr/>
        </p:nvSpPr>
        <p:spPr>
          <a:xfrm>
            <a:off x="566928" y="3456432"/>
            <a:ext cx="3503066" cy="1956816"/>
          </a:xfrm>
          <a:prstGeom prst="roundRect">
            <a:avLst>
              <a:gd name="adj" fmla="val 3271"/>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11" name="Shape 9"/>
          <p:cNvSpPr/>
          <p:nvPr/>
        </p:nvSpPr>
        <p:spPr>
          <a:xfrm>
            <a:off x="841248" y="3639312"/>
            <a:ext cx="365760" cy="365760"/>
          </a:xfrm>
          <a:prstGeom prst="ellipse">
            <a:avLst/>
          </a:prstGeom>
          <a:solidFill>
            <a:srgbClr val="33445B"/>
          </a:solidFill>
          <a:ln w="12700">
            <a:solidFill>
              <a:srgbClr val="33445B"/>
            </a:solidFill>
            <a:prstDash val="solid"/>
          </a:ln>
        </p:spPr>
      </p:sp>
      <p:sp>
        <p:nvSpPr>
          <p:cNvPr id="12" name="Text 10"/>
          <p:cNvSpPr txBox="1"/>
          <p:nvPr/>
        </p:nvSpPr>
        <p:spPr>
          <a:xfrm>
            <a:off x="841248" y="36393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3" name="Text 11"/>
          <p:cNvSpPr txBox="1"/>
          <p:nvPr/>
        </p:nvSpPr>
        <p:spPr>
          <a:xfrm>
            <a:off x="841248" y="4096512"/>
            <a:ext cx="2954426" cy="310896"/>
          </a:xfrm>
          <a:prstGeom prst="rect">
            <a:avLst/>
          </a:prstGeom>
          <a:noFill/>
          <a:ln/>
        </p:spPr>
        <p:txBody>
          <a:bodyPr wrap="square" lIns="0" tIns="0" rIns="0" bIns="0" rtlCol="0" anchor="ctr"/>
          <a:lstStyle/>
          <a:p>
            <a:pPr indent="0" marL="0">
              <a:buNone/>
            </a:pPr>
            <a:r>
              <a:rPr lang="en-US" sz="1400" b="1" dirty="0">
                <a:solidFill>
                  <a:srgbClr val="10233A"/>
                </a:solidFill>
                <a:latin typeface="Segoe UI" pitchFamily="34" charset="0"/>
                <a:ea typeface="Segoe UI" pitchFamily="34" charset="-122"/>
                <a:cs typeface="Segoe UI" pitchFamily="34" charset="-120"/>
              </a:rPr>
              <a:t>Press the AI button</a:t>
            </a:r>
            <a:endParaRPr lang="en-US" sz="1400" dirty="0"/>
          </a:p>
        </p:txBody>
      </p:sp>
      <p:sp>
        <p:nvSpPr>
          <p:cNvPr id="14" name="Text 12"/>
          <p:cNvSpPr txBox="1"/>
          <p:nvPr/>
        </p:nvSpPr>
        <p:spPr>
          <a:xfrm>
            <a:off x="841248" y="4462272"/>
            <a:ext cx="2954426" cy="80467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The composer opens at the bottom of the form, cursor already in the box. The note stays visible above it — you never lose your place.</a:t>
            </a:r>
            <a:endParaRPr lang="en-US" sz="1150" dirty="0"/>
          </a:p>
        </p:txBody>
      </p:sp>
      <p:sp>
        <p:nvSpPr>
          <p:cNvPr id="15" name="Shape 13"/>
          <p:cNvSpPr/>
          <p:nvPr/>
        </p:nvSpPr>
        <p:spPr>
          <a:xfrm>
            <a:off x="4344314" y="3456432"/>
            <a:ext cx="3503066" cy="1956816"/>
          </a:xfrm>
          <a:prstGeom prst="roundRect">
            <a:avLst>
              <a:gd name="adj" fmla="val 3271"/>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16" name="Shape 14"/>
          <p:cNvSpPr/>
          <p:nvPr/>
        </p:nvSpPr>
        <p:spPr>
          <a:xfrm>
            <a:off x="4618634" y="3639312"/>
            <a:ext cx="365760" cy="365760"/>
          </a:xfrm>
          <a:prstGeom prst="ellipse">
            <a:avLst/>
          </a:prstGeom>
          <a:solidFill>
            <a:srgbClr val="33445B"/>
          </a:solidFill>
          <a:ln w="12700">
            <a:solidFill>
              <a:srgbClr val="33445B"/>
            </a:solidFill>
            <a:prstDash val="solid"/>
          </a:ln>
        </p:spPr>
      </p:sp>
      <p:sp>
        <p:nvSpPr>
          <p:cNvPr id="17" name="Text 15"/>
          <p:cNvSpPr txBox="1"/>
          <p:nvPr/>
        </p:nvSpPr>
        <p:spPr>
          <a:xfrm>
            <a:off x="4618634" y="36393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6"/>
          <p:cNvSpPr txBox="1"/>
          <p:nvPr/>
        </p:nvSpPr>
        <p:spPr>
          <a:xfrm>
            <a:off x="4618634" y="4096512"/>
            <a:ext cx="2954426" cy="310896"/>
          </a:xfrm>
          <a:prstGeom prst="rect">
            <a:avLst/>
          </a:prstGeom>
          <a:noFill/>
          <a:ln/>
        </p:spPr>
        <p:txBody>
          <a:bodyPr wrap="square" lIns="0" tIns="0" rIns="0" bIns="0" rtlCol="0" anchor="ctr"/>
          <a:lstStyle/>
          <a:p>
            <a:pPr indent="0" marL="0">
              <a:buNone/>
            </a:pPr>
            <a:r>
              <a:rPr lang="en-US" sz="1400" b="1" dirty="0">
                <a:solidFill>
                  <a:srgbClr val="10233A"/>
                </a:solidFill>
                <a:latin typeface="Segoe UI" pitchFamily="34" charset="0"/>
                <a:ea typeface="Segoe UI" pitchFamily="34" charset="-122"/>
                <a:cs typeface="Segoe UI" pitchFamily="34" charset="-120"/>
              </a:rPr>
              <a:t>Name the field, say the thing</a:t>
            </a:r>
            <a:endParaRPr lang="en-US" sz="1400" dirty="0"/>
          </a:p>
        </p:txBody>
      </p:sp>
      <p:sp>
        <p:nvSpPr>
          <p:cNvPr id="19" name="Text 17"/>
          <p:cNvSpPr txBox="1"/>
          <p:nvPr/>
        </p:nvSpPr>
        <p:spPr>
          <a:xfrm>
            <a:off x="4618634" y="4462272"/>
            <a:ext cx="2954426" cy="80467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Type / and pick a field from the list; it becomes a tag. Whatever you say next belongs to that field. One press of Execute.</a:t>
            </a:r>
            <a:endParaRPr lang="en-US" sz="1150" dirty="0"/>
          </a:p>
        </p:txBody>
      </p:sp>
      <p:sp>
        <p:nvSpPr>
          <p:cNvPr id="20" name="Shape 18"/>
          <p:cNvSpPr/>
          <p:nvPr/>
        </p:nvSpPr>
        <p:spPr>
          <a:xfrm>
            <a:off x="8121701" y="3456432"/>
            <a:ext cx="3503066" cy="1956816"/>
          </a:xfrm>
          <a:prstGeom prst="roundRect">
            <a:avLst>
              <a:gd name="adj" fmla="val 3271"/>
            </a:avLst>
          </a:prstGeom>
          <a:solidFill>
            <a:srgbClr val="FFFFFF"/>
          </a:solidFill>
          <a:ln w="12700">
            <a:solidFill>
              <a:srgbClr val="0F766E"/>
            </a:solidFill>
            <a:prstDash val="solid"/>
          </a:ln>
          <a:effectLst>
            <a:outerShdw sx="100000" sy="100000" kx="0" ky="0" algn="bl" rotWithShape="0" blurRad="127000" dist="25400" dir="5400000">
              <a:srgbClr val="10233A">
                <a:alpha val="8000"/>
              </a:srgbClr>
            </a:outerShdw>
          </a:effectLst>
        </p:spPr>
      </p:sp>
      <p:sp>
        <p:nvSpPr>
          <p:cNvPr id="21" name="Shape 19"/>
          <p:cNvSpPr/>
          <p:nvPr/>
        </p:nvSpPr>
        <p:spPr>
          <a:xfrm>
            <a:off x="8396021" y="3639312"/>
            <a:ext cx="365760" cy="365760"/>
          </a:xfrm>
          <a:prstGeom prst="ellipse">
            <a:avLst/>
          </a:prstGeom>
          <a:solidFill>
            <a:srgbClr val="0F766E"/>
          </a:solidFill>
          <a:ln w="12700">
            <a:solidFill>
              <a:srgbClr val="0F766E"/>
            </a:solidFill>
            <a:prstDash val="solid"/>
          </a:ln>
        </p:spPr>
      </p:sp>
      <p:sp>
        <p:nvSpPr>
          <p:cNvPr id="22" name="Text 20"/>
          <p:cNvSpPr txBox="1"/>
          <p:nvPr/>
        </p:nvSpPr>
        <p:spPr>
          <a:xfrm>
            <a:off x="8396021" y="36393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3" name="Text 21"/>
          <p:cNvSpPr txBox="1"/>
          <p:nvPr/>
        </p:nvSpPr>
        <p:spPr>
          <a:xfrm>
            <a:off x="8396021" y="4096512"/>
            <a:ext cx="2954426" cy="310896"/>
          </a:xfrm>
          <a:prstGeom prst="rect">
            <a:avLst/>
          </a:prstGeom>
          <a:noFill/>
          <a:ln/>
        </p:spPr>
        <p:txBody>
          <a:bodyPr wrap="square" lIns="0" tIns="0" rIns="0" bIns="0" rtlCol="0" anchor="ctr"/>
          <a:lstStyle/>
          <a:p>
            <a:pPr indent="0" marL="0">
              <a:buNone/>
            </a:pPr>
            <a:r>
              <a:rPr lang="en-US" sz="1400" b="1" dirty="0">
                <a:solidFill>
                  <a:srgbClr val="0F766E"/>
                </a:solidFill>
                <a:latin typeface="Segoe UI" pitchFamily="34" charset="0"/>
                <a:ea typeface="Segoe UI" pitchFamily="34" charset="-122"/>
                <a:cs typeface="Segoe UI" pitchFamily="34" charset="-120"/>
              </a:rPr>
              <a:t>Nothing else is touched</a:t>
            </a:r>
            <a:endParaRPr lang="en-US" sz="1400" dirty="0"/>
          </a:p>
        </p:txBody>
      </p:sp>
      <p:sp>
        <p:nvSpPr>
          <p:cNvPr id="24" name="Text 22"/>
          <p:cNvSpPr txBox="1"/>
          <p:nvPr/>
        </p:nvSpPr>
        <p:spPr>
          <a:xfrm>
            <a:off x="8396021" y="4462272"/>
            <a:ext cx="2954426" cy="80467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The system is asked only about the fields you named. Other values are not filtered out on the way back — they are never produced.</a:t>
            </a:r>
            <a:endParaRPr lang="en-US" sz="1150" dirty="0"/>
          </a:p>
        </p:txBody>
      </p:sp>
      <p:sp>
        <p:nvSpPr>
          <p:cNvPr id="25" name="Text 23"/>
          <p:cNvSpPr txBox="1"/>
          <p:nvPr/>
        </p:nvSpPr>
        <p:spPr>
          <a:xfrm>
            <a:off x="4088282" y="4224528"/>
            <a:ext cx="237744" cy="365760"/>
          </a:xfrm>
          <a:prstGeom prst="rect">
            <a:avLst/>
          </a:prstGeom>
          <a:noFill/>
          <a:ln/>
        </p:spPr>
        <p:txBody>
          <a:bodyPr wrap="square" lIns="0" tIns="0" rIns="0" bIns="0" rtlCol="0" anchor="ctr"/>
          <a:lstStyle/>
          <a:p>
            <a:pPr algn="ctr" indent="0" marL="0">
              <a:buNone/>
            </a:pPr>
            <a:r>
              <a:rPr lang="en-US" sz="2000" b="1" dirty="0">
                <a:solidFill>
                  <a:srgbClr val="9FB3C8"/>
                </a:solidFill>
                <a:latin typeface="Segoe UI" pitchFamily="34" charset="0"/>
                <a:ea typeface="Segoe UI" pitchFamily="34" charset="-122"/>
                <a:cs typeface="Segoe UI" pitchFamily="34" charset="-120"/>
              </a:rPr>
              <a:t>›</a:t>
            </a:r>
            <a:endParaRPr lang="en-US" sz="2000" dirty="0"/>
          </a:p>
        </p:txBody>
      </p:sp>
      <p:sp>
        <p:nvSpPr>
          <p:cNvPr id="26" name="Text 24"/>
          <p:cNvSpPr txBox="1"/>
          <p:nvPr/>
        </p:nvSpPr>
        <p:spPr>
          <a:xfrm>
            <a:off x="7865669" y="4224528"/>
            <a:ext cx="237744" cy="365760"/>
          </a:xfrm>
          <a:prstGeom prst="rect">
            <a:avLst/>
          </a:prstGeom>
          <a:noFill/>
          <a:ln/>
        </p:spPr>
        <p:txBody>
          <a:bodyPr wrap="square" lIns="0" tIns="0" rIns="0" bIns="0" rtlCol="0" anchor="ctr"/>
          <a:lstStyle/>
          <a:p>
            <a:pPr algn="ctr" indent="0" marL="0">
              <a:buNone/>
            </a:pPr>
            <a:r>
              <a:rPr lang="en-US" sz="2000" b="1" dirty="0">
                <a:solidFill>
                  <a:srgbClr val="9FB3C8"/>
                </a:solidFill>
                <a:latin typeface="Segoe UI" pitchFamily="34" charset="0"/>
                <a:ea typeface="Segoe UI" pitchFamily="34" charset="-122"/>
                <a:cs typeface="Segoe UI" pitchFamily="34" charset="-120"/>
              </a:rPr>
              <a:t>›</a:t>
            </a:r>
            <a:endParaRPr lang="en-US" sz="2000" dirty="0"/>
          </a:p>
        </p:txBody>
      </p:sp>
      <p:sp>
        <p:nvSpPr>
          <p:cNvPr id="27" name="Shape 25"/>
          <p:cNvSpPr/>
          <p:nvPr/>
        </p:nvSpPr>
        <p:spPr>
          <a:xfrm>
            <a:off x="566928" y="5541264"/>
            <a:ext cx="11057839" cy="768096"/>
          </a:xfrm>
          <a:prstGeom prst="roundRect">
            <a:avLst>
              <a:gd name="adj" fmla="val 8333"/>
            </a:avLst>
          </a:prstGeom>
          <a:solidFill>
            <a:srgbClr val="F1F5F9"/>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28" name="Text 26"/>
          <p:cNvSpPr txBox="1"/>
          <p:nvPr/>
        </p:nvSpPr>
        <p:spPr>
          <a:xfrm>
            <a:off x="932688" y="5541264"/>
            <a:ext cx="10326319" cy="768096"/>
          </a:xfrm>
          <a:prstGeom prst="rect">
            <a:avLst/>
          </a:prstGeom>
          <a:noFill/>
          <a:ln/>
        </p:spPr>
        <p:txBody>
          <a:bodyPr wrap="square" lIns="0" tIns="0" rIns="0" bIns="0" rtlCol="0" anchor="ctr"/>
          <a:lstStyle/>
          <a:p>
            <a:pPr indent="0" marL="0">
              <a:buNone/>
            </a:pPr>
            <a:r>
              <a:rPr lang="en-US" sz="1300" dirty="0">
                <a:solidFill>
                  <a:srgbClr val="33445B"/>
                </a:solidFill>
                <a:latin typeface="Segoe UI" pitchFamily="34" charset="0"/>
                <a:ea typeface="Segoe UI" pitchFamily="34" charset="-122"/>
                <a:cs typeface="Segoe UI" pitchFamily="34" charset="-120"/>
              </a:rPr>
              <a:t>Same box, both jobs.  Tag a field and it is a targeted correction. Tag nothing and it is a full pass, exactly as the first one was — nothing else to choose, nothing else to learn.</a:t>
            </a:r>
            <a:endParaRPr lang="en-US" sz="1300" dirty="0"/>
          </a:p>
        </p:txBody>
      </p:sp>
      <p:sp>
        <p:nvSpPr>
          <p:cNvPr id="29" name="Text 27"/>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30" name="Text 28"/>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CHANGE 5  ·  SESSIONS AND THE RECORD</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Nothing is silently overwritten</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Every pass is a session you can reopen. A value is never quietly replaced by a later one.</a:t>
            </a:r>
            <a:endParaRPr lang="en-US" sz="1350" dirty="0"/>
          </a:p>
        </p:txBody>
      </p:sp>
      <p:sp>
        <p:nvSpPr>
          <p:cNvPr id="5" name="Shape 3"/>
          <p:cNvSpPr/>
          <p:nvPr/>
        </p:nvSpPr>
        <p:spPr>
          <a:xfrm>
            <a:off x="566928" y="1664208"/>
            <a:ext cx="5391760" cy="2743200"/>
          </a:xfrm>
          <a:prstGeom prst="roundRect">
            <a:avLst>
              <a:gd name="adj" fmla="val 2333"/>
            </a:avLst>
          </a:prstGeom>
          <a:solidFill>
            <a:srgbClr val="FFFFFF"/>
          </a:solidFill>
          <a:ln w="12700">
            <a:solidFill>
              <a:srgbClr val="0F766E"/>
            </a:solidFill>
            <a:prstDash val="solid"/>
          </a:ln>
          <a:effectLst>
            <a:outerShdw sx="100000" sy="100000" kx="0" ky="0" algn="bl" rotWithShape="0" blurRad="127000" dist="25400" dir="5400000">
              <a:srgbClr val="10233A">
                <a:alpha val="8000"/>
              </a:srgbClr>
            </a:outerShdw>
          </a:effectLst>
        </p:spPr>
      </p:sp>
      <p:sp>
        <p:nvSpPr>
          <p:cNvPr id="6" name="Shape 4"/>
          <p:cNvSpPr/>
          <p:nvPr/>
        </p:nvSpPr>
        <p:spPr>
          <a:xfrm>
            <a:off x="566928" y="1664208"/>
            <a:ext cx="5391760" cy="640080"/>
          </a:xfrm>
          <a:prstGeom prst="roundRect">
            <a:avLst>
              <a:gd name="adj" fmla="val 10000"/>
            </a:avLst>
          </a:prstGeom>
          <a:solidFill>
            <a:srgbClr val="CCE6E4"/>
          </a:solidFill>
          <a:ln w="12700">
            <a:solidFill>
              <a:srgbClr val="0F766E"/>
            </a:solidFill>
            <a:prstDash val="solid"/>
          </a:ln>
        </p:spPr>
      </p:sp>
      <p:sp>
        <p:nvSpPr>
          <p:cNvPr id="7" name="Text 5"/>
          <p:cNvSpPr txBox="1"/>
          <p:nvPr/>
        </p:nvSpPr>
        <p:spPr>
          <a:xfrm>
            <a:off x="877824" y="1664208"/>
            <a:ext cx="4769968" cy="640080"/>
          </a:xfrm>
          <a:prstGeom prst="rect">
            <a:avLst/>
          </a:prstGeom>
          <a:noFill/>
          <a:ln/>
        </p:spPr>
        <p:txBody>
          <a:bodyPr wrap="square" lIns="0" tIns="0" rIns="0" bIns="0" rtlCol="0" anchor="ctr"/>
          <a:lstStyle/>
          <a:p>
            <a:pPr indent="0" marL="0">
              <a:buNone/>
            </a:pPr>
            <a:r>
              <a:rPr lang="en-US" sz="1150" b="1" spc="150" kern="0" dirty="0">
                <a:solidFill>
                  <a:srgbClr val="0F766E"/>
                </a:solidFill>
                <a:latin typeface="Segoe UI" pitchFamily="34" charset="0"/>
                <a:ea typeface="Segoe UI" pitchFamily="34" charset="-122"/>
                <a:cs typeface="Segoe UI" pitchFamily="34" charset="-120"/>
              </a:rPr>
              <a:t>WHEN A SECOND PASS LANDS ON A FILLED FIELD</a:t>
            </a:r>
            <a:endParaRPr lang="en-US" sz="1150" dirty="0"/>
          </a:p>
        </p:txBody>
      </p:sp>
      <p:sp>
        <p:nvSpPr>
          <p:cNvPr id="8" name="Shape 6"/>
          <p:cNvSpPr/>
          <p:nvPr/>
        </p:nvSpPr>
        <p:spPr>
          <a:xfrm>
            <a:off x="877824" y="2505456"/>
            <a:ext cx="274320" cy="274320"/>
          </a:xfrm>
          <a:prstGeom prst="ellipse">
            <a:avLst/>
          </a:prstGeom>
          <a:solidFill>
            <a:srgbClr val="0F766E"/>
          </a:solidFill>
          <a:ln w="12700">
            <a:solidFill>
              <a:srgbClr val="0F766E"/>
            </a:solidFill>
            <a:prstDash val="solid"/>
          </a:ln>
        </p:spPr>
      </p:sp>
      <p:sp>
        <p:nvSpPr>
          <p:cNvPr id="9" name="Text 7"/>
          <p:cNvSpPr txBox="1"/>
          <p:nvPr/>
        </p:nvSpPr>
        <p:spPr>
          <a:xfrm>
            <a:off x="877824" y="25054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0" name="Text 8"/>
          <p:cNvSpPr txBox="1"/>
          <p:nvPr/>
        </p:nvSpPr>
        <p:spPr>
          <a:xfrm>
            <a:off x="1280160" y="2468880"/>
            <a:ext cx="4367632"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It asks. It does not act.</a:t>
            </a:r>
            <a:endParaRPr lang="en-US" sz="1350" dirty="0"/>
          </a:p>
        </p:txBody>
      </p:sp>
      <p:sp>
        <p:nvSpPr>
          <p:cNvPr id="11" name="Text 9"/>
          <p:cNvSpPr txBox="1"/>
          <p:nvPr/>
        </p:nvSpPr>
        <p:spPr>
          <a:xfrm>
            <a:off x="1280160" y="2752344"/>
            <a:ext cx="4367632"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Both values are shown side by side and you choose. There is no setting under which a later pass overwrites an earlier decision on its own.</a:t>
            </a:r>
            <a:endParaRPr lang="en-US" sz="1150" dirty="0"/>
          </a:p>
        </p:txBody>
      </p:sp>
      <p:sp>
        <p:nvSpPr>
          <p:cNvPr id="12" name="Shape 10"/>
          <p:cNvSpPr/>
          <p:nvPr/>
        </p:nvSpPr>
        <p:spPr>
          <a:xfrm>
            <a:off x="877824" y="3456432"/>
            <a:ext cx="274320" cy="274320"/>
          </a:xfrm>
          <a:prstGeom prst="ellipse">
            <a:avLst/>
          </a:prstGeom>
          <a:solidFill>
            <a:srgbClr val="0F766E"/>
          </a:solidFill>
          <a:ln w="12700">
            <a:solidFill>
              <a:srgbClr val="0F766E"/>
            </a:solidFill>
            <a:prstDash val="solid"/>
          </a:ln>
        </p:spPr>
      </p:sp>
      <p:sp>
        <p:nvSpPr>
          <p:cNvPr id="13" name="Text 11"/>
          <p:cNvSpPr txBox="1"/>
          <p:nvPr/>
        </p:nvSpPr>
        <p:spPr>
          <a:xfrm>
            <a:off x="877824" y="3456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4" name="Text 12"/>
          <p:cNvSpPr txBox="1"/>
          <p:nvPr/>
        </p:nvSpPr>
        <p:spPr>
          <a:xfrm>
            <a:off x="1280160" y="3419856"/>
            <a:ext cx="4367632"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The same is true everywhere else</a:t>
            </a:r>
            <a:endParaRPr lang="en-US" sz="1350" dirty="0"/>
          </a:p>
        </p:txBody>
      </p:sp>
      <p:sp>
        <p:nvSpPr>
          <p:cNvPr id="15" name="Text 13"/>
          <p:cNvSpPr txBox="1"/>
          <p:nvPr/>
        </p:nvSpPr>
        <p:spPr>
          <a:xfrm>
            <a:off x="1280160" y="3703320"/>
            <a:ext cx="4367632"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Inserting a standard phrase over an AI value, or pulling a value forward from a previous encounter, is the same explicit choice with the same record behind it.</a:t>
            </a:r>
            <a:endParaRPr lang="en-US" sz="1150" dirty="0"/>
          </a:p>
        </p:txBody>
      </p:sp>
      <p:sp>
        <p:nvSpPr>
          <p:cNvPr id="16" name="Shape 14"/>
          <p:cNvSpPr/>
          <p:nvPr/>
        </p:nvSpPr>
        <p:spPr>
          <a:xfrm>
            <a:off x="6233008" y="1664208"/>
            <a:ext cx="5391760" cy="2743200"/>
          </a:xfrm>
          <a:prstGeom prst="roundRect">
            <a:avLst>
              <a:gd name="adj" fmla="val 2333"/>
            </a:avLst>
          </a:prstGeom>
          <a:solidFill>
            <a:srgbClr val="FFFFFF"/>
          </a:solidFill>
          <a:ln w="12700">
            <a:solidFill>
              <a:srgbClr val="CBD5E1"/>
            </a:solidFill>
            <a:prstDash val="solid"/>
          </a:ln>
          <a:effectLst>
            <a:outerShdw sx="100000" sy="100000" kx="0" ky="0" algn="bl" rotWithShape="0" blurRad="127000" dist="25400" dir="5400000">
              <a:srgbClr val="10233A">
                <a:alpha val="8000"/>
              </a:srgbClr>
            </a:outerShdw>
          </a:effectLst>
        </p:spPr>
      </p:sp>
      <p:sp>
        <p:nvSpPr>
          <p:cNvPr id="17" name="Shape 15"/>
          <p:cNvSpPr/>
          <p:nvPr/>
        </p:nvSpPr>
        <p:spPr>
          <a:xfrm>
            <a:off x="6233008" y="1664208"/>
            <a:ext cx="5391760" cy="640080"/>
          </a:xfrm>
          <a:prstGeom prst="roundRect">
            <a:avLst>
              <a:gd name="adj" fmla="val 10000"/>
            </a:avLst>
          </a:prstGeom>
          <a:solidFill>
            <a:srgbClr val="F1F5F9"/>
          </a:solidFill>
          <a:ln w="12700">
            <a:solidFill>
              <a:srgbClr val="CBD5E1"/>
            </a:solidFill>
            <a:prstDash val="solid"/>
          </a:ln>
        </p:spPr>
      </p:sp>
      <p:sp>
        <p:nvSpPr>
          <p:cNvPr id="18" name="Text 16"/>
          <p:cNvSpPr txBox="1"/>
          <p:nvPr/>
        </p:nvSpPr>
        <p:spPr>
          <a:xfrm>
            <a:off x="6543904" y="1664208"/>
            <a:ext cx="4769968" cy="640080"/>
          </a:xfrm>
          <a:prstGeom prst="rect">
            <a:avLst/>
          </a:prstGeom>
          <a:noFill/>
          <a:ln/>
        </p:spPr>
        <p:txBody>
          <a:bodyPr wrap="square" lIns="0" tIns="0" rIns="0" bIns="0" rtlCol="0" anchor="ctr"/>
          <a:lstStyle/>
          <a:p>
            <a:pPr indent="0" marL="0">
              <a:buNone/>
            </a:pPr>
            <a:r>
              <a:rPr lang="en-US" sz="1150" b="1" spc="150" kern="0" dirty="0">
                <a:solidFill>
                  <a:srgbClr val="33445B"/>
                </a:solidFill>
                <a:latin typeface="Segoe UI" pitchFamily="34" charset="0"/>
                <a:ea typeface="Segoe UI" pitchFamily="34" charset="-122"/>
                <a:cs typeface="Segoe UI" pitchFamily="34" charset="-120"/>
              </a:rPr>
              <a:t>WHEN YOU CHANGE YOUR MIND LATER</a:t>
            </a:r>
            <a:endParaRPr lang="en-US" sz="1150" dirty="0"/>
          </a:p>
        </p:txBody>
      </p:sp>
      <p:sp>
        <p:nvSpPr>
          <p:cNvPr id="19" name="Shape 17"/>
          <p:cNvSpPr/>
          <p:nvPr/>
        </p:nvSpPr>
        <p:spPr>
          <a:xfrm>
            <a:off x="6543904" y="2505456"/>
            <a:ext cx="274320" cy="274320"/>
          </a:xfrm>
          <a:prstGeom prst="ellipse">
            <a:avLst/>
          </a:prstGeom>
          <a:solidFill>
            <a:srgbClr val="33445B"/>
          </a:solidFill>
          <a:ln w="12700">
            <a:solidFill>
              <a:srgbClr val="33445B"/>
            </a:solidFill>
            <a:prstDash val="solid"/>
          </a:ln>
        </p:spPr>
      </p:sp>
      <p:sp>
        <p:nvSpPr>
          <p:cNvPr id="20" name="Text 18"/>
          <p:cNvSpPr txBox="1"/>
          <p:nvPr/>
        </p:nvSpPr>
        <p:spPr>
          <a:xfrm>
            <a:off x="6543904" y="25054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21" name="Text 19"/>
          <p:cNvSpPr txBox="1"/>
          <p:nvPr/>
        </p:nvSpPr>
        <p:spPr>
          <a:xfrm>
            <a:off x="6946240" y="2468880"/>
            <a:ext cx="4367632"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Any earlier pass can be reopened</a:t>
            </a:r>
            <a:endParaRPr lang="en-US" sz="1350" dirty="0"/>
          </a:p>
        </p:txBody>
      </p:sp>
      <p:sp>
        <p:nvSpPr>
          <p:cNvPr id="22" name="Text 20"/>
          <p:cNvSpPr txBox="1"/>
          <p:nvPr/>
        </p:nvSpPr>
        <p:spPr>
          <a:xfrm>
            <a:off x="6946240" y="2752344"/>
            <a:ext cx="4367632"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Come back to a session, change a single decision, and leave the rest alone. You do not re-run anything to correct one answer.</a:t>
            </a:r>
            <a:endParaRPr lang="en-US" sz="1150" dirty="0"/>
          </a:p>
        </p:txBody>
      </p:sp>
      <p:sp>
        <p:nvSpPr>
          <p:cNvPr id="23" name="Shape 21"/>
          <p:cNvSpPr/>
          <p:nvPr/>
        </p:nvSpPr>
        <p:spPr>
          <a:xfrm>
            <a:off x="6543904" y="3456432"/>
            <a:ext cx="274320" cy="274320"/>
          </a:xfrm>
          <a:prstGeom prst="ellipse">
            <a:avLst/>
          </a:prstGeom>
          <a:solidFill>
            <a:srgbClr val="33445B"/>
          </a:solidFill>
          <a:ln w="12700">
            <a:solidFill>
              <a:srgbClr val="33445B"/>
            </a:solidFill>
            <a:prstDash val="solid"/>
          </a:ln>
        </p:spPr>
      </p:sp>
      <p:sp>
        <p:nvSpPr>
          <p:cNvPr id="24" name="Text 22"/>
          <p:cNvSpPr txBox="1"/>
          <p:nvPr/>
        </p:nvSpPr>
        <p:spPr>
          <a:xfrm>
            <a:off x="6543904" y="3456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25" name="Text 23"/>
          <p:cNvSpPr txBox="1"/>
          <p:nvPr/>
        </p:nvSpPr>
        <p:spPr>
          <a:xfrm>
            <a:off x="6946240" y="3419856"/>
            <a:ext cx="4367632" cy="274320"/>
          </a:xfrm>
          <a:prstGeom prst="rect">
            <a:avLst/>
          </a:prstGeom>
          <a:noFill/>
          <a:ln/>
        </p:spPr>
        <p:txBody>
          <a:bodyPr wrap="square" lIns="0" tIns="0" rIns="0" bIns="0" rtlCol="0" anchor="ctr"/>
          <a:lstStyle/>
          <a:p>
            <a:pPr indent="0" marL="0">
              <a:buNone/>
            </a:pPr>
            <a:r>
              <a:rPr lang="en-US" sz="1350" b="1" dirty="0">
                <a:solidFill>
                  <a:srgbClr val="10233A"/>
                </a:solidFill>
                <a:latin typeface="Segoe UI" pitchFamily="34" charset="0"/>
                <a:ea typeface="Segoe UI" pitchFamily="34" charset="-122"/>
                <a:cs typeface="Segoe UI" pitchFamily="34" charset="-120"/>
              </a:rPr>
              <a:t>Changes are added, never erased</a:t>
            </a:r>
            <a:endParaRPr lang="en-US" sz="1350" dirty="0"/>
          </a:p>
        </p:txBody>
      </p:sp>
      <p:sp>
        <p:nvSpPr>
          <p:cNvPr id="26" name="Text 24"/>
          <p:cNvSpPr txBox="1"/>
          <p:nvPr/>
        </p:nvSpPr>
        <p:spPr>
          <a:xfrm>
            <a:off x="6946240" y="3703320"/>
            <a:ext cx="4367632" cy="64008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A changed decision is appended. What was originally decided, when, and by whom stays readable — because this is a clinical record, not a working document.</a:t>
            </a:r>
            <a:endParaRPr lang="en-US" sz="1150" dirty="0"/>
          </a:p>
        </p:txBody>
      </p:sp>
      <p:sp>
        <p:nvSpPr>
          <p:cNvPr id="27" name="Shape 25"/>
          <p:cNvSpPr/>
          <p:nvPr/>
        </p:nvSpPr>
        <p:spPr>
          <a:xfrm>
            <a:off x="566928" y="4590288"/>
            <a:ext cx="11057839" cy="1517904"/>
          </a:xfrm>
          <a:prstGeom prst="roundRect">
            <a:avLst>
              <a:gd name="adj" fmla="val 4217"/>
            </a:avLst>
          </a:prstGeom>
          <a:solidFill>
            <a:srgbClr val="10233A"/>
          </a:solidFill>
          <a:ln w="12700">
            <a:solidFill>
              <a:srgbClr val="10233A"/>
            </a:solidFill>
            <a:prstDash val="solid"/>
          </a:ln>
          <a:effectLst>
            <a:outerShdw sx="100000" sy="100000" kx="0" ky="0" algn="bl" rotWithShape="0" blurRad="127000" dist="25400" dir="5400000">
              <a:srgbClr val="10233A">
                <a:alpha val="8000"/>
              </a:srgbClr>
            </a:outerShdw>
          </a:effectLst>
        </p:spPr>
      </p:sp>
      <p:sp>
        <p:nvSpPr>
          <p:cNvPr id="28" name="Text 26"/>
          <p:cNvSpPr txBox="1"/>
          <p:nvPr/>
        </p:nvSpPr>
        <p:spPr>
          <a:xfrm>
            <a:off x="969264" y="4773168"/>
            <a:ext cx="10253167" cy="274320"/>
          </a:xfrm>
          <a:prstGeom prst="rect">
            <a:avLst/>
          </a:prstGeom>
          <a:noFill/>
          <a:ln/>
        </p:spPr>
        <p:txBody>
          <a:bodyPr wrap="square" lIns="0" tIns="0" rIns="0" bIns="0" rtlCol="0" anchor="ctr"/>
          <a:lstStyle/>
          <a:p>
            <a:pPr indent="0" marL="0">
              <a:buNone/>
            </a:pPr>
            <a:r>
              <a:rPr lang="en-US" sz="1050" b="1" spc="200" kern="0" dirty="0">
                <a:solidFill>
                  <a:srgbClr val="5EC5B8"/>
                </a:solidFill>
                <a:latin typeface="Segoe UI" pitchFamily="34" charset="0"/>
                <a:ea typeface="Segoe UI" pitchFamily="34" charset="-122"/>
                <a:cs typeface="Segoe UI" pitchFamily="34" charset="-120"/>
              </a:rPr>
              <a:t>AND IT LOCKS AT SIGNATURE</a:t>
            </a:r>
            <a:endParaRPr lang="en-US" sz="1050" dirty="0"/>
          </a:p>
        </p:txBody>
      </p:sp>
      <p:sp>
        <p:nvSpPr>
          <p:cNvPr id="29" name="Text 27"/>
          <p:cNvSpPr txBox="1"/>
          <p:nvPr/>
        </p:nvSpPr>
        <p:spPr>
          <a:xfrm>
            <a:off x="969264" y="5102352"/>
            <a:ext cx="5120640" cy="566928"/>
          </a:xfrm>
          <a:prstGeom prst="rect">
            <a:avLst/>
          </a:prstGeom>
          <a:noFill/>
          <a:ln/>
        </p:spPr>
        <p:txBody>
          <a:bodyPr wrap="square" lIns="0" tIns="0" rIns="0" bIns="0" rtlCol="0" anchor="ctr"/>
          <a:lstStyle/>
          <a:p>
            <a:pPr indent="0" marL="0">
              <a:lnSpc>
                <a:spcPts val="2000"/>
              </a:lnSpc>
              <a:buNone/>
            </a:pPr>
            <a:r>
              <a:rPr lang="en-US" sz="1450" b="1" dirty="0">
                <a:solidFill>
                  <a:srgbClr val="FFFFFF"/>
                </a:solidFill>
                <a:latin typeface="Segoe UI" pitchFamily="34" charset="0"/>
                <a:ea typeface="Segoe UI" pitchFamily="34" charset="-122"/>
                <a:cs typeface="Segoe UI" pitchFamily="34" charset="-120"/>
              </a:rPr>
              <a:t>Before you sign, the record is a working document and any decision can be changed.</a:t>
            </a:r>
            <a:endParaRPr lang="en-US" sz="1450" dirty="0"/>
          </a:p>
        </p:txBody>
      </p:sp>
      <p:sp>
        <p:nvSpPr>
          <p:cNvPr id="30" name="Text 28"/>
          <p:cNvSpPr txBox="1"/>
          <p:nvPr/>
        </p:nvSpPr>
        <p:spPr>
          <a:xfrm>
            <a:off x="6419088" y="5102352"/>
            <a:ext cx="5120640" cy="822960"/>
          </a:xfrm>
          <a:prstGeom prst="rect">
            <a:avLst/>
          </a:prstGeom>
          <a:noFill/>
          <a:ln/>
        </p:spPr>
        <p:txBody>
          <a:bodyPr wrap="square" lIns="0" tIns="0" rIns="0" bIns="0" rtlCol="0" anchor="ctr"/>
          <a:lstStyle/>
          <a:p>
            <a:pPr indent="0" marL="0">
              <a:lnSpc>
                <a:spcPts val="1700"/>
              </a:lnSpc>
              <a:buNone/>
            </a:pPr>
            <a:r>
              <a:rPr lang="en-US" sz="1250" dirty="0">
                <a:solidFill>
                  <a:srgbClr val="9DB3C8"/>
                </a:solidFill>
                <a:latin typeface="Segoe UI" pitchFamily="34" charset="0"/>
                <a:ea typeface="Segoe UI" pitchFamily="34" charset="-122"/>
                <a:cs typeface="Segoe UI" pitchFamily="34" charset="-120"/>
              </a:rPr>
              <a:t>After you sign, it is closed. A later change is an amendment — it carries its own author, timestamp and reason, and it appears alongside the original rather than replacing it.</a:t>
            </a:r>
            <a:endParaRPr lang="en-US" sz="1250" dirty="0"/>
          </a:p>
        </p:txBody>
      </p:sp>
      <p:sp>
        <p:nvSpPr>
          <p:cNvPr id="31" name="Shape 29"/>
          <p:cNvSpPr/>
          <p:nvPr/>
        </p:nvSpPr>
        <p:spPr>
          <a:xfrm>
            <a:off x="6126480" y="5102352"/>
            <a:ext cx="10973" cy="685800"/>
          </a:xfrm>
          <a:prstGeom prst="rect">
            <a:avLst/>
          </a:prstGeom>
          <a:solidFill>
            <a:srgbClr val="31506F"/>
          </a:solidFill>
          <a:ln w="12700">
            <a:solidFill>
              <a:srgbClr val="31506F"/>
            </a:solidFill>
            <a:prstDash val="solid"/>
          </a:ln>
        </p:spPr>
      </p:sp>
      <p:sp>
        <p:nvSpPr>
          <p:cNvPr id="32" name="Text 30"/>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33" name="Text 31"/>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0F766E"/>
                </a:solidFill>
                <a:latin typeface="Segoe UI" pitchFamily="34" charset="0"/>
                <a:ea typeface="Segoe UI" pitchFamily="34" charset="-122"/>
                <a:cs typeface="Segoe UI" pitchFamily="34" charset="-120"/>
              </a:rPr>
              <a:t>IN SUMMARY</a:t>
            </a:r>
            <a:endParaRPr lang="en-US" sz="1050" dirty="0"/>
          </a:p>
        </p:txBody>
      </p:sp>
      <p:sp>
        <p:nvSpPr>
          <p:cNvPr id="3" name="Text 1"/>
          <p:cNvSpPr txBox="1"/>
          <p:nvPr/>
        </p:nvSpPr>
        <p:spPr>
          <a:xfrm>
            <a:off x="566928" y="603504"/>
            <a:ext cx="11057839" cy="512064"/>
          </a:xfrm>
          <a:prstGeom prst="rect">
            <a:avLst/>
          </a:prstGeom>
          <a:noFill/>
          <a:ln/>
        </p:spPr>
        <p:txBody>
          <a:bodyPr wrap="square" lIns="0" tIns="0" rIns="0" bIns="0" rtlCol="0" anchor="ctr"/>
          <a:lstStyle/>
          <a:p>
            <a:pPr indent="0" marL="0">
              <a:buNone/>
            </a:pPr>
            <a:r>
              <a:rPr lang="en-US" sz="3000" b="1" dirty="0">
                <a:solidFill>
                  <a:srgbClr val="10233A"/>
                </a:solidFill>
                <a:latin typeface="Segoe UI" pitchFamily="34" charset="0"/>
                <a:ea typeface="Segoe UI" pitchFamily="34" charset="-122"/>
                <a:cs typeface="Segoe UI" pitchFamily="34" charset="-120"/>
              </a:rPr>
              <a:t>What changes for the provider</a:t>
            </a:r>
            <a:endParaRPr lang="en-US" sz="3000" dirty="0"/>
          </a:p>
        </p:txBody>
      </p:sp>
      <p:sp>
        <p:nvSpPr>
          <p:cNvPr id="4" name="Text 2"/>
          <p:cNvSpPr txBox="1"/>
          <p:nvPr/>
        </p:nvSpPr>
        <p:spPr>
          <a:xfrm>
            <a:off x="566928" y="1133856"/>
            <a:ext cx="11057839" cy="274320"/>
          </a:xfrm>
          <a:prstGeom prst="rect">
            <a:avLst/>
          </a:prstGeom>
          <a:noFill/>
          <a:ln/>
        </p:spPr>
        <p:txBody>
          <a:bodyPr wrap="square" lIns="0" tIns="0" rIns="0" bIns="0" rtlCol="0" anchor="ctr"/>
          <a:lstStyle/>
          <a:p>
            <a:pPr indent="0" marL="0">
              <a:buNone/>
            </a:pPr>
            <a:r>
              <a:rPr lang="en-US" sz="1350" dirty="0">
                <a:solidFill>
                  <a:srgbClr val="64748B"/>
                </a:solidFill>
                <a:latin typeface="Segoe UI" pitchFamily="34" charset="0"/>
                <a:ea typeface="Segoe UI" pitchFamily="34" charset="-122"/>
                <a:cs typeface="Segoe UI" pitchFamily="34" charset="-120"/>
              </a:rPr>
              <a:t>Six differences a clinician will notice in the first week.</a:t>
            </a:r>
            <a:endParaRPr lang="en-US" sz="1350" dirty="0"/>
          </a:p>
        </p:txBody>
      </p:sp>
      <p:sp>
        <p:nvSpPr>
          <p:cNvPr id="5" name="Text 3"/>
          <p:cNvSpPr txBox="1"/>
          <p:nvPr/>
        </p:nvSpPr>
        <p:spPr>
          <a:xfrm>
            <a:off x="566928" y="1737360"/>
            <a:ext cx="11057839" cy="402336"/>
          </a:xfrm>
          <a:prstGeom prst="rect">
            <a:avLst/>
          </a:prstGeom>
          <a:noFill/>
          <a:ln/>
        </p:spPr>
        <p:txBody>
          <a:bodyPr wrap="square" lIns="0" tIns="0" rIns="0" bIns="0" rtlCol="0" anchor="ctr"/>
          <a:lstStyle/>
          <a:p>
            <a:pPr indent="0" marL="0">
              <a:buNone/>
            </a:pPr>
            <a:endParaRPr lang="en-US" dirty="0"/>
          </a:p>
        </p:txBody>
      </p:sp>
      <p:sp>
        <p:nvSpPr>
          <p:cNvPr id="6" name="Shape 4"/>
          <p:cNvSpPr/>
          <p:nvPr/>
        </p:nvSpPr>
        <p:spPr>
          <a:xfrm>
            <a:off x="3621024" y="1737360"/>
            <a:ext cx="3913632" cy="402336"/>
          </a:xfrm>
          <a:prstGeom prst="roundRect">
            <a:avLst>
              <a:gd name="adj" fmla="val 9091"/>
            </a:avLst>
          </a:prstGeom>
          <a:solidFill>
            <a:srgbClr val="F1F5F9"/>
          </a:solidFill>
          <a:ln w="12700">
            <a:solidFill>
              <a:srgbClr val="CBD5E1"/>
            </a:solidFill>
            <a:prstDash val="solid"/>
          </a:ln>
        </p:spPr>
      </p:sp>
      <p:sp>
        <p:nvSpPr>
          <p:cNvPr id="7" name="Shape 5"/>
          <p:cNvSpPr/>
          <p:nvPr/>
        </p:nvSpPr>
        <p:spPr>
          <a:xfrm>
            <a:off x="7534656" y="1737360"/>
            <a:ext cx="4090111" cy="402336"/>
          </a:xfrm>
          <a:prstGeom prst="roundRect">
            <a:avLst>
              <a:gd name="adj" fmla="val 9091"/>
            </a:avLst>
          </a:prstGeom>
          <a:solidFill>
            <a:srgbClr val="CCE6E4"/>
          </a:solidFill>
          <a:ln w="12700">
            <a:solidFill>
              <a:srgbClr val="0F766E"/>
            </a:solidFill>
            <a:prstDash val="solid"/>
          </a:ln>
        </p:spPr>
      </p:sp>
      <p:sp>
        <p:nvSpPr>
          <p:cNvPr id="8" name="Text 6"/>
          <p:cNvSpPr txBox="1"/>
          <p:nvPr/>
        </p:nvSpPr>
        <p:spPr>
          <a:xfrm>
            <a:off x="3840480" y="1737360"/>
            <a:ext cx="3547872" cy="402336"/>
          </a:xfrm>
          <a:prstGeom prst="rect">
            <a:avLst/>
          </a:prstGeom>
          <a:noFill/>
          <a:ln/>
        </p:spPr>
        <p:txBody>
          <a:bodyPr wrap="square" lIns="0" tIns="0" rIns="0" bIns="0" rtlCol="0" anchor="ctr"/>
          <a:lstStyle/>
          <a:p>
            <a:pPr indent="0" marL="0">
              <a:buNone/>
            </a:pPr>
            <a:r>
              <a:rPr lang="en-US" sz="1100" b="1" spc="180" kern="0" dirty="0">
                <a:solidFill>
                  <a:srgbClr val="64748B"/>
                </a:solidFill>
                <a:latin typeface="Segoe UI" pitchFamily="34" charset="0"/>
                <a:ea typeface="Segoe UI" pitchFamily="34" charset="-122"/>
                <a:cs typeface="Segoe UI" pitchFamily="34" charset="-120"/>
              </a:rPr>
              <a:t>TODAY</a:t>
            </a:r>
            <a:endParaRPr lang="en-US" sz="1100" dirty="0"/>
          </a:p>
        </p:txBody>
      </p:sp>
      <p:sp>
        <p:nvSpPr>
          <p:cNvPr id="9" name="Text 7"/>
          <p:cNvSpPr txBox="1"/>
          <p:nvPr/>
        </p:nvSpPr>
        <p:spPr>
          <a:xfrm>
            <a:off x="7754112" y="1737360"/>
            <a:ext cx="3724351" cy="402336"/>
          </a:xfrm>
          <a:prstGeom prst="rect">
            <a:avLst/>
          </a:prstGeom>
          <a:noFill/>
          <a:ln/>
        </p:spPr>
        <p:txBody>
          <a:bodyPr wrap="square" lIns="0" tIns="0" rIns="0" bIns="0" rtlCol="0" anchor="ctr"/>
          <a:lstStyle/>
          <a:p>
            <a:pPr indent="0" marL="0">
              <a:buNone/>
            </a:pPr>
            <a:r>
              <a:rPr lang="en-US" sz="1100" b="1" spc="180" kern="0" dirty="0">
                <a:solidFill>
                  <a:srgbClr val="0F766E"/>
                </a:solidFill>
                <a:latin typeface="Segoe UI" pitchFamily="34" charset="0"/>
                <a:ea typeface="Segoe UI" pitchFamily="34" charset="-122"/>
                <a:cs typeface="Segoe UI" pitchFamily="34" charset="-120"/>
              </a:rPr>
              <a:t>AFTER</a:t>
            </a:r>
            <a:endParaRPr lang="en-US" sz="1100" dirty="0"/>
          </a:p>
        </p:txBody>
      </p:sp>
      <p:sp>
        <p:nvSpPr>
          <p:cNvPr id="10" name="Shape 8"/>
          <p:cNvSpPr/>
          <p:nvPr/>
        </p:nvSpPr>
        <p:spPr>
          <a:xfrm>
            <a:off x="566928" y="2807208"/>
            <a:ext cx="11057839" cy="7315"/>
          </a:xfrm>
          <a:prstGeom prst="rect">
            <a:avLst/>
          </a:prstGeom>
          <a:solidFill>
            <a:srgbClr val="E7EDF3"/>
          </a:solidFill>
          <a:ln w="12700">
            <a:solidFill>
              <a:srgbClr val="E7EDF3"/>
            </a:solidFill>
            <a:prstDash val="solid"/>
          </a:ln>
        </p:spPr>
      </p:sp>
      <p:sp>
        <p:nvSpPr>
          <p:cNvPr id="11" name="Text 9"/>
          <p:cNvSpPr txBox="1"/>
          <p:nvPr/>
        </p:nvSpPr>
        <p:spPr>
          <a:xfrm>
            <a:off x="658368" y="2139696"/>
            <a:ext cx="2779776" cy="667512"/>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Who decides what is charted</a:t>
            </a:r>
            <a:endParaRPr lang="en-US" sz="1250" dirty="0"/>
          </a:p>
        </p:txBody>
      </p:sp>
      <p:sp>
        <p:nvSpPr>
          <p:cNvPr id="12" name="Text 10"/>
          <p:cNvSpPr txBox="1"/>
          <p:nvPr/>
        </p:nvSpPr>
        <p:spPr>
          <a:xfrm>
            <a:off x="3840480" y="2139696"/>
            <a:ext cx="3474720" cy="66751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The system submits the encounter one second after the AI replies.</a:t>
            </a:r>
            <a:endParaRPr lang="en-US" sz="1150" dirty="0"/>
          </a:p>
        </p:txBody>
      </p:sp>
      <p:sp>
        <p:nvSpPr>
          <p:cNvPr id="13" name="Text 11"/>
          <p:cNvSpPr txBox="1"/>
          <p:nvPr/>
        </p:nvSpPr>
        <p:spPr>
          <a:xfrm>
            <a:off x="7754112" y="2139696"/>
            <a:ext cx="3651199" cy="667512"/>
          </a:xfrm>
          <a:prstGeom prst="rect">
            <a:avLst/>
          </a:prstGeom>
          <a:noFill/>
          <a:ln/>
        </p:spPr>
        <p:txBody>
          <a:bodyPr wrap="square" lIns="0" tIns="0" rIns="0" bIns="0" rtlCol="0" anchor="ctr"/>
          <a:lstStyle/>
          <a:p>
            <a:pPr indent="0" marL="0">
              <a:lnSpc>
                <a:spcPts val="1500"/>
              </a:lnSpc>
              <a:buNone/>
            </a:pPr>
            <a:r>
              <a:rPr lang="en-US" sz="1150" dirty="0">
                <a:solidFill>
                  <a:srgbClr val="33445B"/>
                </a:solidFill>
                <a:latin typeface="Segoe UI" pitchFamily="34" charset="0"/>
                <a:ea typeface="Segoe UI" pitchFamily="34" charset="-122"/>
                <a:cs typeface="Segoe UI" pitchFamily="34" charset="-120"/>
              </a:rPr>
              <a:t>You do. Nothing is written until you have answered for every flagged field.</a:t>
            </a:r>
            <a:endParaRPr lang="en-US" sz="1150" dirty="0"/>
          </a:p>
        </p:txBody>
      </p:sp>
      <p:sp>
        <p:nvSpPr>
          <p:cNvPr id="14" name="Shape 12"/>
          <p:cNvSpPr/>
          <p:nvPr/>
        </p:nvSpPr>
        <p:spPr>
          <a:xfrm>
            <a:off x="566928" y="2807208"/>
            <a:ext cx="11057839" cy="667512"/>
          </a:xfrm>
          <a:prstGeom prst="rect">
            <a:avLst/>
          </a:prstGeom>
          <a:solidFill>
            <a:srgbClr val="F8FAFC"/>
          </a:solidFill>
          <a:ln w="12700">
            <a:solidFill>
              <a:srgbClr val="F8FAFC"/>
            </a:solidFill>
            <a:prstDash val="solid"/>
          </a:ln>
        </p:spPr>
      </p:sp>
      <p:sp>
        <p:nvSpPr>
          <p:cNvPr id="15" name="Shape 13"/>
          <p:cNvSpPr/>
          <p:nvPr/>
        </p:nvSpPr>
        <p:spPr>
          <a:xfrm>
            <a:off x="566928" y="3474720"/>
            <a:ext cx="11057839" cy="7315"/>
          </a:xfrm>
          <a:prstGeom prst="rect">
            <a:avLst/>
          </a:prstGeom>
          <a:solidFill>
            <a:srgbClr val="E7EDF3"/>
          </a:solidFill>
          <a:ln w="12700">
            <a:solidFill>
              <a:srgbClr val="E7EDF3"/>
            </a:solidFill>
            <a:prstDash val="solid"/>
          </a:ln>
        </p:spPr>
      </p:sp>
      <p:sp>
        <p:nvSpPr>
          <p:cNvPr id="16" name="Text 14"/>
          <p:cNvSpPr txBox="1"/>
          <p:nvPr/>
        </p:nvSpPr>
        <p:spPr>
          <a:xfrm>
            <a:off x="658368" y="2807208"/>
            <a:ext cx="2779776" cy="667512"/>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How much you are asked</a:t>
            </a:r>
            <a:endParaRPr lang="en-US" sz="1250" dirty="0"/>
          </a:p>
        </p:txBody>
      </p:sp>
      <p:sp>
        <p:nvSpPr>
          <p:cNvPr id="17" name="Text 15"/>
          <p:cNvSpPr txBox="1"/>
          <p:nvPr/>
        </p:nvSpPr>
        <p:spPr>
          <a:xfrm>
            <a:off x="3840480" y="2807208"/>
            <a:ext cx="3474720" cy="66751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Nothing — and equally, nothing is shown to you.</a:t>
            </a:r>
            <a:endParaRPr lang="en-US" sz="1150" dirty="0"/>
          </a:p>
        </p:txBody>
      </p:sp>
      <p:sp>
        <p:nvSpPr>
          <p:cNvPr id="18" name="Text 16"/>
          <p:cNvSpPr txBox="1"/>
          <p:nvPr/>
        </p:nvSpPr>
        <p:spPr>
          <a:xfrm>
            <a:off x="7754112" y="2807208"/>
            <a:ext cx="3651199" cy="667512"/>
          </a:xfrm>
          <a:prstGeom prst="rect">
            <a:avLst/>
          </a:prstGeom>
          <a:noFill/>
          <a:ln/>
        </p:spPr>
        <p:txBody>
          <a:bodyPr wrap="square" lIns="0" tIns="0" rIns="0" bIns="0" rtlCol="0" anchor="ctr"/>
          <a:lstStyle/>
          <a:p>
            <a:pPr indent="0" marL="0">
              <a:lnSpc>
                <a:spcPts val="1500"/>
              </a:lnSpc>
              <a:buNone/>
            </a:pPr>
            <a:r>
              <a:rPr lang="en-US" sz="1150" dirty="0">
                <a:solidFill>
                  <a:srgbClr val="33445B"/>
                </a:solidFill>
                <a:latin typeface="Segoe UI" pitchFamily="34" charset="0"/>
                <a:ea typeface="Segoe UI" pitchFamily="34" charset="-122"/>
                <a:cs typeface="Segoe UI" pitchFamily="34" charset="-120"/>
              </a:rPr>
              <a:t>Only the values the system was unsure of, or that failed a check, or that look clinically alarming.</a:t>
            </a:r>
            <a:endParaRPr lang="en-US" sz="1150" dirty="0"/>
          </a:p>
        </p:txBody>
      </p:sp>
      <p:sp>
        <p:nvSpPr>
          <p:cNvPr id="19" name="Shape 17"/>
          <p:cNvSpPr/>
          <p:nvPr/>
        </p:nvSpPr>
        <p:spPr>
          <a:xfrm>
            <a:off x="566928" y="4142232"/>
            <a:ext cx="11057839" cy="7315"/>
          </a:xfrm>
          <a:prstGeom prst="rect">
            <a:avLst/>
          </a:prstGeom>
          <a:solidFill>
            <a:srgbClr val="E7EDF3"/>
          </a:solidFill>
          <a:ln w="12700">
            <a:solidFill>
              <a:srgbClr val="E7EDF3"/>
            </a:solidFill>
            <a:prstDash val="solid"/>
          </a:ln>
        </p:spPr>
      </p:sp>
      <p:sp>
        <p:nvSpPr>
          <p:cNvPr id="20" name="Text 18"/>
          <p:cNvSpPr txBox="1"/>
          <p:nvPr/>
        </p:nvSpPr>
        <p:spPr>
          <a:xfrm>
            <a:off x="658368" y="3474720"/>
            <a:ext cx="2779776" cy="667512"/>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Telling AI values apart</a:t>
            </a:r>
            <a:endParaRPr lang="en-US" sz="1250" dirty="0"/>
          </a:p>
        </p:txBody>
      </p:sp>
      <p:sp>
        <p:nvSpPr>
          <p:cNvPr id="21" name="Text 19"/>
          <p:cNvSpPr txBox="1"/>
          <p:nvPr/>
        </p:nvSpPr>
        <p:spPr>
          <a:xfrm>
            <a:off x="3840480" y="3474720"/>
            <a:ext cx="3474720" cy="66751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You cannot. An AI value looks identical to one you typed.</a:t>
            </a:r>
            <a:endParaRPr lang="en-US" sz="1150" dirty="0"/>
          </a:p>
        </p:txBody>
      </p:sp>
      <p:sp>
        <p:nvSpPr>
          <p:cNvPr id="22" name="Text 20"/>
          <p:cNvSpPr txBox="1"/>
          <p:nvPr/>
        </p:nvSpPr>
        <p:spPr>
          <a:xfrm>
            <a:off x="7754112" y="3474720"/>
            <a:ext cx="3651199" cy="667512"/>
          </a:xfrm>
          <a:prstGeom prst="rect">
            <a:avLst/>
          </a:prstGeom>
          <a:noFill/>
          <a:ln/>
        </p:spPr>
        <p:txBody>
          <a:bodyPr wrap="square" lIns="0" tIns="0" rIns="0" bIns="0" rtlCol="0" anchor="ctr"/>
          <a:lstStyle/>
          <a:p>
            <a:pPr indent="0" marL="0">
              <a:lnSpc>
                <a:spcPts val="1500"/>
              </a:lnSpc>
              <a:buNone/>
            </a:pPr>
            <a:r>
              <a:rPr lang="en-US" sz="1150" dirty="0">
                <a:solidFill>
                  <a:srgbClr val="33445B"/>
                </a:solidFill>
                <a:latin typeface="Segoe UI" pitchFamily="34" charset="0"/>
                <a:ea typeface="Segoe UI" pitchFamily="34" charset="-122"/>
                <a:cs typeface="Segoe UI" pitchFamily="34" charset="-120"/>
              </a:rPr>
              <a:t>Each row is coloured by what happened to it and labelled with where it came from.</a:t>
            </a:r>
            <a:endParaRPr lang="en-US" sz="1150" dirty="0"/>
          </a:p>
        </p:txBody>
      </p:sp>
      <p:sp>
        <p:nvSpPr>
          <p:cNvPr id="23" name="Shape 21"/>
          <p:cNvSpPr/>
          <p:nvPr/>
        </p:nvSpPr>
        <p:spPr>
          <a:xfrm>
            <a:off x="566928" y="4142232"/>
            <a:ext cx="11057839" cy="667512"/>
          </a:xfrm>
          <a:prstGeom prst="rect">
            <a:avLst/>
          </a:prstGeom>
          <a:solidFill>
            <a:srgbClr val="F8FAFC"/>
          </a:solidFill>
          <a:ln w="12700">
            <a:solidFill>
              <a:srgbClr val="F8FAFC"/>
            </a:solidFill>
            <a:prstDash val="solid"/>
          </a:ln>
        </p:spPr>
      </p:sp>
      <p:sp>
        <p:nvSpPr>
          <p:cNvPr id="24" name="Shape 22"/>
          <p:cNvSpPr/>
          <p:nvPr/>
        </p:nvSpPr>
        <p:spPr>
          <a:xfrm>
            <a:off x="566928" y="4809744"/>
            <a:ext cx="11057839" cy="7315"/>
          </a:xfrm>
          <a:prstGeom prst="rect">
            <a:avLst/>
          </a:prstGeom>
          <a:solidFill>
            <a:srgbClr val="E7EDF3"/>
          </a:solidFill>
          <a:ln w="12700">
            <a:solidFill>
              <a:srgbClr val="E7EDF3"/>
            </a:solidFill>
            <a:prstDash val="solid"/>
          </a:ln>
        </p:spPr>
      </p:sp>
      <p:sp>
        <p:nvSpPr>
          <p:cNvPr id="25" name="Text 23"/>
          <p:cNvSpPr txBox="1"/>
          <p:nvPr/>
        </p:nvSpPr>
        <p:spPr>
          <a:xfrm>
            <a:off x="658368" y="4142232"/>
            <a:ext cx="2779776" cy="667512"/>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Checking a value</a:t>
            </a:r>
            <a:endParaRPr lang="en-US" sz="1250" dirty="0"/>
          </a:p>
        </p:txBody>
      </p:sp>
      <p:sp>
        <p:nvSpPr>
          <p:cNvPr id="26" name="Text 24"/>
          <p:cNvSpPr txBox="1"/>
          <p:nvPr/>
        </p:nvSpPr>
        <p:spPr>
          <a:xfrm>
            <a:off x="3840480" y="4142232"/>
            <a:ext cx="3474720" cy="66751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Re-read the dictation and work it out yourself.</a:t>
            </a:r>
            <a:endParaRPr lang="en-US" sz="1150" dirty="0"/>
          </a:p>
        </p:txBody>
      </p:sp>
      <p:sp>
        <p:nvSpPr>
          <p:cNvPr id="27" name="Text 25"/>
          <p:cNvSpPr txBox="1"/>
          <p:nvPr/>
        </p:nvSpPr>
        <p:spPr>
          <a:xfrm>
            <a:off x="7754112" y="4142232"/>
            <a:ext cx="3651199" cy="667512"/>
          </a:xfrm>
          <a:prstGeom prst="rect">
            <a:avLst/>
          </a:prstGeom>
          <a:noFill/>
          <a:ln/>
        </p:spPr>
        <p:txBody>
          <a:bodyPr wrap="square" lIns="0" tIns="0" rIns="0" bIns="0" rtlCol="0" anchor="ctr"/>
          <a:lstStyle/>
          <a:p>
            <a:pPr indent="0" marL="0">
              <a:lnSpc>
                <a:spcPts val="1500"/>
              </a:lnSpc>
              <a:buNone/>
            </a:pPr>
            <a:r>
              <a:rPr lang="en-US" sz="1150" dirty="0">
                <a:solidFill>
                  <a:srgbClr val="33445B"/>
                </a:solidFill>
                <a:latin typeface="Segoe UI" pitchFamily="34" charset="0"/>
                <a:ea typeface="Segoe UI" pitchFamily="34" charset="-122"/>
                <a:cs typeface="Segoe UI" pitchFamily="34" charset="-120"/>
              </a:rPr>
              <a:t>One click opens the sentence that produced it, highlighted.</a:t>
            </a:r>
            <a:endParaRPr lang="en-US" sz="1150" dirty="0"/>
          </a:p>
        </p:txBody>
      </p:sp>
      <p:sp>
        <p:nvSpPr>
          <p:cNvPr id="28" name="Shape 26"/>
          <p:cNvSpPr/>
          <p:nvPr/>
        </p:nvSpPr>
        <p:spPr>
          <a:xfrm>
            <a:off x="566928" y="5477256"/>
            <a:ext cx="11057839" cy="7315"/>
          </a:xfrm>
          <a:prstGeom prst="rect">
            <a:avLst/>
          </a:prstGeom>
          <a:solidFill>
            <a:srgbClr val="E7EDF3"/>
          </a:solidFill>
          <a:ln w="12700">
            <a:solidFill>
              <a:srgbClr val="E7EDF3"/>
            </a:solidFill>
            <a:prstDash val="solid"/>
          </a:ln>
        </p:spPr>
      </p:sp>
      <p:sp>
        <p:nvSpPr>
          <p:cNvPr id="29" name="Text 27"/>
          <p:cNvSpPr txBox="1"/>
          <p:nvPr/>
        </p:nvSpPr>
        <p:spPr>
          <a:xfrm>
            <a:off x="658368" y="4809744"/>
            <a:ext cx="2779776" cy="667512"/>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Correcting the AI</a:t>
            </a:r>
            <a:endParaRPr lang="en-US" sz="1250" dirty="0"/>
          </a:p>
        </p:txBody>
      </p:sp>
      <p:sp>
        <p:nvSpPr>
          <p:cNvPr id="30" name="Text 28"/>
          <p:cNvSpPr txBox="1"/>
          <p:nvPr/>
        </p:nvSpPr>
        <p:spPr>
          <a:xfrm>
            <a:off x="3840480" y="4809744"/>
            <a:ext cx="3474720" cy="66751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Re-run the entire note and lose the corrections you already made.</a:t>
            </a:r>
            <a:endParaRPr lang="en-US" sz="1150" dirty="0"/>
          </a:p>
        </p:txBody>
      </p:sp>
      <p:sp>
        <p:nvSpPr>
          <p:cNvPr id="31" name="Text 29"/>
          <p:cNvSpPr txBox="1"/>
          <p:nvPr/>
        </p:nvSpPr>
        <p:spPr>
          <a:xfrm>
            <a:off x="7754112" y="4809744"/>
            <a:ext cx="3651199" cy="667512"/>
          </a:xfrm>
          <a:prstGeom prst="rect">
            <a:avLst/>
          </a:prstGeom>
          <a:noFill/>
          <a:ln/>
        </p:spPr>
        <p:txBody>
          <a:bodyPr wrap="square" lIns="0" tIns="0" rIns="0" bIns="0" rtlCol="0" anchor="ctr"/>
          <a:lstStyle/>
          <a:p>
            <a:pPr indent="0" marL="0">
              <a:lnSpc>
                <a:spcPts val="1500"/>
              </a:lnSpc>
              <a:buNone/>
            </a:pPr>
            <a:r>
              <a:rPr lang="en-US" sz="1150" dirty="0">
                <a:solidFill>
                  <a:srgbClr val="33445B"/>
                </a:solidFill>
                <a:latin typeface="Segoe UI" pitchFamily="34" charset="0"/>
                <a:ea typeface="Segoe UI" pitchFamily="34" charset="-122"/>
                <a:cs typeface="Segoe UI" pitchFamily="34" charset="-120"/>
              </a:rPr>
              <a:t>Name the field, say the correction, press Execute. Everything else is untouched.</a:t>
            </a:r>
            <a:endParaRPr lang="en-US" sz="1150" dirty="0"/>
          </a:p>
        </p:txBody>
      </p:sp>
      <p:sp>
        <p:nvSpPr>
          <p:cNvPr id="32" name="Shape 30"/>
          <p:cNvSpPr/>
          <p:nvPr/>
        </p:nvSpPr>
        <p:spPr>
          <a:xfrm>
            <a:off x="566928" y="5477256"/>
            <a:ext cx="11057839" cy="667512"/>
          </a:xfrm>
          <a:prstGeom prst="rect">
            <a:avLst/>
          </a:prstGeom>
          <a:solidFill>
            <a:srgbClr val="F8FAFC"/>
          </a:solidFill>
          <a:ln w="12700">
            <a:solidFill>
              <a:srgbClr val="F8FAFC"/>
            </a:solidFill>
            <a:prstDash val="solid"/>
          </a:ln>
        </p:spPr>
      </p:sp>
      <p:sp>
        <p:nvSpPr>
          <p:cNvPr id="33" name="Shape 31"/>
          <p:cNvSpPr/>
          <p:nvPr/>
        </p:nvSpPr>
        <p:spPr>
          <a:xfrm>
            <a:off x="566928" y="6144768"/>
            <a:ext cx="11057839" cy="7315"/>
          </a:xfrm>
          <a:prstGeom prst="rect">
            <a:avLst/>
          </a:prstGeom>
          <a:solidFill>
            <a:srgbClr val="E7EDF3"/>
          </a:solidFill>
          <a:ln w="12700">
            <a:solidFill>
              <a:srgbClr val="E7EDF3"/>
            </a:solidFill>
            <a:prstDash val="solid"/>
          </a:ln>
        </p:spPr>
      </p:sp>
      <p:sp>
        <p:nvSpPr>
          <p:cNvPr id="34" name="Text 32"/>
          <p:cNvSpPr txBox="1"/>
          <p:nvPr/>
        </p:nvSpPr>
        <p:spPr>
          <a:xfrm>
            <a:off x="658368" y="5477256"/>
            <a:ext cx="2779776" cy="667512"/>
          </a:xfrm>
          <a:prstGeom prst="rect">
            <a:avLst/>
          </a:prstGeom>
          <a:noFill/>
          <a:ln/>
        </p:spPr>
        <p:txBody>
          <a:bodyPr wrap="square" lIns="0" tIns="0" rIns="0" bIns="0" rtlCol="0" anchor="ctr"/>
          <a:lstStyle/>
          <a:p>
            <a:pPr indent="0" marL="0">
              <a:lnSpc>
                <a:spcPts val="1600"/>
              </a:lnSpc>
              <a:buNone/>
            </a:pPr>
            <a:r>
              <a:rPr lang="en-US" sz="1250" b="1" dirty="0">
                <a:solidFill>
                  <a:srgbClr val="10233A"/>
                </a:solidFill>
                <a:latin typeface="Segoe UI" pitchFamily="34" charset="0"/>
                <a:ea typeface="Segoe UI" pitchFamily="34" charset="-122"/>
                <a:cs typeface="Segoe UI" pitchFamily="34" charset="-120"/>
              </a:rPr>
              <a:t>What the record shows</a:t>
            </a:r>
            <a:endParaRPr lang="en-US" sz="1250" dirty="0"/>
          </a:p>
        </p:txBody>
      </p:sp>
      <p:sp>
        <p:nvSpPr>
          <p:cNvPr id="35" name="Text 33"/>
          <p:cNvSpPr txBox="1"/>
          <p:nvPr/>
        </p:nvSpPr>
        <p:spPr>
          <a:xfrm>
            <a:off x="3840480" y="5477256"/>
            <a:ext cx="3474720" cy="667512"/>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Segoe UI" pitchFamily="34" charset="0"/>
                <a:ea typeface="Segoe UI" pitchFamily="34" charset="-122"/>
                <a:cs typeface="Segoe UI" pitchFamily="34" charset="-120"/>
              </a:rPr>
              <a:t>That a note was saved.</a:t>
            </a:r>
            <a:endParaRPr lang="en-US" sz="1150" dirty="0"/>
          </a:p>
        </p:txBody>
      </p:sp>
      <p:sp>
        <p:nvSpPr>
          <p:cNvPr id="36" name="Text 34"/>
          <p:cNvSpPr txBox="1"/>
          <p:nvPr/>
        </p:nvSpPr>
        <p:spPr>
          <a:xfrm>
            <a:off x="7754112" y="5477256"/>
            <a:ext cx="3651199" cy="667512"/>
          </a:xfrm>
          <a:prstGeom prst="rect">
            <a:avLst/>
          </a:prstGeom>
          <a:noFill/>
          <a:ln/>
        </p:spPr>
        <p:txBody>
          <a:bodyPr wrap="square" lIns="0" tIns="0" rIns="0" bIns="0" rtlCol="0" anchor="ctr"/>
          <a:lstStyle/>
          <a:p>
            <a:pPr indent="0" marL="0">
              <a:lnSpc>
                <a:spcPts val="1500"/>
              </a:lnSpc>
              <a:buNone/>
            </a:pPr>
            <a:r>
              <a:rPr lang="en-US" sz="1150" dirty="0">
                <a:solidFill>
                  <a:srgbClr val="33445B"/>
                </a:solidFill>
                <a:latin typeface="Segoe UI" pitchFamily="34" charset="0"/>
                <a:ea typeface="Segoe UI" pitchFamily="34" charset="-122"/>
                <a:cs typeface="Segoe UI" pitchFamily="34" charset="-120"/>
              </a:rPr>
              <a:t>What was proposed, what you decided, when, and by whom — for every field.</a:t>
            </a:r>
            <a:endParaRPr lang="en-US" sz="1150" dirty="0"/>
          </a:p>
        </p:txBody>
      </p:sp>
      <p:sp>
        <p:nvSpPr>
          <p:cNvPr id="37" name="Text 35"/>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38" name="Text 36"/>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33A"/>
        </a:solidFill>
      </p:bgPr>
    </p:bg>
    <p:spTree>
      <p:nvGrpSpPr>
        <p:cNvPr id="1" name=""/>
        <p:cNvGrpSpPr/>
        <p:nvPr/>
      </p:nvGrpSpPr>
      <p:grpSpPr>
        <a:xfrm>
          <a:off x="0" y="0"/>
          <a:ext cx="0" cy="0"/>
          <a:chOff x="0" y="0"/>
          <a:chExt cx="0" cy="0"/>
        </a:xfrm>
      </p:grpSpPr>
      <p:sp>
        <p:nvSpPr>
          <p:cNvPr id="2" name="Text 0"/>
          <p:cNvSpPr txBox="1"/>
          <p:nvPr/>
        </p:nvSpPr>
        <p:spPr>
          <a:xfrm>
            <a:off x="566928" y="475488"/>
            <a:ext cx="11057839" cy="256032"/>
          </a:xfrm>
          <a:prstGeom prst="rect">
            <a:avLst/>
          </a:prstGeom>
          <a:noFill/>
          <a:ln/>
        </p:spPr>
        <p:txBody>
          <a:bodyPr wrap="square" lIns="0" tIns="0" rIns="0" bIns="0" rtlCol="0" anchor="ctr"/>
          <a:lstStyle/>
          <a:p>
            <a:pPr indent="0" marL="0">
              <a:buNone/>
            </a:pPr>
            <a:r>
              <a:rPr lang="en-US" sz="1050" b="1" spc="220" kern="0" dirty="0">
                <a:solidFill>
                  <a:srgbClr val="5EC5B8"/>
                </a:solidFill>
                <a:latin typeface="Segoe UI" pitchFamily="34" charset="0"/>
                <a:ea typeface="Segoe UI" pitchFamily="34" charset="-122"/>
                <a:cs typeface="Segoe UI" pitchFamily="34" charset="-120"/>
              </a:rPr>
              <a:t>BEFORE WE GO FURTHER</a:t>
            </a:r>
            <a:endParaRPr lang="en-US" sz="1050" dirty="0"/>
          </a:p>
        </p:txBody>
      </p:sp>
      <p:sp>
        <p:nvSpPr>
          <p:cNvPr id="3" name="Text 1"/>
          <p:cNvSpPr txBox="1"/>
          <p:nvPr/>
        </p:nvSpPr>
        <p:spPr>
          <a:xfrm>
            <a:off x="566928" y="731520"/>
            <a:ext cx="11057839" cy="512064"/>
          </a:xfrm>
          <a:prstGeom prst="rect">
            <a:avLst/>
          </a:prstGeom>
          <a:noFill/>
          <a:ln/>
        </p:spPr>
        <p:txBody>
          <a:bodyPr wrap="square" lIns="0" tIns="0" rIns="0" bIns="0"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Three things to keep in mind</a:t>
            </a:r>
            <a:endParaRPr lang="en-US" sz="3000" dirty="0"/>
          </a:p>
        </p:txBody>
      </p:sp>
      <p:sp>
        <p:nvSpPr>
          <p:cNvPr id="4" name="Text 2"/>
          <p:cNvSpPr txBox="1"/>
          <p:nvPr/>
        </p:nvSpPr>
        <p:spPr>
          <a:xfrm>
            <a:off x="566928" y="1261872"/>
            <a:ext cx="11057839" cy="274320"/>
          </a:xfrm>
          <a:prstGeom prst="rect">
            <a:avLst/>
          </a:prstGeom>
          <a:noFill/>
          <a:ln/>
        </p:spPr>
        <p:txBody>
          <a:bodyPr wrap="square" lIns="0" tIns="0" rIns="0" bIns="0" rtlCol="0" anchor="ctr"/>
          <a:lstStyle/>
          <a:p>
            <a:pPr indent="0" marL="0">
              <a:buNone/>
            </a:pPr>
            <a:r>
              <a:rPr lang="en-US" sz="1350" dirty="0">
                <a:solidFill>
                  <a:srgbClr val="93A9BF"/>
                </a:solidFill>
                <a:latin typeface="Segoe UI" pitchFamily="34" charset="0"/>
                <a:ea typeface="Segoe UI" pitchFamily="34" charset="-122"/>
                <a:cs typeface="Segoe UI" pitchFamily="34" charset="-120"/>
              </a:rPr>
              <a:t>Please read these alongside everything above — they set the expectation for what happens next.</a:t>
            </a:r>
            <a:endParaRPr lang="en-US" sz="1350" dirty="0"/>
          </a:p>
        </p:txBody>
      </p:sp>
      <p:sp>
        <p:nvSpPr>
          <p:cNvPr id="5" name="Shape 3"/>
          <p:cNvSpPr/>
          <p:nvPr/>
        </p:nvSpPr>
        <p:spPr>
          <a:xfrm>
            <a:off x="566928" y="1773936"/>
            <a:ext cx="11057839" cy="1298448"/>
          </a:xfrm>
          <a:prstGeom prst="roundRect">
            <a:avLst>
              <a:gd name="adj" fmla="val 4930"/>
            </a:avLst>
          </a:prstGeom>
          <a:solidFill>
            <a:srgbClr val="17304C"/>
          </a:solidFill>
          <a:ln w="12700">
            <a:solidFill>
              <a:srgbClr val="24466B"/>
            </a:solidFill>
            <a:prstDash val="solid"/>
          </a:ln>
        </p:spPr>
      </p:sp>
      <p:sp>
        <p:nvSpPr>
          <p:cNvPr id="6" name="Shape 4"/>
          <p:cNvSpPr/>
          <p:nvPr/>
        </p:nvSpPr>
        <p:spPr>
          <a:xfrm>
            <a:off x="896112" y="2048256"/>
            <a:ext cx="420624" cy="420624"/>
          </a:xfrm>
          <a:prstGeom prst="ellipse">
            <a:avLst/>
          </a:prstGeom>
          <a:solidFill>
            <a:srgbClr val="0F766E"/>
          </a:solidFill>
          <a:ln w="12700">
            <a:solidFill>
              <a:srgbClr val="0F766E"/>
            </a:solidFill>
            <a:prstDash val="solid"/>
          </a:ln>
        </p:spPr>
      </p:sp>
      <p:sp>
        <p:nvSpPr>
          <p:cNvPr id="7" name="Text 5"/>
          <p:cNvSpPr txBox="1"/>
          <p:nvPr/>
        </p:nvSpPr>
        <p:spPr>
          <a:xfrm>
            <a:off x="896112" y="204825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8" name="Text 6"/>
          <p:cNvSpPr txBox="1"/>
          <p:nvPr/>
        </p:nvSpPr>
        <p:spPr>
          <a:xfrm>
            <a:off x="1499616" y="1993392"/>
            <a:ext cx="9692640" cy="310896"/>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This is the direction, not the finished specification</a:t>
            </a:r>
            <a:endParaRPr lang="en-US" sz="1600" dirty="0"/>
          </a:p>
        </p:txBody>
      </p:sp>
      <p:sp>
        <p:nvSpPr>
          <p:cNvPr id="9" name="Text 7"/>
          <p:cNvSpPr txBox="1"/>
          <p:nvPr/>
        </p:nvSpPr>
        <p:spPr>
          <a:xfrm>
            <a:off x="1499616" y="2340864"/>
            <a:ext cx="9692640" cy="603504"/>
          </a:xfrm>
          <a:prstGeom prst="rect">
            <a:avLst/>
          </a:prstGeom>
          <a:noFill/>
          <a:ln/>
        </p:spPr>
        <p:txBody>
          <a:bodyPr wrap="square" lIns="0" tIns="0" rIns="0" bIns="0" rtlCol="0" anchor="ctr"/>
          <a:lstStyle/>
          <a:p>
            <a:pPr indent="0" marL="0">
              <a:lnSpc>
                <a:spcPts val="1700"/>
              </a:lnSpc>
              <a:buNone/>
            </a:pPr>
            <a:r>
              <a:rPr lang="en-US" sz="1250" dirty="0">
                <a:solidFill>
                  <a:srgbClr val="9DB3C8"/>
                </a:solidFill>
                <a:latin typeface="Segoe UI" pitchFamily="34" charset="0"/>
                <a:ea typeface="Segoe UI" pitchFamily="34" charset="-122"/>
                <a:cs typeface="Segoe UI" pitchFamily="34" charset="-120"/>
              </a:rPr>
              <a:t>The process is not fully finalised. What you have seen sets out where we are focusing and how we intend the journey to work. Details will change as we move into implementation, and we will bring those changes back to you rather than absorb them quietly.</a:t>
            </a:r>
            <a:endParaRPr lang="en-US" sz="1250" dirty="0"/>
          </a:p>
        </p:txBody>
      </p:sp>
      <p:sp>
        <p:nvSpPr>
          <p:cNvPr id="10" name="Shape 8"/>
          <p:cNvSpPr/>
          <p:nvPr/>
        </p:nvSpPr>
        <p:spPr>
          <a:xfrm>
            <a:off x="566928" y="3255264"/>
            <a:ext cx="11057839" cy="1298448"/>
          </a:xfrm>
          <a:prstGeom prst="roundRect">
            <a:avLst>
              <a:gd name="adj" fmla="val 4930"/>
            </a:avLst>
          </a:prstGeom>
          <a:solidFill>
            <a:srgbClr val="17304C"/>
          </a:solidFill>
          <a:ln w="12700">
            <a:solidFill>
              <a:srgbClr val="24466B"/>
            </a:solidFill>
            <a:prstDash val="solid"/>
          </a:ln>
        </p:spPr>
      </p:sp>
      <p:sp>
        <p:nvSpPr>
          <p:cNvPr id="11" name="Shape 9"/>
          <p:cNvSpPr/>
          <p:nvPr/>
        </p:nvSpPr>
        <p:spPr>
          <a:xfrm>
            <a:off x="896112" y="3529584"/>
            <a:ext cx="420624" cy="420624"/>
          </a:xfrm>
          <a:prstGeom prst="ellipse">
            <a:avLst/>
          </a:prstGeom>
          <a:solidFill>
            <a:srgbClr val="0F766E"/>
          </a:solidFill>
          <a:ln w="12700">
            <a:solidFill>
              <a:srgbClr val="0F766E"/>
            </a:solidFill>
            <a:prstDash val="solid"/>
          </a:ln>
        </p:spPr>
      </p:sp>
      <p:sp>
        <p:nvSpPr>
          <p:cNvPr id="12" name="Text 10"/>
          <p:cNvSpPr txBox="1"/>
          <p:nvPr/>
        </p:nvSpPr>
        <p:spPr>
          <a:xfrm>
            <a:off x="896112" y="352958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3" name="Text 11"/>
          <p:cNvSpPr txBox="1"/>
          <p:nvPr/>
        </p:nvSpPr>
        <p:spPr>
          <a:xfrm>
            <a:off x="1499616" y="3474720"/>
            <a:ext cx="9692640" cy="310896"/>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The screens shown are Figma concepts, not the finished product</a:t>
            </a:r>
            <a:endParaRPr lang="en-US" sz="1600" dirty="0"/>
          </a:p>
        </p:txBody>
      </p:sp>
      <p:sp>
        <p:nvSpPr>
          <p:cNvPr id="14" name="Text 12"/>
          <p:cNvSpPr txBox="1"/>
          <p:nvPr/>
        </p:nvSpPr>
        <p:spPr>
          <a:xfrm>
            <a:off x="1499616" y="3822192"/>
            <a:ext cx="9692640" cy="603504"/>
          </a:xfrm>
          <a:prstGeom prst="rect">
            <a:avLst/>
          </a:prstGeom>
          <a:noFill/>
          <a:ln/>
        </p:spPr>
        <p:txBody>
          <a:bodyPr wrap="square" lIns="0" tIns="0" rIns="0" bIns="0" rtlCol="0" anchor="ctr"/>
          <a:lstStyle/>
          <a:p>
            <a:pPr indent="0" marL="0">
              <a:lnSpc>
                <a:spcPts val="1700"/>
              </a:lnSpc>
              <a:buNone/>
            </a:pPr>
            <a:r>
              <a:rPr lang="en-US" sz="1250" dirty="0">
                <a:solidFill>
                  <a:srgbClr val="9DB3C8"/>
                </a:solidFill>
                <a:latin typeface="Segoe UI" pitchFamily="34" charset="0"/>
                <a:ea typeface="Segoe UI" pitchFamily="34" charset="-122"/>
                <a:cs typeface="Segoe UI" pitchFamily="34" charset="-120"/>
              </a:rPr>
              <a:t>They exist to explain the journey, not to define the look. The build will use the design system already in the platform, so the finished screens will feel like the product you have today — same components, same patterns, same behaviour.</a:t>
            </a:r>
            <a:endParaRPr lang="en-US" sz="1250" dirty="0"/>
          </a:p>
        </p:txBody>
      </p:sp>
      <p:sp>
        <p:nvSpPr>
          <p:cNvPr id="15" name="Shape 13"/>
          <p:cNvSpPr/>
          <p:nvPr/>
        </p:nvSpPr>
        <p:spPr>
          <a:xfrm>
            <a:off x="566928" y="4736592"/>
            <a:ext cx="11057839" cy="1298448"/>
          </a:xfrm>
          <a:prstGeom prst="roundRect">
            <a:avLst>
              <a:gd name="adj" fmla="val 4930"/>
            </a:avLst>
          </a:prstGeom>
          <a:solidFill>
            <a:srgbClr val="17304C"/>
          </a:solidFill>
          <a:ln w="12700">
            <a:solidFill>
              <a:srgbClr val="24466B"/>
            </a:solidFill>
            <a:prstDash val="solid"/>
          </a:ln>
        </p:spPr>
      </p:sp>
      <p:sp>
        <p:nvSpPr>
          <p:cNvPr id="16" name="Shape 14"/>
          <p:cNvSpPr/>
          <p:nvPr/>
        </p:nvSpPr>
        <p:spPr>
          <a:xfrm>
            <a:off x="896112" y="5010912"/>
            <a:ext cx="420624" cy="420624"/>
          </a:xfrm>
          <a:prstGeom prst="ellipse">
            <a:avLst/>
          </a:prstGeom>
          <a:solidFill>
            <a:srgbClr val="0F766E"/>
          </a:solidFill>
          <a:ln w="12700">
            <a:solidFill>
              <a:srgbClr val="0F766E"/>
            </a:solidFill>
            <a:prstDash val="solid"/>
          </a:ln>
        </p:spPr>
      </p:sp>
      <p:sp>
        <p:nvSpPr>
          <p:cNvPr id="17" name="Text 15"/>
          <p:cNvSpPr txBox="1"/>
          <p:nvPr/>
        </p:nvSpPr>
        <p:spPr>
          <a:xfrm>
            <a:off x="896112" y="501091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18" name="Text 16"/>
          <p:cNvSpPr txBox="1"/>
          <p:nvPr/>
        </p:nvSpPr>
        <p:spPr>
          <a:xfrm>
            <a:off x="1499616" y="4956048"/>
            <a:ext cx="9692640" cy="310896"/>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The existing flow is not being changed for anyone</a:t>
            </a:r>
            <a:endParaRPr lang="en-US" sz="1600" dirty="0"/>
          </a:p>
        </p:txBody>
      </p:sp>
      <p:sp>
        <p:nvSpPr>
          <p:cNvPr id="19" name="Text 17"/>
          <p:cNvSpPr txBox="1"/>
          <p:nvPr/>
        </p:nvSpPr>
        <p:spPr>
          <a:xfrm>
            <a:off x="1499616" y="5303520"/>
            <a:ext cx="9692640" cy="603504"/>
          </a:xfrm>
          <a:prstGeom prst="rect">
            <a:avLst/>
          </a:prstGeom>
          <a:noFill/>
          <a:ln/>
        </p:spPr>
        <p:txBody>
          <a:bodyPr wrap="square" lIns="0" tIns="0" rIns="0" bIns="0" rtlCol="0" anchor="ctr"/>
          <a:lstStyle/>
          <a:p>
            <a:pPr indent="0" marL="0">
              <a:lnSpc>
                <a:spcPts val="1700"/>
              </a:lnSpc>
              <a:buNone/>
            </a:pPr>
            <a:r>
              <a:rPr lang="en-US" sz="1250" dirty="0">
                <a:solidFill>
                  <a:srgbClr val="9DB3C8"/>
                </a:solidFill>
                <a:latin typeface="Segoe UI" pitchFamily="34" charset="0"/>
                <a:ea typeface="Segoe UI" pitchFamily="34" charset="-122"/>
                <a:cs typeface="Segoe UI" pitchFamily="34" charset="-120"/>
              </a:rPr>
              <a:t>Nothing here alters the flow your accounts run on today. The new journey is switched on per account, from a setting that offers a straight choice between Existing AI Engine and New AI Engine — so it reaches selected accounts first, and turning it off is a single change.</a:t>
            </a:r>
            <a:endParaRPr lang="en-US" sz="1250" dirty="0"/>
          </a:p>
        </p:txBody>
      </p:sp>
      <p:sp>
        <p:nvSpPr>
          <p:cNvPr id="20" name="Text 18"/>
          <p:cNvSpPr txBox="1"/>
          <p:nvPr/>
        </p:nvSpPr>
        <p:spPr>
          <a:xfrm>
            <a:off x="566928" y="6364224"/>
            <a:ext cx="6400800" cy="237744"/>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PacEHR  ·  Provider Journey with the AI Engine</a:t>
            </a:r>
            <a:endParaRPr lang="en-US" sz="950" dirty="0"/>
          </a:p>
        </p:txBody>
      </p:sp>
      <p:sp>
        <p:nvSpPr>
          <p:cNvPr id="21" name="Text 19"/>
          <p:cNvSpPr txBox="1"/>
          <p:nvPr/>
        </p:nvSpPr>
        <p:spPr>
          <a:xfrm>
            <a:off x="10984687" y="6364224"/>
            <a:ext cx="640080" cy="237744"/>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SaiSystems · PacEHR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PacEHR — Provider Journey with the AI Engine</dc:title>
  <dc:subject>PptxGenJS Presentation</dc:subject>
  <dc:creator>3Pillar Global</dc:creator>
  <cp:lastModifiedBy>3Pillar Global</cp:lastModifiedBy>
  <cp:revision>1</cp:revision>
  <dcterms:created xsi:type="dcterms:W3CDTF">2026-09-16T10:20:09Z</dcterms:created>
  <dcterms:modified xsi:type="dcterms:W3CDTF">2026-09-16T10:20:09Z</dcterms:modified>
</cp:coreProperties>
</file>