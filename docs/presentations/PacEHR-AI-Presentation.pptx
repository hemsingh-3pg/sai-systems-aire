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Set the frame in one line: accuracy is the goal, and the causes are architectural, not model choice.</a:t>
            </a:r>
          </a:p>
          <a:p>
            <a:r>
              <a:t>- Say up front that both ends are covered — the Angular frontend and the .NET backend — because the fix needs both.</a:t>
            </a:r>
          </a:p>
          <a:p>
            <a:r>
              <a:t>- Flag that everything in the current-state section was read from source on 9-10 September, not inferred from documentation.</a:t>
            </a:r>
          </a:p>
          <a:p/>
          <a:p>
            <a:r>
              <a:t>EVIDENCE</a:t>
            </a:r>
          </a:p>
          <a:p>
            <a:r>
              <a:t>- Sources: docs/architecture/current/12-ai-assistance-deep-dive.md, 12a-ai-request-payload-reference.md, 12b-ai-prompt-examples.md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Read the four clauses slowly — each maps to a section later in the deck.</a:t>
            </a:r>
          </a:p>
          <a:p>
            <a:r>
              <a:t>- The four jobs are: format every field, extract ICD, select CPT, resolve the follow-up date.</a:t>
            </a:r>
          </a:p>
          <a:p>
            <a:r>
              <a:t>- Land the last line hard. The client's hard constraint is that providers cannot be asked to change template structure or field order. Nothing proposed here touches either.</a:t>
            </a:r>
          </a:p>
          <a:p>
            <a:r>
              <a:t>- If someone asks 'so is GPT-4o the problem?' — answer: no. A better model would improve this maybe 10-20%. The architecture is worth multiples of that.</a:t>
            </a:r>
          </a:p>
          <a:p/>
          <a:p>
            <a:r>
              <a:t>EVIDENCE</a:t>
            </a:r>
          </a:p>
          <a:p>
            <a:r>
              <a:t>- The four jobs are all in one system prompt: AI.prompt row 'AI Prompt - H &amp; P Notes', PacEHR-Scripts-01022026.sql:5562</a:t>
            </a:r>
          </a:p>
          <a:p>
            <a:r>
              <a:t>- No chart data in any of the 7 calling contexts — verified across all payload builders in AIPromptServices.cs:155-365</a:t>
            </a:r>
          </a:p>
          <a:p>
            <a:r>
              <a:t>- No response_format on any of the 4 routes</a:t>
            </a:r>
          </a:p>
          <a:p>
            <a:r>
              <a:t>- Auto-save: add-rounding-notes.component.ts:887 — timer(1000) then onSubmit()</a:t>
            </a:r>
          </a:p>
          <a:p/>
          <a:p>
            <a:r>
              <a:t>LIKELY QUESTIONS</a:t>
            </a:r>
          </a:p>
          <a:p>
            <a:r>
              <a:t>Q: Is this a criticism of the team that built it?</a:t>
            </a:r>
          </a:p>
          <a:p>
            <a:r>
              <a:t>A: No. Every one of these was a reasonable call when the feature was small. They became problems at scale.</a:t>
            </a:r>
          </a:p>
          <a:p>
            <a:r>
              <a:t>Q: Can we not just improve the prompts?</a:t>
            </a:r>
          </a:p>
          <a:p>
            <a:r>
              <a:t>A: Prompt work is capped by the architecture. You cannot prompt your way to a closed code set, chart access, or a human checkpoint.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Six slides. Keep it factual and short — the goal is shared understanding, not blame.</a:t>
            </a:r>
          </a:p>
          <a:p>
            <a:r>
              <a:t>- Tell the audience the detail sits in the written docs; this section is the shape only.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Walk left to right once, then stop on the amber box: one call is doing formatting, ICD, CPT and date reasoning together.</a:t>
            </a:r>
          </a:p>
          <a:p>
            <a:r>
              <a:t>- Then stop on the red box: nothing between the model's answer and the saved clinical record.</a:t>
            </a:r>
          </a:p>
          <a:p>
            <a:r>
              <a:t>- The honest good news: the credential never reaches the browser. That part of the design is right, and we are keeping it.</a:t>
            </a:r>
          </a:p>
          <a:p/>
          <a:p>
            <a:r>
              <a:t>EVIDENCE</a:t>
            </a:r>
          </a:p>
          <a:p>
            <a:r>
              <a:t>- 4 service methods, all building the body inline: AIPromptServices.cs:155, 198, 260, 312</a:t>
            </a:r>
          </a:p>
          <a:p>
            <a:r>
              <a:t>- Auto-commit: add-rounding-notes.component.ts:886-889 — updateExtractedDataToForm() then timer(1000) then onSubmit()</a:t>
            </a:r>
          </a:p>
          <a:p>
            <a:r>
              <a:t>- 13 client call sites across encounter-ai.facade.ts, add-rounding-notes.component.ts, ai-summary-prompt.component.ts</a:t>
            </a:r>
          </a:p>
          <a:p/>
          <a:p>
            <a:r>
              <a:t>LIKELY QUESTIONS</a:t>
            </a:r>
          </a:p>
          <a:p>
            <a:r>
              <a:t>Q: How long does that call take today?</a:t>
            </a:r>
          </a:p>
          <a:p>
            <a:r>
              <a:t>A: We have not measured p95 yet — it is on the Phase 0 list. That number sets the budget for the new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This is the single biggest accuracy driver and the reason the fix is a pipeline, not a better prompt.</a:t>
            </a:r>
          </a:p>
          <a:p>
            <a:r>
              <a:t>- Point out that the four jobs need different inputs: formatting needs the note; ICD needs the problem list; CPT needs visit duration and place of service; the date needs today's date and temporal logic.</a:t>
            </a:r>
          </a:p>
          <a:p>
            <a:r>
              <a:t>- This also explains something the team already observed: hallucinations are not concentrated in one field. They track which job got squeezed, not which field.</a:t>
            </a:r>
          </a:p>
          <a:p/>
          <a:p>
            <a:r>
              <a:t>EVIDENCE</a:t>
            </a:r>
          </a:p>
          <a:p>
            <a:r>
              <a:t>- All four instruction blocks are in the one stored prompt (~5,600 chars): ICD block, CPT block, Follow-up block, plus the per-field formatting body</a:t>
            </a:r>
          </a:p>
          <a:p>
            <a:r>
              <a:t>- The CPT block is ALSO duplicated near-verbatim in a TypeScript literal at encounter-ai.facade.ts:731 — same rules, two homes, maintained separately</a:t>
            </a:r>
          </a:p>
          <a:p/>
          <a:p>
            <a:r>
              <a:t>LIKELY QUESTIONS</a:t>
            </a:r>
          </a:p>
          <a:p>
            <a:r>
              <a:t>Q: Does splitting it cost more tokens?</a:t>
            </a:r>
          </a:p>
          <a:p>
            <a:r>
              <a:t>A: Yes, total tokens rise. Wall-clock does not, because the section and coding passes run in parallel, and prompt caching recovers much of the cost.</a:t>
            </a:r>
          </a:p>
          <a:p>
            <a:r>
              <a:t>Q: Why not just make the prompt longer and clearer?</a:t>
            </a:r>
          </a:p>
          <a:p>
            <a:r>
              <a:t>A: It is already ~5,600 characters and asks for JSON validation four separate times. Length is not the constraint; competing objectives 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Confirmed across all seven calling contexts: no medications, vitals, allergies, problem list, demographics or prior encounter reach the model in any request.</a:t>
            </a:r>
          </a:p>
          <a:p>
            <a:r>
              <a:t>- Dwell on the problem list. The team's own stated source for ICD codes is the problem list — and it is not in the payload. So ICD codes are being inferred from narrative instead of selected from the chart.</a:t>
            </a:r>
          </a:p>
          <a:p>
            <a:r>
              <a:t>- This also explains SarahLena's reported gap on medications directly: the model cannot report a medication list it was never given.</a:t>
            </a:r>
          </a:p>
          <a:p>
            <a:r>
              <a:t>- Note the per-field LOINC and SNOMED codes already sitting in the template metadata are also never sent.</a:t>
            </a:r>
          </a:p>
          <a:p/>
          <a:p>
            <a:r>
              <a:t>EVIDENCE</a:t>
            </a:r>
          </a:p>
          <a:p>
            <a:r>
              <a:t>- Verified across AIPromptServices.cs:155-365 and all 13 client call sites</a:t>
            </a:r>
          </a:p>
          <a:p>
            <a:r>
              <a:t>- LOINC/SNOMED per field exist unused in Trimmed.pr1_template_field (loinc_term, snomed_code, snomed_term)</a:t>
            </a:r>
          </a:p>
          <a:p>
            <a:r>
              <a:t>- Constraint respected: no PointClickCare / MatrixCare / FlexiCare integration work needed — existing internal APIs already serve this data</a:t>
            </a:r>
          </a:p>
          <a:p/>
          <a:p>
            <a:r>
              <a:t>LIKELY QUESTIONS</a:t>
            </a:r>
          </a:p>
          <a:p>
            <a:r>
              <a:t>Q: Is this a big build? We ruled integrations out of scope.</a:t>
            </a:r>
          </a:p>
          <a:p>
            <a:r>
              <a:t>A: It is not an integration. Existing internal APIs already return this data; we assemble it and pass it in. No PCC, MatrixCare or FlexiCare work.</a:t>
            </a:r>
          </a:p>
          <a:p>
            <a:r>
              <a:t>Q: Could this be why some notes invent medications?</a:t>
            </a:r>
          </a:p>
          <a:p>
            <a:r>
              <a:t>A: Very likely. Asked about medications with no medication list supplied, a model will fill the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Show the repair prompt — it lands well because it is so plainly a workaround.</a:t>
            </a:r>
          </a:p>
          <a:p>
            <a:r>
              <a:t>- The cause is one missing parameter: response_format with a JSON schema. It is absent on all four routes.</a:t>
            </a:r>
          </a:p>
          <a:p>
            <a:r>
              <a:t>- With schema-constrained decoding the model physically cannot return malformed JSON, so the repair call is deleted rather than improved.</a:t>
            </a:r>
          </a:p>
          <a:p>
            <a:r>
              <a:t>- Worth saying: this also frees up instruction budget. Four validation demands stop competing with the clinical instructions.</a:t>
            </a:r>
          </a:p>
          <a:p/>
          <a:p>
            <a:r>
              <a:t>EVIDENCE</a:t>
            </a:r>
          </a:p>
          <a:p>
            <a:r>
              <a:t>- Repair call: encounter-ai.facade.ts:270-281, triggered from the catch around JSON.parse at :259-262</a:t>
            </a:r>
          </a:p>
          <a:p>
            <a:r>
              <a:t>- No response_format / json_schema on any of the 4 methods</a:t>
            </a:r>
          </a:p>
          <a:p>
            <a:r>
              <a:t>- Structured outputs with strict:true need gpt-4o-2024-08-06 or later and api-version 2024-08-01-preview or later — so a version bump is required regardless</a:t>
            </a:r>
          </a:p>
          <a:p/>
          <a:p>
            <a:r>
              <a:t>LIKELY QUESTIONS</a:t>
            </a:r>
          </a:p>
          <a:p>
            <a:r>
              <a:t>Q: Is schema-constrained output reliable?</a:t>
            </a:r>
          </a:p>
          <a:p>
            <a:r>
              <a:t>A: It constrains the decoder, so schema conformance is guaranteed rather than requested. It does not guarantee the values are clinically right — that is what the review step is for.</a:t>
            </a:r>
          </a:p>
          <a:p>
            <a:r>
              <a:t>Q: Do we lose the free-text quality?</a:t>
            </a:r>
          </a:p>
          <a:p>
            <a:r>
              <a:t>A: No. Narrative fields stay free text; the schema governs structure, not prose.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Four boxes, then the red bar. This is the slide that justifies the review screen later.</a:t>
            </a:r>
          </a:p>
          <a:p>
            <a:r>
              <a:t>- The clinical risk is the ID fields: template id, visit type, place of service and facility are written as free strings. A wrong value attaches the encounter to the wrong template or facility.</a:t>
            </a:r>
          </a:p>
          <a:p>
            <a:r>
              <a:t>- Then pivot to the strategic point: the absence of a checkpoint is also why accuracy is unmeasurable. There is no record of what the provider accepted, edited or rejected.</a:t>
            </a:r>
          </a:p>
          <a:p>
            <a:r>
              <a:t>- This is the bridge to the whole measurement argument — do not rush past it.</a:t>
            </a:r>
          </a:p>
          <a:p/>
          <a:p>
            <a:r>
              <a:t>EVIDENCE</a:t>
            </a:r>
          </a:p>
          <a:p>
            <a:r>
              <a:t>- add-rounding-notes.component.ts:886-889</a:t>
            </a:r>
          </a:p>
          <a:p>
            <a:r>
              <a:t>- ID fields written as free strings: encounterTempleteID, eventTypeId, POSID, facilityID</a:t>
            </a:r>
          </a:p>
          <a:p>
            <a:r>
              <a:t>- The valid ID values ARE already sent — as prose in a third user message (generateAdditionalData(), :894-903) — just not as enforceable constraints</a:t>
            </a:r>
          </a:p>
          <a:p/>
          <a:p>
            <a:r>
              <a:t>LIKELY QUESTIONS</a:t>
            </a:r>
          </a:p>
          <a:p>
            <a:r>
              <a:t>Q: Has this caused a real problem?</a:t>
            </a:r>
          </a:p>
          <a:p>
            <a:r>
              <a:t>A: We have not audited production encounters for it. Worth doing, and the 10 months of logs would show it.</a:t>
            </a:r>
          </a:p>
          <a:p>
            <a:r>
              <a:t>Q: Does adding a review step slow providers down?</a:t>
            </a:r>
          </a:p>
          <a:p>
            <a:r>
              <a:t>A: It adds a step but removes rework. Sorting by what needs attention means touching about four items rather than thirty.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Part one: three instruction levels are concatenated into a single prose string. Once merged there is no way to detect that a field instruction contradicts its section, or that either contradicts the template.</a:t>
            </a:r>
          </a:p>
          <a:p>
            <a:r>
              <a:t>- Part two is the more serious one. Prompt selection returns exactly one prompt and exits. A template-level prompt REPLACES the universal prompt rather than layering on top of it.</a:t>
            </a:r>
          </a:p>
          <a:p>
            <a:r>
              <a:t>- Say the consequence plainly: every safety rule in the universal prompt — including 'do not create a diagnosis the provider did not provide' — is silently dropped for any template that has its own prompt.</a:t>
            </a:r>
          </a:p>
          <a:p>
            <a:r>
              <a:t>- That is a mechanical explanation for inconsistent behaviour across templates. It is not model randomness.</a:t>
            </a:r>
          </a:p>
          <a:p/>
          <a:p>
            <a:r>
              <a:t>EVIDENCE</a:t>
            </a:r>
          </a:p>
          <a:p>
            <a:r>
              <a:t>- Flattening: getPromptBody(), encounter-ai.facade.ts:858-874</a:t>
            </a:r>
          </a:p>
          <a:p>
            <a:r>
              <a:t>- Selection: usp_getPrompt — three priorities, each ending in RETURN</a:t>
            </a:r>
          </a:p>
          <a:p>
            <a:r>
              <a:t>- AI.prompt has templateId but NO section or field column, so those instructions live inside prompt body text</a:t>
            </a:r>
          </a:p>
          <a:p>
            <a:r>
              <a:t>- A fourth instruction store also exists: aiSummaryPrompt, used only by the AI summary context</a:t>
            </a:r>
          </a:p>
          <a:p>
            <a:r>
              <a:t>- The proc header shows repeated recent patching: 'priority based prompts' Feb 2026, 'getPrmopt issue changes' Feb 2026</a:t>
            </a:r>
          </a:p>
          <a:p/>
          <a:p>
            <a:r>
              <a:t>LIKELY QUESTIONS</a:t>
            </a:r>
          </a:p>
          <a:p>
            <a:r>
              <a:t>Q: So some templates have no safety rules at all?</a:t>
            </a:r>
          </a:p>
          <a:p>
            <a:r>
              <a:t>A: If a template has its own prompt, it gets only that prompt. Whatever the universal prompt contained is not applied. Worth auditing which templates are in that state.</a:t>
            </a:r>
          </a:p>
          <a:p>
            <a:r>
              <a:t>Q: Can we fix this without rewriting the prompts?</a:t>
            </a:r>
          </a:p>
          <a:p>
            <a:r>
              <a:t>A: Mostly. We add layering and precedence, and split the instructions into typed directives. Existing prompt text is migrated, not rewritten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Four slides on the backend. Keep the energy up — this is the part people came for.</a:t>
            </a:r>
          </a:p>
          <a:p>
            <a:r>
              <a:t>- Frame it as: same templates, same field order, same encounter form. Different engine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Read the right column only — the left is already understood by now.</a:t>
            </a:r>
          </a:p>
          <a:p>
            <a:r>
              <a:t>- The last pair is the one with organisational consequences, so pause there.</a:t>
            </a:r>
          </a:p>
          <a:p>
            <a:r>
              <a:t>- If time is short, this slide plus the review-screen slide are the two that must land.</a:t>
            </a:r>
          </a:p>
          <a:p/>
          <a:p>
            <a:r>
              <a:t>EVIDENCE</a:t>
            </a:r>
          </a:p>
          <a:p>
            <a:r>
              <a:t>- Full mapping in docs/architecture/design/12-ai-phase1-implementation-architecture.md Part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Say it plainly: today the note is effectively re-read for every purpose at once. Instead we parse it once into a list of atomic facts, each with the span of text it came from.</a:t>
            </a:r>
          </a:p>
          <a:p>
            <a:r>
              <a:t>- Everything downstream reads the ledger, never the raw note.</a:t>
            </a:r>
          </a:p>
          <a:p>
            <a:r>
              <a:t>- The four wins are all consequences of one property — every fact has a source. That is what turns hallucination from something we discourage into something we detect.</a:t>
            </a:r>
          </a:p>
          <a:p>
            <a:r>
              <a:t>- Be honest about the risk if asked: two-hop information loss. If the ledger misses something, no later step can recover it. We tune that pass for recall and run a coverage check — what share of note sentences map to at least one fact. Unmapped sentences get shown to the provider as 'not captured'.</a:t>
            </a:r>
          </a:p>
          <a:p/>
          <a:p>
            <a:r>
              <a:t>EVIDENCE</a:t>
            </a:r>
          </a:p>
          <a:p>
            <a:r>
              <a:t>- Ledger entry shape: id, type, value, span, negated, resolved-value for temporal expressions</a:t>
            </a:r>
          </a:p>
          <a:p>
            <a:r>
              <a:t>- Enables per-field regeneration (a hard client requirement) without drift</a:t>
            </a:r>
          </a:p>
          <a:p>
            <a:r>
              <a:t>- Also solves the Dragon problem: Dragon text arrives already in a form field, so provenance must be tagged at input or AI output can be mistaken for provider input</a:t>
            </a:r>
          </a:p>
          <a:p/>
          <a:p>
            <a:r>
              <a:t>LIKELY QUESTIONS</a:t>
            </a:r>
          </a:p>
          <a:p>
            <a:r>
              <a:t>Q: Is this an extra model call?</a:t>
            </a:r>
          </a:p>
          <a:p>
            <a:r>
              <a:t>A: Yes, one cheap call. It is paid back because every later step is smaller and cacheable.</a:t>
            </a:r>
          </a:p>
          <a:p>
            <a:r>
              <a:t>Q: What if the ledger is wrong?</a:t>
            </a:r>
          </a:p>
          <a:p>
            <a:r>
              <a:t>A: It is visible. A field whose evidence looks wrong shows the wrong span, and the provider sees it immediately — which is better than today, where nothing is shown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Emphasise that section — not field — is the unit of composition. Per-field calls would mean thirty round trips and would break coherence between Assessment and Plan.</a:t>
            </a:r>
          </a:p>
          <a:p>
            <a:r>
              <a:t>- Sections already exist in the template metadata, so this is not a new concept for the system.</a:t>
            </a:r>
          </a:p>
          <a:p>
            <a:r>
              <a:t>- Field level is the REPAIR granularity, not the generation granularity. That is how 'fix one field without re-running the note' works.</a:t>
            </a:r>
          </a:p>
          <a:p>
            <a:r>
              <a:t>- On latency: the check step can run after the fields are already on screen, and the parallel fan-out is a config setting, so we can tune it once we have measured the current p95.</a:t>
            </a:r>
          </a:p>
          <a:p/>
          <a:p>
            <a:r>
              <a:t>EVIDENCE</a:t>
            </a:r>
          </a:p>
          <a:p>
            <a:r>
              <a:t>- Tier 0 is entirely deterministic — no model call</a:t>
            </a:r>
          </a:p>
          <a:p>
            <a:r>
              <a:t>- Cache breakpoint goes after patient context and compiled schema (stable), before the ledger (volatile)</a:t>
            </a:r>
          </a:p>
          <a:p>
            <a:r>
              <a:t>- Token count rises; wall-clock stays comparable because tiers 2 and 3 fan out</a:t>
            </a:r>
          </a:p>
          <a:p/>
          <a:p>
            <a:r>
              <a:t>LIKELY QUESTIONS</a:t>
            </a:r>
          </a:p>
          <a:p>
            <a:r>
              <a:t>Q: Five calls instead of one — is that not five times the cost?</a:t>
            </a:r>
          </a:p>
          <a:p>
            <a:r>
              <a:t>A: Not five times. Each call is much smaller, the stable parts are cached, and two of the five steps use no model at all.</a:t>
            </a:r>
          </a:p>
          <a:p>
            <a:r>
              <a:t>Q: What if one step fails?</a:t>
            </a:r>
          </a:p>
          <a:p>
            <a:r>
              <a:t>A: That is an improvement: we know which step failed. Today a mid-stream failure is indistinguishable from a short note.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This is the answer to the 'one generic engine versus many templates' question, and it is the slide most likely to be challenged, so be precise.</a:t>
            </a:r>
          </a:p>
          <a:p>
            <a:r>
              <a:t>- The key claim: nobody has to author per-template configuration. It is compiled from metadata already in the database.</a:t>
            </a:r>
          </a:p>
          <a:p>
            <a:r>
              <a:t>- Hit the constraint directly: providers change nothing. No template restructuring, no field reordering, no new authoring screen in Phase 1.</a:t>
            </a:r>
          </a:p>
          <a:p>
            <a:r>
              <a:t>- The LOINC and SNOMED bindings are a nice detail — they are already attached to every field and completely unused today.</a:t>
            </a:r>
          </a:p>
          <a:p/>
          <a:p>
            <a:r>
              <a:t>EVIDENCE</a:t>
            </a:r>
          </a:p>
          <a:p>
            <a:r>
              <a:t>- Trimmed.pr1_template_field — field_data_type, unit, finding_type, loinc_term, snomed_code, snomed_term</a:t>
            </a:r>
          </a:p>
          <a:p>
            <a:r>
              <a:t>- Template.templateSection — section identity and order</a:t>
            </a:r>
          </a:p>
          <a:p>
            <a:r>
              <a:t>- Template.templatefieldNormals — already models normal findings, so 'All ENT normal' is a join, not an AI task</a:t>
            </a:r>
          </a:p>
          <a:p>
            <a:r>
              <a:t>- dbo.TemplateFieldValidation — existing constraints</a:t>
            </a:r>
          </a:p>
          <a:p>
            <a:r>
              <a:t>- Compiled bundles are content-hashed and the hash is logged with every completion, so generations are reproducible</a:t>
            </a:r>
          </a:p>
          <a:p/>
          <a:p>
            <a:r>
              <a:t>LIKELY QUESTIONS</a:t>
            </a:r>
          </a:p>
          <a:p>
            <a:r>
              <a:t>Q: What if a template's metadata is incomplete or wrong?</a:t>
            </a:r>
          </a:p>
          <a:p>
            <a:r>
              <a:t>A: The compiler reports it rather than silently degrading. That surfaces data-quality problems we cannot currently see.</a:t>
            </a:r>
          </a:p>
          <a:p>
            <a:r>
              <a:t>Q: Does this mean we can never hand-tune a template?</a:t>
            </a:r>
          </a:p>
          <a:p>
            <a:r>
              <a:t>A: No. Hand-written instructions still layer on top — they are just typed and precedence-checked instead of concatenated.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The core move: the model never generates a code. It selects from a list and explains the choice.</a:t>
            </a:r>
          </a:p>
          <a:p>
            <a:r>
              <a:t>- Contrast with today, where the prompt says 'do not select unbillable or outdated codes' and nothing enforces it. That is a hope; this is a property of the decoder.</a:t>
            </a:r>
          </a:p>
          <a:p>
            <a:r>
              <a:t>- ICD from the active problem list is what the client already said they wanted — we are just actually supplying it.</a:t>
            </a:r>
          </a:p>
          <a:p>
            <a:r>
              <a:t>- Then be honest about the one gap. Visit duration does not exist as data anywhere. We checked: there is no duration column, and the encounter has no link to the appointment slot. Until it is captured, time-based CPT has a ceiling no model can lift.</a:t>
            </a:r>
          </a:p>
          <a:p>
            <a:r>
              <a:t>- Recommend adding a visit-duration field. Frame it as a data-capture decision, not a model decision.</a:t>
            </a:r>
          </a:p>
          <a:p/>
          <a:p>
            <a:r>
              <a:t>EVIDENCE</a:t>
            </a:r>
          </a:p>
          <a:p>
            <a:r>
              <a:t>- Verified: no duration column in Encounter.encounter; it has eventTypeId but no eventId, so the scheduler slot cannot be joined</a:t>
            </a:r>
          </a:p>
          <a:p>
            <a:r>
              <a:t>- Scheduler.schedulerEvents does hold startTime/endTime, but as VARCHAR(100), and there is no path from an encounter to a specific event</a:t>
            </a:r>
          </a:p>
          <a:p>
            <a:r>
              <a:t>- IMO terminology-matching confidence already exists in ImoController and can feed the ranking</a:t>
            </a:r>
          </a:p>
          <a:p/>
          <a:p>
            <a:r>
              <a:t>LIKELY QUESTIONS</a:t>
            </a:r>
          </a:p>
          <a:p>
            <a:r>
              <a:t>Q: What if the right code is not in the candidate list?</a:t>
            </a:r>
          </a:p>
          <a:p>
            <a:r>
              <a:t>A: It surfaces as an explicit gap rather than a wrong code. The provider can add it, and that tells us the candidate rules need widening.</a:t>
            </a:r>
          </a:p>
          <a:p>
            <a:r>
              <a:t>Q: Will this reduce the number of codes suggested?</a:t>
            </a:r>
          </a:p>
          <a:p>
            <a:r>
              <a:t>A: Probably yes, initially. Fewer but defensible beats more but unverifiable — especially for billing.</a:t>
            </a:r>
          </a:p>
          <a:p>
            <a:r>
              <a:t>Q: Who owns adding the visit-duration field?</a:t>
            </a:r>
          </a:p>
          <a:p>
            <a:r>
              <a:t>A: That is a decision for Friday. It touches the encounter, not the template structure.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Four slides: the layered view, the runtime view, one request end to end, then the stack.</a:t>
            </a:r>
          </a:p>
          <a:p>
            <a:r>
              <a:t>- Signal early that the recommendation is deliberately conservative on frameworks — the pipeline is a fixed sequence, not an autonomous agent, and that changes what tooling is worth adopting.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Present this as 'this is not our invention' — it is the shape production LLM systems converge on, and it lets the room judge our design against something external.</a:t>
            </a:r>
          </a:p>
          <a:p>
            <a:r>
              <a:t>- Walk the centre column top to bottom: an experience layer with a human checkpoint, a gateway that authenticates, orchestration that decomposes the work, grounding that assembles what the model reasons over, prompt and policy management, a model gateway that abstracts the provider, and finally inference.</a:t>
            </a:r>
          </a:p>
          <a:p>
            <a:r>
              <a:t>- Then the two rails. Security and compliance, and evaluation and observability, are drawn as vertical rails on purpose — they are not layers, they touch every layer. That is the single most common mistake in first-generation systems: treating them as a stage rather than a property.</a:t>
            </a:r>
          </a:p>
          <a:p>
            <a:r>
              <a:t>- Say what you are going to do next: the following slide is the identical diagram with our components in it. Anything that stays grey is something we do not have.</a:t>
            </a:r>
          </a:p>
          <a:p/>
          <a:p>
            <a:r>
              <a:t>EVIDENCE</a:t>
            </a:r>
          </a:p>
          <a:p>
            <a:r>
              <a:t>- Cross-cutting placement of security and evaluation is the standard treatment in cloud reference architectures for generative AI</a:t>
            </a:r>
          </a:p>
          <a:p>
            <a:r>
              <a:t>- The human-in-the-loop block belongs in the experience layer, not as an afterthought at the end of the pipeline</a:t>
            </a:r>
          </a:p>
          <a:p/>
          <a:p>
            <a:r>
              <a:t>LIKELY QUESTIONS</a:t>
            </a:r>
          </a:p>
          <a:p>
            <a:r>
              <a:t>Q: Is this a Microsoft or an AWS reference architecture?</a:t>
            </a:r>
          </a:p>
          <a:p>
            <a:r>
              <a:t>A: Neither specifically — it is the common shape across all of them. We deliberately drew it vendor-neutral so the mapping on the next slide is a fair comparison.</a:t>
            </a:r>
          </a:p>
          <a:p>
            <a:r>
              <a:t>Q: Do we need every block?</a:t>
            </a:r>
          </a:p>
          <a:p>
            <a:r>
              <a:t>A: Every block exists in some form whether you design it or not. If there is no model gateway, provider details are scattered through the code — which is exactly what we have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Flip back and forth between this slide and the previous one if you can — the visual parallel is the argument.</a:t>
            </a:r>
          </a:p>
          <a:p>
            <a:r>
              <a:t>- Six teal blocks are the Phase 1 build. Three grey blocks already exist: the API host, the model service, and the data tier.</a:t>
            </a:r>
          </a:p>
          <a:p>
            <a:r>
              <a:t>- Call out the model-serving block: Azure OpenAI with structured outputs, managed identity and zero data retention. Managed identity is what removes the API key from the system entirely.</a:t>
            </a:r>
          </a:p>
          <a:p>
            <a:r>
              <a:t>- Call out the evaluation rail: it is teal because we have nothing there today. That is the honest position, and it is why the measurement slide matters.</a:t>
            </a:r>
          </a:p>
          <a:p>
            <a:r>
              <a:t>- The data row deliberately repeats 'no new integrations' — that constraint is often the first question from delivery.</a:t>
            </a:r>
          </a:p>
          <a:p/>
          <a:p>
            <a:r>
              <a:t>EVIDENCE</a:t>
            </a:r>
          </a:p>
          <a:p>
            <a:r>
              <a:t>- Ships as new projects inside the existing pacEHR.sln — no new deployable in Phase 1</a:t>
            </a:r>
          </a:p>
          <a:p>
            <a:r>
              <a:t>- Managed identity retires the committed keys, the SQL app-settings fallback and the four duplicated credential blocks in one change</a:t>
            </a:r>
          </a:p>
          <a:p>
            <a:r>
              <a:t>- The adapter preserves the four existing route contracts so the SPA is undisturbed behind a feature flag</a:t>
            </a:r>
          </a:p>
          <a:p/>
          <a:p>
            <a:r>
              <a:t>LIKELY QUESTIONS</a:t>
            </a:r>
          </a:p>
          <a:p>
            <a:r>
              <a:t>Q: Six new blocks sounds like a lot — is this a rewrite?</a:t>
            </a:r>
          </a:p>
          <a:p>
            <a:r>
              <a:t>A: No. The API host, hosting model, SQL tier, pipelines and the encounter form all stay. The new blocks are the AI engine itself, which today is roughly four service methods and some prompt strings.</a:t>
            </a:r>
          </a:p>
          <a:p>
            <a:r>
              <a:t>Q: Why is the experience block teal if the form does not change?</a:t>
            </a:r>
          </a:p>
          <a:p>
            <a:r>
              <a:t>A: The encounter form does not change. The review surface in front of it is new — that is what is teal.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This is the slide to leave up during discussion. It converts the argument from opinion into a checklist.</a:t>
            </a:r>
          </a:p>
          <a:p>
            <a:r>
              <a:t>- Six capabilities are absent entirely — orchestration, grounding, model gateway, evaluation, the human loop, and effective guardrails. Three are partial. Two exist.</a:t>
            </a:r>
          </a:p>
          <a:p>
            <a:r>
              <a:t>- The line that lands: we have been trying to solve an accuracy problem by improving prompts, while six of eleven standard capabilities are missing. Prompt work cannot compensate for an absent grounding layer or an absent evaluation loop.</a:t>
            </a:r>
          </a:p>
          <a:p>
            <a:r>
              <a:t>- Handle the guardrails row carefully. 'Client-side, one disabled' refers to the PHI masking function that returns its input unchanged. In a large room, keep it at that level; the detail is in the written docs.</a:t>
            </a:r>
          </a:p>
          <a:p>
            <a:r>
              <a:t>- The data-governance row is the one with a compliance owner attached. Do not skip it, but do not dwell either — decision 3 on the final slide covers it.</a:t>
            </a:r>
          </a:p>
          <a:p/>
          <a:p>
            <a:r>
              <a:t>EVIDENCE</a:t>
            </a:r>
          </a:p>
          <a:p>
            <a:r>
              <a:t>- Guardrails: detectInjection runs client-side only; maskPHI returns its input unchanged at phi-masker.ts:133</a:t>
            </a:r>
          </a:p>
          <a:p>
            <a:r>
              <a:t>- Observability: on two of seven calling contexts the stored log does not match what was sent on the wire</a:t>
            </a:r>
          </a:p>
          <a:p>
            <a:r>
              <a:t>- Model gateway: the credential and model selection block is duplicated verbatim across all four service methods</a:t>
            </a:r>
          </a:p>
          <a:p/>
          <a:p>
            <a:r>
              <a:t>LIKELY QUESTIONS</a:t>
            </a:r>
          </a:p>
          <a:p>
            <a:r>
              <a:t>Q: Is six of eleven not an indictment of the original build?</a:t>
            </a:r>
          </a:p>
          <a:p>
            <a:r>
              <a:t>A: No. This is a normal first-generation architecture. Almost every team ships the single-call version first — it is how you learn what the system actually needs. The point of the map is sequencing, not blame.</a:t>
            </a:r>
          </a:p>
          <a:p>
            <a:r>
              <a:t>Q: Which two would you do if we could only afford two?</a:t>
            </a:r>
          </a:p>
          <a:p>
            <a:r>
              <a:t>A: Grounding and the human loop. Grounding removes the largest source of invention; the human loop stops errors reaching the record and produces the data that lets us measure everything else.</a:t>
            </a:r>
          </a:p>
          <a:p>
            <a:r>
              <a:t>Q: Could we buy a product that has all eleven?</a:t>
            </a:r>
          </a:p>
          <a:p>
            <a:r>
              <a:t>A: For ambient note generation, partly — but no vendor will populate your template IDs against your field structure, and providers cannot be asked to restructure templates. Buy the speech layer, build the structured extraction.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This split is the most useful thing on the slide. Five of the nine components are ordinary code with ordinary tests.</a:t>
            </a:r>
          </a:p>
          <a:p>
            <a:r>
              <a:t>- That matters for the accuracy conversation: a large part of the system becomes provably correct rather than statistically hopeful — code candidates, normals expansion, completeness checks, span verification.</a:t>
            </a:r>
          </a:p>
          <a:p>
            <a:r>
              <a:t>- The four model-backed components are each narrow and schema-constrained. Compare with today, where one call does all of it at once.</a:t>
            </a:r>
          </a:p>
          <a:p>
            <a:r>
              <a:t>- Note the grounding judge is a cheap model, not the main one. It answers a simple question: is this statement supported by a cited span.</a:t>
            </a:r>
          </a:p>
          <a:p/>
          <a:p>
            <a:r>
              <a:t>EVIDENCE</a:t>
            </a:r>
          </a:p>
          <a:p>
            <a:r>
              <a:t>- Verification is 'mostly' deterministic — span existence and rule conformance are code; the unsupported-claim scan uses a cheap model as a second opinion</a:t>
            </a:r>
          </a:p>
          <a:p>
            <a:r>
              <a:t>- Cost shape: the expensive model is used only for the ledger, section composition and code justification</a:t>
            </a:r>
          </a:p>
          <a:p/>
          <a:p>
            <a:r>
              <a:t>LIKELY QUESTIONS</a:t>
            </a:r>
          </a:p>
          <a:p>
            <a:r>
              <a:t>Q: How do you test the model-backed parts?</a:t>
            </a:r>
          </a:p>
          <a:p>
            <a:r>
              <a:t>A: Against the eval set, on every prompt or model change — not with unit tests. The deterministic parts get unit tests and are gated at 100%.</a:t>
            </a:r>
          </a:p>
          <a:p>
            <a:r>
              <a:t>Q: Is the grounding judge not just another model that can be wrong?</a:t>
            </a:r>
          </a:p>
          <a:p>
            <a:r>
              <a:t>A: Yes, which is why the primary grounding signal is the deterministic span check. The judge is a second pass over what survives, not the gate.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Walk the numbers once. The key beats are step 3 (deterministic gathering before any model call), step 5 (parallel fan-out), and step 7 (nothing is saved before this).</a:t>
            </a:r>
          </a:p>
          <a:p>
            <a:r>
              <a:t>- Contrast with today's sequence, which is: provider presses button, one call, save. Three steps, no checks.</a:t>
            </a:r>
          </a:p>
          <a:p>
            <a:r>
              <a:t>- If asked about latency: steps 3 and 6 are code, step 5 is parallel, and step 6 can run after fields are already rendering. The sequence is longer on paper and comparable on the clock.</a:t>
            </a:r>
          </a:p>
          <a:p>
            <a:r>
              <a:t>- Emphasise the last line. It is the single sentence that answers the clinical-safety question.</a:t>
            </a:r>
          </a:p>
          <a:p/>
          <a:p>
            <a:r>
              <a:t>EVIDENCE</a:t>
            </a:r>
          </a:p>
          <a:p>
            <a:r>
              <a:t>- Idempotency keys per generation unit allow a failed step to retry without re-running the pipeline</a:t>
            </a:r>
          </a:p>
          <a:p>
            <a:r>
              <a:t>- Prompt cache breakpoint sits after step 2 and 3 output (stable) and before step 4 (volatile)</a:t>
            </a:r>
          </a:p>
          <a:p/>
          <a:p>
            <a:r>
              <a:t>LIKELY QUESTIONS</a:t>
            </a:r>
          </a:p>
          <a:p>
            <a:r>
              <a:t>Q: What if the model is slow or unavailable at step 5?</a:t>
            </a:r>
          </a:p>
          <a:p>
            <a:r>
              <a:t>A: Sections fail independently. The provider sees which section failed and can retry that one, rather than losing the whole draft.</a:t>
            </a:r>
          </a:p>
          <a:p>
            <a:r>
              <a:t>Q: Can a provider start reviewing before all sections finish?</a:t>
            </a:r>
          </a:p>
          <a:p>
            <a:r>
              <a:t>A: Yes — sections stream into the review surface as each completes.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Lead with the principle: the pipeline is a fixed sequence of steps, not an autonomous agent. That single fact removes the need for a heavy agent framework and keeps the stack small.</a:t>
            </a:r>
          </a:p>
          <a:p>
            <a:r>
              <a:t>- The model-abstraction row is the important one. It is what makes a model change a configuration change, which is the client's third stated priority after accuracy and compliance.</a:t>
            </a:r>
          </a:p>
          <a:p>
            <a:r>
              <a:t>- Be explicit that plain C# orchestration is a deliberate choice, not an omission. A five-stage pipeline with parallel fan-out is a few hundred lines and is fully debuggable with existing tooling — no new mental model for the team.</a:t>
            </a:r>
          </a:p>
          <a:p>
            <a:r>
              <a:t>- The DSPy row usually draws a question, so pre-empt it: DSPy optimises prompts against a metric using examples. We have neither today. Phase 1 produces both. So DSPy becomes genuinely useful in Phase 3, offline, as a build-time step that compiles better prompts — never something in the live request path.</a:t>
            </a:r>
          </a:p>
          <a:p>
            <a:r>
              <a:t>- IMPORTANT before presenting: confirm current package names and versions for the .NET AI abstractions. This deck deliberately names no version numbers, but check the naming is still current.</a:t>
            </a:r>
          </a:p>
          <a:p/>
          <a:p>
            <a:r>
              <a:t>EVIDENCE</a:t>
            </a:r>
          </a:p>
          <a:p>
            <a:r>
              <a:t>- Verify before presenting: exact package naming and status of the .NET AI abstraction layer, and of the Azure evaluation tooling — these move quickly and were not verifiable at time of writing</a:t>
            </a:r>
          </a:p>
          <a:p>
            <a:r>
              <a:t>- Semantic Kernel is listed as optional and scoped: templating and filters only, not planners or agents</a:t>
            </a:r>
          </a:p>
          <a:p>
            <a:r>
              <a:t>- Evaluation gates the deploy — a prompt or model change that regresses the eval set does not ship</a:t>
            </a:r>
          </a:p>
          <a:p/>
          <a:p>
            <a:r>
              <a:t>LIKELY QUESTIONS</a:t>
            </a:r>
          </a:p>
          <a:p>
            <a:r>
              <a:t>Q: Why not LangChain or LangGraph?</a:t>
            </a:r>
          </a:p>
          <a:p>
            <a:r>
              <a:t>A: Both are Python-first, and our backend is .NET. Adopting either means a second runtime, a second deployable and a second surface for the compliance review. And LangGraph's strength is stateful agent loops, which our fixed pipeline does not need. If we later build genuinely agentic features, we revisit it then.</a:t>
            </a:r>
          </a:p>
          <a:p>
            <a:r>
              <a:t>Q: Is plain C# not a step backwards versus a framework?</a:t>
            </a:r>
          </a:p>
          <a:p>
            <a:r>
              <a:t>A: For a fixed pipeline, a framework mostly adds indirection. We keep the parts frameworks genuinely provide — the provider abstraction and the middleware — and skip the parts we would not use.</a:t>
            </a:r>
          </a:p>
          <a:p>
            <a:r>
              <a:t>Q: Could we use DSPy now?</a:t>
            </a:r>
          </a:p>
          <a:p>
            <a:r>
              <a:t>A: No. It optimises against a metric using labelled examples, and we have neither yet. Trying to use it now would mean optimising against nothing.</a:t>
            </a:r>
          </a:p>
          <a:p>
            <a:r>
              <a:t>Q: Does this lock us to Azure OpenAI?</a:t>
            </a:r>
          </a:p>
          <a:p>
            <a:r>
              <a:t>A: No. That is exactly what the abstraction layer prevents. Model choice becomes configuration, gated on the eval set. What does constrain us is zero data retention — that filters the candidate models before accuracy ranks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Architecture reviews go better when the rejected options are named. Present this as decisions with reasons, not as preferences.</a:t>
            </a:r>
          </a:p>
          <a:p>
            <a:r>
              <a:t>- The LangChain row is the one to handle carefully if someone in the room champions it. The argument is not that it is a bad framework — it is that it is Python, our backend is .NET, and our pipeline is not agentic. Both halves of that matter.</a:t>
            </a:r>
          </a:p>
          <a:p>
            <a:r>
              <a:t>- The DSPy row is the strongest forward-looking story in the deck: Phase 1 builds the measurement substrate, and that substrate is exactly what an optimiser needs. It turns 'we have no labelled data' from a weakness into a sequencing argument.</a:t>
            </a:r>
          </a:p>
          <a:p>
            <a:r>
              <a:t>- If asked to commit: none of these are irreversible. The provider abstraction is the thing that keeps them reversible.</a:t>
            </a:r>
          </a:p>
          <a:p/>
          <a:p>
            <a:r>
              <a:t>EVIDENCE</a:t>
            </a:r>
          </a:p>
          <a:p>
            <a:r>
              <a:t>- Verify package naming and current status before presenting — this landscape moves quickly and could not be verified at time of writing</a:t>
            </a:r>
          </a:p>
          <a:p>
            <a:r>
              <a:t>- The self-hosted row connects to the compliance section: zero data retention is achievable on the managed service, so the main driver for self-hosting is absent</a:t>
            </a:r>
          </a:p>
          <a:p/>
          <a:p>
            <a:r>
              <a:t>LIKELY QUESTIONS</a:t>
            </a:r>
          </a:p>
          <a:p>
            <a:r>
              <a:t>Q: Our data science team already uses LangChain — why not reuse that skill?</a:t>
            </a:r>
          </a:p>
          <a:p>
            <a:r>
              <a:t>A: Worth weighing. If there is a Python service in the roadmap anyway, the calculus changes. In Phase 1 it would mean standing one up purely for this, which adds compliance and operational surface for a pipeline that does not need agent orchestration.</a:t>
            </a:r>
          </a:p>
          <a:p>
            <a:r>
              <a:t>Q: Are we not reinventing what these frameworks give us?</a:t>
            </a:r>
          </a:p>
          <a:p>
            <a:r>
              <a:t>A: We are adopting the parts that carry their weight — the provider abstraction, middleware and templating. We are skipping planners, agents and graph runtimes because our flow is a fixed sequence.</a:t>
            </a:r>
          </a:p>
          <a:p>
            <a:r>
              <a:t>Q: When would you revisit LangGraph?</a:t>
            </a:r>
          </a:p>
          <a:p>
            <a:r>
              <a:t>A: When we build something genuinely agentic — the Phase 2 chat refinement is the first candidate, if it grows beyond field-scoped edits.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Reassure early: the encounter form itself does not change. Same fields, same order.</a:t>
            </a:r>
          </a:p>
          <a:p>
            <a:r>
              <a:t>- What changes is that a review surface appears in front of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Lead with what does not change — capture is identical, and the encounter form keeps its fields and order.</a:t>
            </a:r>
          </a:p>
          <a:p>
            <a:r>
              <a:t>- Step 2 matters for adoption: today's perceived speed comes from watching text arrive. We keep that, but it streams into the review surface instead of into the form. The gate costs nothing in perceived latency.</a:t>
            </a:r>
          </a:p>
          <a:p>
            <a:r>
              <a:t>- Step 3 is the new step. The design goal is that the provider touches roughly four items, not thirty — because everything verified is collapsed and can be accepted in one click.</a:t>
            </a:r>
          </a:p>
          <a:p>
            <a:r>
              <a:t>- Say the distinction out loud: attesting is not proofreading. We are not asking clinicians to re-read the note; we are asking them to confirm the handful of things the system is not sure about.</a:t>
            </a:r>
          </a:p>
          <a:p/>
          <a:p>
            <a:r>
              <a:t>EVIDENCE</a:t>
            </a:r>
          </a:p>
          <a:p>
            <a:r>
              <a:t>- Provenance is tagged at input — dictated, typed, AI-generated or rules-derived — which is what makes step 3 trustworthy</a:t>
            </a:r>
          </a:p>
          <a:p>
            <a:r>
              <a:t>- Dragon writes into the DOM, so without input-time tagging, AI output could later be mistaken for provider input</a:t>
            </a:r>
          </a:p>
          <a:p/>
          <a:p>
            <a:r>
              <a:t>LIKELY QUESTIONS</a:t>
            </a:r>
          </a:p>
          <a:p>
            <a:r>
              <a:t>Q: How much longer will this take a provider?</a:t>
            </a:r>
          </a:p>
          <a:p>
            <a:r>
              <a:t>A: Net faster is the expectation, because it removes downstream correction and re-running. We should measure it in the pilot rather than assert it.</a:t>
            </a:r>
          </a:p>
          <a:p>
            <a:r>
              <a:t>Q: Will providers just click accept-all every time?</a:t>
            </a:r>
          </a:p>
          <a:p>
            <a:r>
              <a:t>A: Some will. That is why blockers cannot be bulk-accepted — only verified items can.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Point at the header: four items need attention, twenty-two are collapsed and verified. That ratio is the whole UX argument.</a:t>
            </a:r>
          </a:p>
          <a:p>
            <a:r>
              <a:t>- Point at the right column: every item shows the evidence behind it. The provider verifies by reading a few words, not re-reading the note.</a:t>
            </a:r>
          </a:p>
          <a:p>
            <a:r>
              <a:t>- Point at the greyed Sign button. It is disabled, not a warning dialog. A dialog is something people learn to dismiss; a disabled button with a stated reason is not.</a:t>
            </a:r>
          </a:p>
          <a:p>
            <a:r>
              <a:t>- The red row is the important one. When the AI produced something with no support in the note, we show it — we never silently delete it. Silently dropping would hide the hallucination and could lose something correct.</a:t>
            </a:r>
          </a:p>
          <a:p>
            <a:r>
              <a:t>- Whether a provider may override that red row is a clinical and legal decision, not an engineering one. We support either policy through configuration.</a:t>
            </a:r>
          </a:p>
          <a:p/>
          <a:p>
            <a:r>
              <a:t>EVIDENCE</a:t>
            </a:r>
          </a:p>
          <a:p>
            <a:r>
              <a:t>- Three states: verified (collapsed, bulk-acceptable), needs review (individually touched), blocker (submit disabled)</a:t>
            </a:r>
          </a:p>
          <a:p>
            <a:r>
              <a:t>- A per-field criticality setting supports hard-block, attested override, or strict-for-codes-only</a:t>
            </a:r>
          </a:p>
          <a:p>
            <a:r>
              <a:t>- For an attested override to be defensible it must record: user, timestamp, the exact unsupported text, the reason, and re-attribution of the source from ai-generated to provider-attested</a:t>
            </a:r>
          </a:p>
          <a:p/>
          <a:p>
            <a:r>
              <a:t>LIKELY QUESTIONS</a:t>
            </a:r>
          </a:p>
          <a:p>
            <a:r>
              <a:t>Q: Can a provider override a blocker?</a:t>
            </a:r>
          </a:p>
          <a:p>
            <a:r>
              <a:t>A: That is a policy decision for the clinical owner. The design supports all three positions without code changes.</a:t>
            </a:r>
          </a:p>
          <a:p>
            <a:r>
              <a:t>Q: What if the evidence panel shows the wrong span?</a:t>
            </a:r>
          </a:p>
          <a:p>
            <a:r>
              <a:t>A: Then the provider has caught a real error immediately — which is the point. Today they would have no way to know.</a:t>
            </a:r>
          </a:p>
          <a:p>
            <a:r>
              <a:t>Q: Is this screen in Phase 1?</a:t>
            </a:r>
          </a:p>
          <a:p>
            <a:r>
              <a:t>A: Recommended yes, and the reason is measurement, not aesthetics — see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This is the most important slide for the sceptics in the room, and it reframes the hardest open problem.</a:t>
            </a:r>
          </a:p>
          <a:p>
            <a:r>
              <a:t>- The reframe: the primary clinical rule is 'capture information, do not invent or infer it'. That is a FAITHFULNESS requirement, not a correctness requirement — and faithfulness is measurable without any reference data, because the reference is the input itself.</a:t>
            </a:r>
          </a:p>
          <a:p>
            <a:r>
              <a:t>- Three of the four questions are answerable in Phase 1 with no labelling effort at all.</a:t>
            </a:r>
          </a:p>
          <a:p>
            <a:r>
              <a:t>- The fourth needs real work, and there are two sources. First, the ten months of production logs give an implicit label on nearly every field: the clinician-signed value versus the AI draft. Disagreement is a candidate error. Free, at scale, retrospective.</a:t>
            </a:r>
          </a:p>
          <a:p>
            <a:r>
              <a:t>- Second, a golden set of roughly 150 to 300 encounters, stratified by template and specialty, labelled by clinicians against SarahLena's example notes. Roughly 20 to 40 clinician-hours. That is the one line item needing client staff.</a:t>
            </a:r>
          </a:p>
          <a:p>
            <a:r>
              <a:t>- And here is why the review screen belongs in Phase 1: accept, edit and reject IS the labelled dataset. Without it, Phase 1 has no way to generate ground truth. The review screen is the instrument, not decoration.</a:t>
            </a:r>
          </a:p>
          <a:p/>
          <a:p>
            <a:r>
              <a:t>EVIDENCE</a:t>
            </a:r>
          </a:p>
          <a:p>
            <a:r>
              <a:t>- Post-edit corpus caveat: it measures agreement with what the provider accepted, not clinical truth. A rubber-stamped wrong value reads as correct. Stratify, and adjudicate a sample.</a:t>
            </a:r>
          </a:p>
          <a:p>
            <a:r>
              <a:t>- Prerequisite: the logs are NOT pre-de-identified today, and on two of seven contexts the logs do not match what was sent</a:t>
            </a:r>
          </a:p>
          <a:p>
            <a:r>
              <a:t>- Retire 'always return NA if unsure' — it conflates 'not in the note', 'ambiguous' and 'model unsure', which makes omission unmeasurable</a:t>
            </a:r>
          </a:p>
          <a:p/>
          <a:p>
            <a:r>
              <a:t>LIKELY QUESTIONS</a:t>
            </a:r>
          </a:p>
          <a:p>
            <a:r>
              <a:t>Q: Can you commit to an accuracy percentage for Phase 1?</a:t>
            </a:r>
          </a:p>
          <a:p>
            <a:r>
              <a:t>A: Not honestly, not before the golden set exists. We can commit to faithfulness targets, zero unstated diagnoses, 100% schema validity, and no regression against the current baseline. Committing to a clinical-accuracy number with nothing to measure it against would not be credible.</a:t>
            </a:r>
          </a:p>
          <a:p>
            <a:r>
              <a:t>Q: What about the confidence scores we already have?</a:t>
            </a:r>
          </a:p>
          <a:p>
            <a:r>
              <a:t>A: We checked every branch and the full history — no AI note-generation confidence score exists in the codebase. The only confidence values are IMO terminology matching and HIE patient matching. Adding them is Phase 1 scope.</a:t>
            </a:r>
          </a:p>
          <a:p>
            <a:r>
              <a:t>Q: Confidence scores would solve this though, right?</a:t>
            </a:r>
          </a:p>
          <a:p>
            <a:r>
              <a:t>A: No. Self-reported confidence is not accuracy. We will store it for monitoring, but the trustworthy signal is the deterministic grounded flag — computed, not self-reported.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The NOW items are not architecture — they are verification and paperwork with external lead times.</a:t>
            </a:r>
          </a:p>
          <a:p>
            <a:r>
              <a:t>- The zero-data-retention approval is the long pole: it is not a portal toggle, it needs an enterprise agreement and approval, typically five to ten business days and up to about four weeks at peak. It gates go-live but not the build, so it must start immediately.</a:t>
            </a:r>
          </a:p>
          <a:p>
            <a:r>
              <a:t>- The config compiler is the right first build: it needs no approvals and no model access at all.</a:t>
            </a:r>
          </a:p>
          <a:p>
            <a:r>
              <a:t>- Phase 1.5 is the dictation work. The current integration uses a legacy browser bundle wrapped in crash-safe code. Microsoft publishes a supported migration to the successor SDK, which fixes exactly the problem that wrapper works around, and adds partner REST APIs that give the backend a transcript it can actually see. Same cloud, same agreement.</a:t>
            </a:r>
          </a:p>
          <a:p>
            <a:r>
              <a:t>- Phase 2 is only additive if Phase 1 models the note as a structured document rather than an HTML string. That is a Phase 1 design decision with Phase 2 consequences.</a:t>
            </a:r>
          </a:p>
          <a:p/>
          <a:p>
            <a:r>
              <a:t>EVIDENCE</a:t>
            </a:r>
          </a:p>
          <a:p>
            <a:r>
              <a:t>- Critical path: cloud approval, then config compiler, then instruction resolver, then orchestrator</a:t>
            </a:r>
          </a:p>
          <a:p>
            <a:r>
              <a:t>- Phase 0 also includes deciding the PHI posture deliberately rather than by accident</a:t>
            </a:r>
          </a:p>
          <a:p>
            <a:r>
              <a:t>- Current dictation: Nuance SpeechAnywhere build 5.6.10.1, loaded from an external host into index.html, driven via vendor globals</a:t>
            </a:r>
          </a:p>
          <a:p/>
          <a:p>
            <a:r>
              <a:t>LIKELY QUESTIONS</a:t>
            </a:r>
          </a:p>
          <a:p>
            <a:r>
              <a:t>Q: Can Phase 1 and Phase 1.5 run together?</a:t>
            </a:r>
          </a:p>
          <a:p>
            <a:r>
              <a:t>A: Yes, they touch different code. Phase 1.5 needs frontend capacity, so it depends on staffing rather than sequencing.</a:t>
            </a:r>
          </a:p>
          <a:p>
            <a:r>
              <a:t>Q: What if the cloud approval is refused or delayed?</a:t>
            </a:r>
          </a:p>
          <a:p>
            <a:r>
              <a:t>A: Then we cannot go live with real patient data on that path, which is exactly why it starts now rather than after the build.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Keep this slide up during discussion — it is the action list.</a:t>
            </a:r>
          </a:p>
          <a:p>
            <a:r>
              <a:t>- Number one is a single query against the application settings table and it should be answered today.</a:t>
            </a:r>
          </a:p>
          <a:p>
            <a:r>
              <a:t>- Number three is the one people assume is already handled. It is not: nothing in the current pipeline removes identifiers, so the logs contain full patient data. That makes de-identification a real ETL workstream before anything can be shared.</a:t>
            </a:r>
          </a:p>
          <a:p>
            <a:r>
              <a:t>- Number four is a scope conversation. Argue it on measurement grounds rather than user experience: without the review screen, Phase 1 cannot generate the labels needed to prove accuracy.</a:t>
            </a:r>
          </a:p>
          <a:p>
            <a:r>
              <a:t>- Number five is a data-capture decision that only the clinical side can make.</a:t>
            </a:r>
          </a:p>
          <a:p/>
          <a:p>
            <a:r>
              <a:t>EVIDENCE</a:t>
            </a:r>
          </a:p>
          <a:p>
            <a:r>
              <a:t>- Full decision list, including the three amber items, is in docs/architecture/design/12-ai-phase1-implementation-architecture.md Part 6</a:t>
            </a:r>
          </a:p>
          <a:p/>
          <a:p>
            <a:r>
              <a:t>LIKELY QUESTIONS</a:t>
            </a:r>
          </a:p>
          <a:p>
            <a:r>
              <a:t>Q: Can we decide these after the build starts?</a:t>
            </a:r>
          </a:p>
          <a:p>
            <a:r>
              <a:t>A: One to three, no — they block. Four and five can follow, but four gets more expensive the later it lands.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 End on the reassurance, not the critique: nothing proposed requires providers to change how they work or how templates are built.</a:t>
            </a:r>
          </a:p>
          <a:p>
            <a:r>
              <a:t>- Then hand straight to the decisions slide for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57400"/>
            <a:ext cx="10058400" cy="292608"/>
          </a:xfrm>
          <a:prstGeom prst="rect">
            <a:avLst/>
          </a:prstGeom>
          <a:noFill/>
        </p:spPr>
        <p:txBody>
          <a:bodyPr wrap="square" anchor="t" lIns="0" rIns="0" tIns="0" bIns="0">
            <a:spAutoFit/>
          </a:bodyPr>
          <a:lstStyle/>
          <a:p>
            <a:pPr algn="l">
              <a:lnSpc>
                <a:spcPct val="100000"/>
              </a:lnSpc>
            </a:pPr>
            <a:r>
              <a:rPr sz="1300" b="1" i="0">
                <a:solidFill>
                  <a:srgbClr val="0F766E"/>
                </a:solidFill>
                <a:latin typeface="Segoe UI"/>
              </a:rPr>
              <a:t>PACEHR  ·  AI CLINICAL DOCUMENTATION</a:t>
            </a:r>
          </a:p>
        </p:txBody>
      </p:sp>
      <p:sp>
        <p:nvSpPr>
          <p:cNvPr id="5" name="TextBox 4"/>
          <p:cNvSpPr txBox="1"/>
          <p:nvPr/>
        </p:nvSpPr>
        <p:spPr>
          <a:xfrm>
            <a:off x="1188720" y="2560320"/>
            <a:ext cx="10332720" cy="1554480"/>
          </a:xfrm>
          <a:prstGeom prst="rect">
            <a:avLst/>
          </a:prstGeom>
          <a:noFill/>
        </p:spPr>
        <p:txBody>
          <a:bodyPr wrap="square" anchor="t" lIns="0" rIns="0" tIns="0" bIns="0">
            <a:spAutoFit/>
          </a:bodyPr>
          <a:lstStyle/>
          <a:p>
            <a:pPr algn="l">
              <a:lnSpc>
                <a:spcPct val="105000"/>
              </a:lnSpc>
            </a:pPr>
            <a:r>
              <a:rPr sz="4600" b="1" i="0">
                <a:solidFill>
                  <a:srgbClr val="FFFFFF"/>
                </a:solidFill>
                <a:latin typeface="Segoe UI"/>
              </a:rPr>
              <a:t>Where accuracy is lost,</a:t>
            </a:r>
          </a:p>
          <a:p>
            <a:pPr algn="l">
              <a:lnSpc>
                <a:spcPct val="105000"/>
              </a:lnSpc>
            </a:pPr>
            <a:r>
              <a:rPr sz="4600" b="1" i="0">
                <a:solidFill>
                  <a:srgbClr val="FFFFFF"/>
                </a:solidFill>
                <a:latin typeface="Segoe UI"/>
              </a:rPr>
              <a:t>and how we fix it</a:t>
            </a:r>
          </a:p>
        </p:txBody>
      </p:sp>
      <p:sp>
        <p:nvSpPr>
          <p:cNvPr id="6" name="Rectangle 5"/>
          <p:cNvSpPr/>
          <p:nvPr/>
        </p:nvSpPr>
        <p:spPr>
          <a:xfrm>
            <a:off x="1188720" y="4370832"/>
            <a:ext cx="329184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663440"/>
            <a:ext cx="9509760" cy="457200"/>
          </a:xfrm>
          <a:prstGeom prst="rect">
            <a:avLst/>
          </a:prstGeom>
          <a:noFill/>
        </p:spPr>
        <p:txBody>
          <a:bodyPr wrap="square" anchor="t" lIns="0" rIns="0" tIns="0" bIns="0">
            <a:spAutoFit/>
          </a:bodyPr>
          <a:lstStyle/>
          <a:p>
            <a:pPr algn="l">
              <a:lnSpc>
                <a:spcPct val="100000"/>
              </a:lnSpc>
            </a:pPr>
            <a:r>
              <a:rPr sz="1600" b="0" i="0">
                <a:solidFill>
                  <a:srgbClr val="9FB3C8"/>
                </a:solidFill>
                <a:latin typeface="Segoe UI"/>
              </a:rPr>
              <a:t>Current architecture and proposed solution  ·  frontend and backend</a:t>
            </a:r>
          </a:p>
        </p:txBody>
      </p:sp>
      <p:sp>
        <p:nvSpPr>
          <p:cNvPr id="8" name="TextBox 7"/>
          <p:cNvSpPr txBox="1"/>
          <p:nvPr/>
        </p:nvSpPr>
        <p:spPr>
          <a:xfrm>
            <a:off x="1188720" y="5852160"/>
            <a:ext cx="6400800" cy="365760"/>
          </a:xfrm>
          <a:prstGeom prst="rect">
            <a:avLst/>
          </a:prstGeom>
          <a:noFill/>
        </p:spPr>
        <p:txBody>
          <a:bodyPr wrap="square" anchor="t" lIns="0" rIns="0" tIns="0" bIns="0">
            <a:spAutoFit/>
          </a:bodyPr>
          <a:lstStyle/>
          <a:p>
            <a:pPr algn="l">
              <a:lnSpc>
                <a:spcPct val="100000"/>
              </a:lnSpc>
            </a:pPr>
            <a:r>
              <a:rPr sz="1250" b="0" i="0">
                <a:solidFill>
                  <a:srgbClr val="6B7F96"/>
                </a:solidFill>
                <a:latin typeface="Segoe UI"/>
              </a:rPr>
              <a:t>Architecture Review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a:t>
            </a:r>
          </a:p>
        </p:txBody>
      </p:sp>
      <p:sp>
        <p:nvSpPr>
          <p:cNvPr id="3" name="TextBox 2"/>
          <p:cNvSpPr txBox="1"/>
          <p:nvPr/>
        </p:nvSpPr>
        <p:spPr>
          <a:xfrm>
            <a:off x="777240" y="1234440"/>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THE PROBLEM</a:t>
            </a:r>
          </a:p>
        </p:txBody>
      </p:sp>
      <p:sp>
        <p:nvSpPr>
          <p:cNvPr id="4" name="TextBox 3"/>
          <p:cNvSpPr txBox="1"/>
          <p:nvPr/>
        </p:nvSpPr>
        <p:spPr>
          <a:xfrm>
            <a:off x="777240" y="1691640"/>
            <a:ext cx="10698480" cy="2377440"/>
          </a:xfrm>
          <a:prstGeom prst="rect">
            <a:avLst/>
          </a:prstGeom>
          <a:noFill/>
        </p:spPr>
        <p:txBody>
          <a:bodyPr wrap="square" anchor="t" lIns="0" rIns="0" tIns="0" bIns="0">
            <a:spAutoFit/>
          </a:bodyPr>
          <a:lstStyle/>
          <a:p>
            <a:pPr algn="l">
              <a:lnSpc>
                <a:spcPct val="128000"/>
              </a:lnSpc>
            </a:pPr>
            <a:r>
              <a:rPr sz="3000" b="1" i="0">
                <a:solidFill>
                  <a:srgbClr val="10233A"/>
                </a:solidFill>
                <a:latin typeface="Segoe UI"/>
              </a:rPr>
              <a:t>We ask one model call to do four different jobs,</a:t>
            </a:r>
          </a:p>
          <a:p>
            <a:pPr algn="l">
              <a:lnSpc>
                <a:spcPct val="128000"/>
              </a:lnSpc>
            </a:pPr>
            <a:r>
              <a:rPr sz="3000" b="1" i="0">
                <a:solidFill>
                  <a:srgbClr val="10233A"/>
                </a:solidFill>
                <a:latin typeface="Segoe UI"/>
              </a:rPr>
              <a:t>give it no access to the patient chart,</a:t>
            </a:r>
          </a:p>
          <a:p>
            <a:pPr algn="l">
              <a:lnSpc>
                <a:spcPct val="128000"/>
              </a:lnSpc>
            </a:pPr>
            <a:r>
              <a:rPr sz="3000" b="1" i="0">
                <a:solidFill>
                  <a:srgbClr val="10233A"/>
                </a:solidFill>
                <a:latin typeface="Segoe UI"/>
              </a:rPr>
              <a:t>never check what it returns,</a:t>
            </a:r>
          </a:p>
          <a:p>
            <a:pPr algn="l">
              <a:lnSpc>
                <a:spcPct val="128000"/>
              </a:lnSpc>
            </a:pPr>
            <a:r>
              <a:rPr sz="3000" b="1" i="0">
                <a:solidFill>
                  <a:srgbClr val="10233A"/>
                </a:solidFill>
                <a:latin typeface="Segoe UI"/>
              </a:rPr>
              <a:t>and then save it automatically.</a:t>
            </a:r>
          </a:p>
        </p:txBody>
      </p:sp>
      <p:sp>
        <p:nvSpPr>
          <p:cNvPr id="5" name="Rectangle 4"/>
          <p:cNvSpPr/>
          <p:nvPr/>
        </p:nvSpPr>
        <p:spPr>
          <a:xfrm>
            <a:off x="777240" y="4434840"/>
            <a:ext cx="10607040" cy="127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709160"/>
            <a:ext cx="10607040" cy="822960"/>
          </a:xfrm>
          <a:prstGeom prst="rect">
            <a:avLst/>
          </a:prstGeom>
          <a:noFill/>
        </p:spPr>
        <p:txBody>
          <a:bodyPr wrap="square" anchor="t" lIns="0" rIns="0" tIns="0" bIns="0">
            <a:spAutoFit/>
          </a:bodyPr>
          <a:lstStyle/>
          <a:p>
            <a:pPr algn="l">
              <a:lnSpc>
                <a:spcPct val="120000"/>
              </a:lnSpc>
            </a:pPr>
            <a:r>
              <a:rPr sz="1900" b="1" i="0">
                <a:solidFill>
                  <a:srgbClr val="0F766E"/>
                </a:solidFill>
                <a:latin typeface="Segoe UI"/>
              </a:rPr>
              <a:t>Every one of those is fixable without changing a single template or field order.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514600"/>
            <a:ext cx="1280160" cy="822960"/>
          </a:xfrm>
          <a:prstGeom prst="rect">
            <a:avLst/>
          </a:prstGeom>
          <a:noFill/>
        </p:spPr>
        <p:txBody>
          <a:bodyPr wrap="square" anchor="t" lIns="0" rIns="0" tIns="0" bIns="0">
            <a:spAutoFit/>
          </a:bodyPr>
          <a:lstStyle/>
          <a:p>
            <a:pPr algn="l">
              <a:lnSpc>
                <a:spcPct val="100000"/>
              </a:lnSpc>
            </a:pPr>
            <a:r>
              <a:rPr sz="5800" b="1" i="0">
                <a:solidFill>
                  <a:srgbClr val="0F766E"/>
                </a:solidFill>
                <a:latin typeface="Segoe UI"/>
              </a:rPr>
              <a:t>01</a:t>
            </a:r>
          </a:p>
        </p:txBody>
      </p:sp>
      <p:sp>
        <p:nvSpPr>
          <p:cNvPr id="4" name="TextBox 3"/>
          <p:cNvSpPr txBox="1"/>
          <p:nvPr/>
        </p:nvSpPr>
        <p:spPr>
          <a:xfrm>
            <a:off x="2331720" y="2651760"/>
            <a:ext cx="8778240" cy="640080"/>
          </a:xfrm>
          <a:prstGeom prst="rect">
            <a:avLst/>
          </a:prstGeom>
          <a:noFill/>
        </p:spPr>
        <p:txBody>
          <a:bodyPr wrap="square" anchor="t" lIns="0" rIns="0" tIns="0" bIns="0">
            <a:spAutoFit/>
          </a:bodyPr>
          <a:lstStyle/>
          <a:p>
            <a:pPr algn="l">
              <a:lnSpc>
                <a:spcPct val="100000"/>
              </a:lnSpc>
            </a:pPr>
            <a:r>
              <a:rPr sz="3600" b="1" i="0">
                <a:solidFill>
                  <a:srgbClr val="FFFFFF"/>
                </a:solidFill>
                <a:latin typeface="Segoe UI"/>
              </a:rPr>
              <a:t>How it works today</a:t>
            </a:r>
          </a:p>
        </p:txBody>
      </p:sp>
      <p:sp>
        <p:nvSpPr>
          <p:cNvPr id="5" name="TextBox 4"/>
          <p:cNvSpPr txBox="1"/>
          <p:nvPr/>
        </p:nvSpPr>
        <p:spPr>
          <a:xfrm>
            <a:off x="2377440" y="3401568"/>
            <a:ext cx="8595360" cy="457200"/>
          </a:xfrm>
          <a:prstGeom prst="rect">
            <a:avLst/>
          </a:prstGeom>
          <a:noFill/>
        </p:spPr>
        <p:txBody>
          <a:bodyPr wrap="square" anchor="t" lIns="0" rIns="0" tIns="0" bIns="0">
            <a:spAutoFit/>
          </a:bodyPr>
          <a:lstStyle/>
          <a:p>
            <a:pPr algn="l">
              <a:lnSpc>
                <a:spcPct val="100000"/>
              </a:lnSpc>
            </a:pPr>
            <a:r>
              <a:rPr sz="1450" b="0" i="0">
                <a:solidFill>
                  <a:srgbClr val="9FB3C8"/>
                </a:solidFill>
                <a:latin typeface="Segoe UI"/>
              </a:rPr>
              <a:t>Frontend and backend</a:t>
            </a:r>
          </a:p>
        </p:txBody>
      </p:sp>
      <p:sp>
        <p:nvSpPr>
          <p:cNvPr id="6" name="Rectangle 5"/>
          <p:cNvSpPr/>
          <p:nvPr/>
        </p:nvSpPr>
        <p:spPr>
          <a:xfrm>
            <a:off x="2377440" y="3310128"/>
            <a:ext cx="2743200"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950" b="0" i="0">
                <a:solidFill>
                  <a:srgbClr val="55667D"/>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TODAY</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The whole flow is one request</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Provider presses the AI button, and a single call does everything.</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4</a:t>
            </a:r>
          </a:p>
        </p:txBody>
      </p:sp>
      <p:sp>
        <p:nvSpPr>
          <p:cNvPr id="6" name="Rounded Rectangle 5"/>
          <p:cNvSpPr/>
          <p:nvPr/>
        </p:nvSpPr>
        <p:spPr>
          <a:xfrm>
            <a:off x="777240" y="2715768"/>
            <a:ext cx="1810512" cy="141732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0233A"/>
                </a:solidFill>
                <a:latin typeface="Segoe UI"/>
              </a:rPr>
              <a:t>PROVIDER</a:t>
            </a:r>
          </a:p>
          <a:p>
            <a:pPr algn="ctr"/>
            <a:r>
              <a:rPr sz="1300" b="0">
                <a:solidFill>
                  <a:srgbClr val="10233A"/>
                </a:solidFill>
                <a:latin typeface="Segoe UI"/>
              </a:rPr>
              <a:t/>
            </a:r>
          </a:p>
          <a:p>
            <a:pPr algn="ctr"/>
            <a:r>
              <a:rPr sz="1300" b="0">
                <a:solidFill>
                  <a:srgbClr val="10233A"/>
                </a:solidFill>
                <a:latin typeface="Segoe UI"/>
              </a:rPr>
              <a:t>dictates or types</a:t>
            </a:r>
          </a:p>
          <a:p>
            <a:pPr algn="ctr"/>
            <a:r>
              <a:rPr sz="1300" b="0">
                <a:solidFill>
                  <a:srgbClr val="10233A"/>
                </a:solidFill>
                <a:latin typeface="Segoe UI"/>
              </a:rPr>
              <a:t>the encounter note</a:t>
            </a:r>
          </a:p>
        </p:txBody>
      </p:sp>
      <p:sp>
        <p:nvSpPr>
          <p:cNvPr id="7" name="Right Arrow 6"/>
          <p:cNvSpPr/>
          <p:nvPr/>
        </p:nvSpPr>
        <p:spPr>
          <a:xfrm>
            <a:off x="2642616" y="3282696"/>
            <a:ext cx="274320" cy="27432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71800" y="2715768"/>
            <a:ext cx="1810512" cy="141732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0233A"/>
                </a:solidFill>
                <a:latin typeface="Segoe UI"/>
              </a:rPr>
              <a:t>BROWSER</a:t>
            </a:r>
          </a:p>
          <a:p>
            <a:pPr algn="ctr"/>
            <a:r>
              <a:rPr sz="1300" b="0">
                <a:solidFill>
                  <a:srgbClr val="10233A"/>
                </a:solidFill>
                <a:latin typeface="Segoe UI"/>
              </a:rPr>
              <a:t/>
            </a:r>
          </a:p>
          <a:p>
            <a:pPr algn="ctr"/>
            <a:r>
              <a:rPr sz="1300" b="0">
                <a:solidFill>
                  <a:srgbClr val="10233A"/>
                </a:solidFill>
                <a:latin typeface="Segoe UI"/>
              </a:rPr>
              <a:t>builds the prompt</a:t>
            </a:r>
          </a:p>
          <a:p>
            <a:pPr algn="ctr"/>
            <a:r>
              <a:rPr sz="1300" b="0">
                <a:solidFill>
                  <a:srgbClr val="10233A"/>
                </a:solidFill>
                <a:latin typeface="Segoe UI"/>
              </a:rPr>
              <a:t>sends one request</a:t>
            </a:r>
          </a:p>
        </p:txBody>
      </p:sp>
      <p:sp>
        <p:nvSpPr>
          <p:cNvPr id="9" name="Right Arrow 8"/>
          <p:cNvSpPr/>
          <p:nvPr/>
        </p:nvSpPr>
        <p:spPr>
          <a:xfrm>
            <a:off x="4837176" y="3282696"/>
            <a:ext cx="274320" cy="27432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66359" y="2715768"/>
            <a:ext cx="1810512" cy="141732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0233A"/>
                </a:solidFill>
                <a:latin typeface="Segoe UI"/>
              </a:rPr>
              <a:t>API</a:t>
            </a:r>
          </a:p>
          <a:p>
            <a:pPr algn="ctr"/>
            <a:r>
              <a:rPr sz="1300" b="0">
                <a:solidFill>
                  <a:srgbClr val="10233A"/>
                </a:solidFill>
                <a:latin typeface="Segoe UI"/>
              </a:rPr>
              <a:t/>
            </a:r>
          </a:p>
          <a:p>
            <a:pPr algn="ctr"/>
            <a:r>
              <a:rPr sz="1300" b="0">
                <a:solidFill>
                  <a:srgbClr val="10233A"/>
                </a:solidFill>
                <a:latin typeface="Segoe UI"/>
              </a:rPr>
              <a:t>adds the credential</a:t>
            </a:r>
          </a:p>
          <a:p>
            <a:pPr algn="ctr"/>
            <a:r>
              <a:rPr sz="1300" b="0">
                <a:solidFill>
                  <a:srgbClr val="10233A"/>
                </a:solidFill>
                <a:latin typeface="Segoe UI"/>
              </a:rPr>
              <a:t>forwards it</a:t>
            </a:r>
          </a:p>
        </p:txBody>
      </p:sp>
      <p:sp>
        <p:nvSpPr>
          <p:cNvPr id="11" name="Right Arrow 10"/>
          <p:cNvSpPr/>
          <p:nvPr/>
        </p:nvSpPr>
        <p:spPr>
          <a:xfrm>
            <a:off x="7031735" y="3282696"/>
            <a:ext cx="274320" cy="27432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60919" y="2715768"/>
            <a:ext cx="1810512" cy="1417320"/>
          </a:xfrm>
          <a:prstGeom prst="roundRect">
            <a:avLst>
              <a:gd name="adj" fmla="val 8000"/>
            </a:avLst>
          </a:prstGeom>
          <a:solidFill>
            <a:srgbClr val="FDF0D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B45309"/>
                </a:solidFill>
                <a:latin typeface="Segoe UI"/>
              </a:rPr>
              <a:t>gpt-4o</a:t>
            </a:r>
          </a:p>
          <a:p>
            <a:pPr algn="ctr"/>
            <a:r>
              <a:rPr sz="1300" b="0">
                <a:solidFill>
                  <a:srgbClr val="B45309"/>
                </a:solidFill>
                <a:latin typeface="Segoe UI"/>
              </a:rPr>
              <a:t/>
            </a:r>
          </a:p>
          <a:p>
            <a:pPr algn="ctr"/>
            <a:r>
              <a:rPr sz="1300" b="0">
                <a:solidFill>
                  <a:srgbClr val="B45309"/>
                </a:solidFill>
                <a:latin typeface="Segoe UI"/>
              </a:rPr>
              <a:t>one call</a:t>
            </a:r>
          </a:p>
          <a:p>
            <a:pPr algn="ctr"/>
            <a:r>
              <a:rPr sz="1300" b="0">
                <a:solidFill>
                  <a:srgbClr val="B45309"/>
                </a:solidFill>
                <a:latin typeface="Segoe UI"/>
              </a:rPr>
              <a:t>formats + codes + dates</a:t>
            </a:r>
          </a:p>
        </p:txBody>
      </p:sp>
      <p:sp>
        <p:nvSpPr>
          <p:cNvPr id="13" name="Right Arrow 12"/>
          <p:cNvSpPr/>
          <p:nvPr/>
        </p:nvSpPr>
        <p:spPr>
          <a:xfrm>
            <a:off x="9226296" y="3282696"/>
            <a:ext cx="274320" cy="27432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55480" y="2715768"/>
            <a:ext cx="1810512" cy="1417320"/>
          </a:xfrm>
          <a:prstGeom prst="roundRect">
            <a:avLst>
              <a:gd name="adj" fmla="val 8000"/>
            </a:avLst>
          </a:prstGeom>
          <a:solidFill>
            <a:srgbClr val="FCE7E7"/>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B91C1C"/>
                </a:solidFill>
                <a:latin typeface="Segoe UI"/>
              </a:rPr>
              <a:t>ENCOUNTER</a:t>
            </a:r>
          </a:p>
          <a:p>
            <a:pPr algn="ctr"/>
            <a:r>
              <a:rPr sz="1300" b="0">
                <a:solidFill>
                  <a:srgbClr val="B91C1C"/>
                </a:solidFill>
                <a:latin typeface="Segoe UI"/>
              </a:rPr>
              <a:t/>
            </a:r>
          </a:p>
          <a:p>
            <a:pPr algn="ctr"/>
            <a:r>
              <a:rPr sz="1300" b="0">
                <a:solidFill>
                  <a:srgbClr val="B91C1C"/>
                </a:solidFill>
                <a:latin typeface="Segoe UI"/>
              </a:rPr>
              <a:t>saved automatically</a:t>
            </a:r>
          </a:p>
          <a:p>
            <a:pPr algn="ctr"/>
            <a:r>
              <a:rPr sz="1300" b="0">
                <a:solidFill>
                  <a:srgbClr val="B91C1C"/>
                </a:solidFill>
                <a:latin typeface="Segoe UI"/>
              </a:rPr>
              <a:t>1 second later</a:t>
            </a:r>
          </a:p>
        </p:txBody>
      </p:sp>
      <p:sp>
        <p:nvSpPr>
          <p:cNvPr id="15" name="TextBox 14"/>
          <p:cNvSpPr txBox="1"/>
          <p:nvPr/>
        </p:nvSpPr>
        <p:spPr>
          <a:xfrm>
            <a:off x="777240" y="4681728"/>
            <a:ext cx="10607040" cy="365760"/>
          </a:xfrm>
          <a:prstGeom prst="rect">
            <a:avLst/>
          </a:prstGeom>
          <a:noFill/>
        </p:spPr>
        <p:txBody>
          <a:bodyPr wrap="square" anchor="t" lIns="0" rIns="0" tIns="0" bIns="0">
            <a:spAutoFit/>
          </a:bodyPr>
          <a:lstStyle/>
          <a:p>
            <a:pPr algn="ctr">
              <a:lnSpc>
                <a:spcPct val="100000"/>
              </a:lnSpc>
            </a:pPr>
            <a:r>
              <a:rPr sz="2200" b="1" i="0">
                <a:solidFill>
                  <a:srgbClr val="B91C1C"/>
                </a:solidFill>
                <a:latin typeface="Segoe UI"/>
              </a:rPr>
              <a:t>No review. No validation. No way to fix one field.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ROOT CAUSE 1</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One call, four different jobs</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Each needs different context, different reasoning and different checking.</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5</a:t>
            </a:r>
          </a:p>
        </p:txBody>
      </p:sp>
      <p:sp>
        <p:nvSpPr>
          <p:cNvPr id="6" name="Rounded Rectangle 5"/>
          <p:cNvSpPr/>
          <p:nvPr/>
        </p:nvSpPr>
        <p:spPr>
          <a:xfrm>
            <a:off x="777240" y="2807208"/>
            <a:ext cx="2432304"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0233A"/>
                </a:solidFill>
                <a:latin typeface="Segoe UI"/>
              </a:rPr>
              <a:t>Format</a:t>
            </a:r>
          </a:p>
          <a:p>
            <a:pPr algn="ctr"/>
            <a:r>
              <a:rPr sz="1600" b="0">
                <a:solidFill>
                  <a:srgbClr val="10233A"/>
                </a:solidFill>
                <a:latin typeface="Segoe UI"/>
              </a:rPr>
              <a:t>every field</a:t>
            </a:r>
          </a:p>
        </p:txBody>
      </p:sp>
      <p:sp>
        <p:nvSpPr>
          <p:cNvPr id="7" name="TextBox 6"/>
          <p:cNvSpPr txBox="1"/>
          <p:nvPr/>
        </p:nvSpPr>
        <p:spPr>
          <a:xfrm>
            <a:off x="777240" y="4270248"/>
            <a:ext cx="2432304" cy="274320"/>
          </a:xfrm>
          <a:prstGeom prst="rect">
            <a:avLst/>
          </a:prstGeom>
          <a:noFill/>
        </p:spPr>
        <p:txBody>
          <a:bodyPr wrap="square" anchor="t" lIns="0" rIns="0" tIns="0" bIns="0">
            <a:spAutoFit/>
          </a:bodyPr>
          <a:lstStyle/>
          <a:p>
            <a:pPr algn="ctr">
              <a:lnSpc>
                <a:spcPct val="100000"/>
              </a:lnSpc>
            </a:pPr>
            <a:r>
              <a:rPr sz="1200" b="1" i="0">
                <a:solidFill>
                  <a:srgbClr val="64748B"/>
                </a:solidFill>
                <a:latin typeface="Segoe UI"/>
              </a:rPr>
              <a:t>narrative writing</a:t>
            </a:r>
          </a:p>
        </p:txBody>
      </p:sp>
      <p:sp>
        <p:nvSpPr>
          <p:cNvPr id="8" name="Rounded Rectangle 7"/>
          <p:cNvSpPr/>
          <p:nvPr/>
        </p:nvSpPr>
        <p:spPr>
          <a:xfrm>
            <a:off x="3483864" y="2807208"/>
            <a:ext cx="2432304"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0233A"/>
                </a:solidFill>
                <a:latin typeface="Segoe UI"/>
              </a:rPr>
              <a:t>Extract</a:t>
            </a:r>
          </a:p>
          <a:p>
            <a:pPr algn="ctr"/>
            <a:r>
              <a:rPr sz="1600" b="0">
                <a:solidFill>
                  <a:srgbClr val="10233A"/>
                </a:solidFill>
                <a:latin typeface="Segoe UI"/>
              </a:rPr>
              <a:t>ICD codes</a:t>
            </a:r>
          </a:p>
        </p:txBody>
      </p:sp>
      <p:sp>
        <p:nvSpPr>
          <p:cNvPr id="9" name="TextBox 8"/>
          <p:cNvSpPr txBox="1"/>
          <p:nvPr/>
        </p:nvSpPr>
        <p:spPr>
          <a:xfrm>
            <a:off x="3483864" y="4270248"/>
            <a:ext cx="2432304" cy="274320"/>
          </a:xfrm>
          <a:prstGeom prst="rect">
            <a:avLst/>
          </a:prstGeom>
          <a:noFill/>
        </p:spPr>
        <p:txBody>
          <a:bodyPr wrap="square" anchor="t" lIns="0" rIns="0" tIns="0" bIns="0">
            <a:spAutoFit/>
          </a:bodyPr>
          <a:lstStyle/>
          <a:p>
            <a:pPr algn="ctr">
              <a:lnSpc>
                <a:spcPct val="100000"/>
              </a:lnSpc>
            </a:pPr>
            <a:r>
              <a:rPr sz="1200" b="1" i="0">
                <a:solidFill>
                  <a:srgbClr val="64748B"/>
                </a:solidFill>
                <a:latin typeface="Segoe UI"/>
              </a:rPr>
              <a:t>clinical coding</a:t>
            </a:r>
          </a:p>
        </p:txBody>
      </p:sp>
      <p:sp>
        <p:nvSpPr>
          <p:cNvPr id="10" name="Rounded Rectangle 9"/>
          <p:cNvSpPr/>
          <p:nvPr/>
        </p:nvSpPr>
        <p:spPr>
          <a:xfrm>
            <a:off x="6190488" y="2807208"/>
            <a:ext cx="2432304"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0233A"/>
                </a:solidFill>
                <a:latin typeface="Segoe UI"/>
              </a:rPr>
              <a:t>Select</a:t>
            </a:r>
          </a:p>
          <a:p>
            <a:pPr algn="ctr"/>
            <a:r>
              <a:rPr sz="1600" b="0">
                <a:solidFill>
                  <a:srgbClr val="10233A"/>
                </a:solidFill>
                <a:latin typeface="Segoe UI"/>
              </a:rPr>
              <a:t>CPT codes</a:t>
            </a:r>
          </a:p>
        </p:txBody>
      </p:sp>
      <p:sp>
        <p:nvSpPr>
          <p:cNvPr id="11" name="TextBox 10"/>
          <p:cNvSpPr txBox="1"/>
          <p:nvPr/>
        </p:nvSpPr>
        <p:spPr>
          <a:xfrm>
            <a:off x="6190488" y="4270248"/>
            <a:ext cx="2432304" cy="274320"/>
          </a:xfrm>
          <a:prstGeom prst="rect">
            <a:avLst/>
          </a:prstGeom>
          <a:noFill/>
        </p:spPr>
        <p:txBody>
          <a:bodyPr wrap="square" anchor="t" lIns="0" rIns="0" tIns="0" bIns="0">
            <a:spAutoFit/>
          </a:bodyPr>
          <a:lstStyle/>
          <a:p>
            <a:pPr algn="ctr">
              <a:lnSpc>
                <a:spcPct val="100000"/>
              </a:lnSpc>
            </a:pPr>
            <a:r>
              <a:rPr sz="1200" b="1" i="0">
                <a:solidFill>
                  <a:srgbClr val="64748B"/>
                </a:solidFill>
                <a:latin typeface="Segoe UI"/>
              </a:rPr>
              <a:t>billing rules + E/M</a:t>
            </a:r>
          </a:p>
        </p:txBody>
      </p:sp>
      <p:sp>
        <p:nvSpPr>
          <p:cNvPr id="12" name="Rounded Rectangle 11"/>
          <p:cNvSpPr/>
          <p:nvPr/>
        </p:nvSpPr>
        <p:spPr>
          <a:xfrm>
            <a:off x="8897111" y="2807208"/>
            <a:ext cx="2432304"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0233A"/>
                </a:solidFill>
                <a:latin typeface="Segoe UI"/>
              </a:rPr>
              <a:t>Resolve the</a:t>
            </a:r>
          </a:p>
          <a:p>
            <a:pPr algn="ctr"/>
            <a:r>
              <a:rPr sz="1600" b="0">
                <a:solidFill>
                  <a:srgbClr val="10233A"/>
                </a:solidFill>
                <a:latin typeface="Segoe UI"/>
              </a:rPr>
              <a:t>follow-up date</a:t>
            </a:r>
          </a:p>
        </p:txBody>
      </p:sp>
      <p:sp>
        <p:nvSpPr>
          <p:cNvPr id="13" name="TextBox 12"/>
          <p:cNvSpPr txBox="1"/>
          <p:nvPr/>
        </p:nvSpPr>
        <p:spPr>
          <a:xfrm>
            <a:off x="8897111" y="4270248"/>
            <a:ext cx="2432304" cy="274320"/>
          </a:xfrm>
          <a:prstGeom prst="rect">
            <a:avLst/>
          </a:prstGeom>
          <a:noFill/>
        </p:spPr>
        <p:txBody>
          <a:bodyPr wrap="square" anchor="t" lIns="0" rIns="0" tIns="0" bIns="0">
            <a:spAutoFit/>
          </a:bodyPr>
          <a:lstStyle/>
          <a:p>
            <a:pPr algn="ctr">
              <a:lnSpc>
                <a:spcPct val="100000"/>
              </a:lnSpc>
            </a:pPr>
            <a:r>
              <a:rPr sz="1200" b="1" i="0">
                <a:solidFill>
                  <a:srgbClr val="64748B"/>
                </a:solidFill>
                <a:latin typeface="Segoe UI"/>
              </a:rPr>
              <a:t>temporal reasoning</a:t>
            </a:r>
          </a:p>
        </p:txBody>
      </p:sp>
      <p:sp>
        <p:nvSpPr>
          <p:cNvPr id="14" name="Rectangle 13"/>
          <p:cNvSpPr/>
          <p:nvPr/>
        </p:nvSpPr>
        <p:spPr>
          <a:xfrm>
            <a:off x="777240" y="4892040"/>
            <a:ext cx="10607040" cy="713232"/>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B45309"/>
                </a:solidFill>
                <a:latin typeface="Segoe UI"/>
              </a:rPr>
              <a:t>one system prompt   ·   one instruction budget   ·   one answer</a:t>
            </a:r>
          </a:p>
        </p:txBody>
      </p:sp>
      <p:sp>
        <p:nvSpPr>
          <p:cNvPr id="15" name="TextBox 14"/>
          <p:cNvSpPr txBox="1"/>
          <p:nvPr/>
        </p:nvSpPr>
        <p:spPr>
          <a:xfrm>
            <a:off x="777240" y="5806440"/>
            <a:ext cx="10607040" cy="365760"/>
          </a:xfrm>
          <a:prstGeom prst="rect">
            <a:avLst/>
          </a:prstGeom>
          <a:noFill/>
        </p:spPr>
        <p:txBody>
          <a:bodyPr wrap="square" anchor="t" lIns="0" rIns="0" tIns="0" bIns="0">
            <a:spAutoFit/>
          </a:bodyPr>
          <a:lstStyle/>
          <a:p>
            <a:pPr algn="ctr">
              <a:lnSpc>
                <a:spcPct val="100000"/>
              </a:lnSpc>
            </a:pPr>
            <a:r>
              <a:rPr sz="1600" b="0" i="0">
                <a:solidFill>
                  <a:srgbClr val="33445B"/>
                </a:solidFill>
                <a:latin typeface="Segoe UI"/>
              </a:rPr>
              <a:t>The model context-switches mid-task, and quality drifts unpredictably.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ROOT CAUSE 2</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The model never sees the patient chart</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6</a:t>
            </a:r>
          </a:p>
        </p:txBody>
      </p:sp>
      <p:sp>
        <p:nvSpPr>
          <p:cNvPr id="5" name="TextBox 4"/>
          <p:cNvSpPr txBox="1"/>
          <p:nvPr/>
        </p:nvSpPr>
        <p:spPr>
          <a:xfrm>
            <a:off x="777240" y="2212848"/>
            <a:ext cx="5029200" cy="274320"/>
          </a:xfrm>
          <a:prstGeom prst="rect">
            <a:avLst/>
          </a:prstGeom>
          <a:noFill/>
        </p:spPr>
        <p:txBody>
          <a:bodyPr wrap="square" anchor="t" lIns="0" rIns="0" tIns="0" bIns="0">
            <a:spAutoFit/>
          </a:bodyPr>
          <a:lstStyle/>
          <a:p>
            <a:pPr algn="l">
              <a:lnSpc>
                <a:spcPct val="100000"/>
              </a:lnSpc>
            </a:pPr>
            <a:r>
              <a:rPr sz="1200" b="1" i="0">
                <a:solidFill>
                  <a:srgbClr val="B45309"/>
                </a:solidFill>
                <a:latin typeface="Segoe UI"/>
              </a:rPr>
              <a:t>WHAT IT GETS</a:t>
            </a:r>
          </a:p>
        </p:txBody>
      </p:sp>
      <p:sp>
        <p:nvSpPr>
          <p:cNvPr id="6" name="TextBox 5"/>
          <p:cNvSpPr txBox="1"/>
          <p:nvPr/>
        </p:nvSpPr>
        <p:spPr>
          <a:xfrm>
            <a:off x="6400800" y="2212848"/>
            <a:ext cx="5029200" cy="274320"/>
          </a:xfrm>
          <a:prstGeom prst="rect">
            <a:avLst/>
          </a:prstGeom>
          <a:noFill/>
        </p:spPr>
        <p:txBody>
          <a:bodyPr wrap="square" anchor="t" lIns="0" rIns="0" tIns="0" bIns="0">
            <a:spAutoFit/>
          </a:bodyPr>
          <a:lstStyle/>
          <a:p>
            <a:pPr algn="l">
              <a:lnSpc>
                <a:spcPct val="100000"/>
              </a:lnSpc>
            </a:pPr>
            <a:r>
              <a:rPr sz="1200" b="1" i="0">
                <a:solidFill>
                  <a:srgbClr val="B91C1C"/>
                </a:solidFill>
                <a:latin typeface="Segoe UI"/>
              </a:rPr>
              <a:t>WHAT IT NEVER GETS</a:t>
            </a:r>
          </a:p>
        </p:txBody>
      </p:sp>
      <p:sp>
        <p:nvSpPr>
          <p:cNvPr id="7" name="Rectangle 6"/>
          <p:cNvSpPr/>
          <p:nvPr/>
        </p:nvSpPr>
        <p:spPr>
          <a:xfrm>
            <a:off x="777240" y="2578608"/>
            <a:ext cx="4892040" cy="475488"/>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The note dictated in this session</a:t>
            </a:r>
          </a:p>
        </p:txBody>
      </p:sp>
      <p:sp>
        <p:nvSpPr>
          <p:cNvPr id="8" name="Rectangle 7"/>
          <p:cNvSpPr/>
          <p:nvPr/>
        </p:nvSpPr>
        <p:spPr>
          <a:xfrm>
            <a:off x="777240" y="3145536"/>
            <a:ext cx="4892040" cy="475488"/>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The ambient transcript</a:t>
            </a:r>
          </a:p>
        </p:txBody>
      </p:sp>
      <p:sp>
        <p:nvSpPr>
          <p:cNvPr id="9" name="Rectangle 8"/>
          <p:cNvSpPr/>
          <p:nvPr/>
        </p:nvSpPr>
        <p:spPr>
          <a:xfrm>
            <a:off x="777240" y="3712463"/>
            <a:ext cx="4892040" cy="475488"/>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Encounter form values</a:t>
            </a:r>
          </a:p>
        </p:txBody>
      </p:sp>
      <p:sp>
        <p:nvSpPr>
          <p:cNvPr id="10" name="Rectangle 9"/>
          <p:cNvSpPr/>
          <p:nvPr/>
        </p:nvSpPr>
        <p:spPr>
          <a:xfrm>
            <a:off x="777240" y="4279392"/>
            <a:ext cx="4892040" cy="475488"/>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Facility and place-of-service lists</a:t>
            </a:r>
          </a:p>
        </p:txBody>
      </p:sp>
      <p:sp>
        <p:nvSpPr>
          <p:cNvPr id="11" name="Rectangle 10"/>
          <p:cNvSpPr/>
          <p:nvPr/>
        </p:nvSpPr>
        <p:spPr>
          <a:xfrm>
            <a:off x="6400800" y="2578608"/>
            <a:ext cx="4983480" cy="475488"/>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Medication list</a:t>
            </a:r>
          </a:p>
        </p:txBody>
      </p:sp>
      <p:sp>
        <p:nvSpPr>
          <p:cNvPr id="12" name="Rectangle 11"/>
          <p:cNvSpPr/>
          <p:nvPr/>
        </p:nvSpPr>
        <p:spPr>
          <a:xfrm>
            <a:off x="6400800" y="3145536"/>
            <a:ext cx="4983480" cy="475488"/>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Vitals</a:t>
            </a:r>
          </a:p>
        </p:txBody>
      </p:sp>
      <p:sp>
        <p:nvSpPr>
          <p:cNvPr id="13" name="Rectangle 12"/>
          <p:cNvSpPr/>
          <p:nvPr/>
        </p:nvSpPr>
        <p:spPr>
          <a:xfrm>
            <a:off x="6400800" y="3712463"/>
            <a:ext cx="4983480" cy="475488"/>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Allergies</a:t>
            </a:r>
          </a:p>
        </p:txBody>
      </p:sp>
      <p:sp>
        <p:nvSpPr>
          <p:cNvPr id="14" name="Rectangle 13"/>
          <p:cNvSpPr/>
          <p:nvPr/>
        </p:nvSpPr>
        <p:spPr>
          <a:xfrm>
            <a:off x="6400800" y="4279392"/>
            <a:ext cx="4983480" cy="475488"/>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Active problem list</a:t>
            </a:r>
          </a:p>
        </p:txBody>
      </p:sp>
      <p:sp>
        <p:nvSpPr>
          <p:cNvPr id="15" name="Rectangle 14"/>
          <p:cNvSpPr/>
          <p:nvPr/>
        </p:nvSpPr>
        <p:spPr>
          <a:xfrm>
            <a:off x="6400800" y="4846320"/>
            <a:ext cx="4983480" cy="475488"/>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a:solidFill>
                  <a:srgbClr val="10233A"/>
                </a:solidFill>
                <a:latin typeface="Segoe UI"/>
              </a:rPr>
              <a:t>Demographics and history</a:t>
            </a:r>
          </a:p>
        </p:txBody>
      </p:sp>
      <p:sp>
        <p:nvSpPr>
          <p:cNvPr id="16" name="TextBox 15"/>
          <p:cNvSpPr txBox="1"/>
          <p:nvPr/>
        </p:nvSpPr>
        <p:spPr>
          <a:xfrm>
            <a:off x="777240" y="5276088"/>
            <a:ext cx="10607040" cy="411480"/>
          </a:xfrm>
          <a:prstGeom prst="rect">
            <a:avLst/>
          </a:prstGeom>
          <a:noFill/>
        </p:spPr>
        <p:txBody>
          <a:bodyPr wrap="square" anchor="t" lIns="0" rIns="0" tIns="0" bIns="0">
            <a:spAutoFit/>
          </a:bodyPr>
          <a:lstStyle/>
          <a:p>
            <a:pPr algn="ctr">
              <a:lnSpc>
                <a:spcPct val="100000"/>
              </a:lnSpc>
            </a:pPr>
            <a:r>
              <a:rPr sz="1700" b="1" i="0">
                <a:solidFill>
                  <a:srgbClr val="10233A"/>
                </a:solidFill>
                <a:latin typeface="Segoe UI"/>
              </a:rPr>
              <a:t>It knows only what was said out loud today — then it is asked to code the encounter.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ROOT CAUSE 3</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Nothing constrains or checks what comes back</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7</a:t>
            </a:r>
          </a:p>
        </p:txBody>
      </p:sp>
      <p:sp>
        <p:nvSpPr>
          <p:cNvPr id="5" name="Rectangle 4"/>
          <p:cNvSpPr/>
          <p:nvPr/>
        </p:nvSpPr>
        <p:spPr>
          <a:xfrm>
            <a:off x="777240" y="2304288"/>
            <a:ext cx="4892040" cy="960120"/>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B45309"/>
                </a:solidFill>
                <a:latin typeface="Segoe UI"/>
              </a:rPr>
              <a:t>The prompt asks for valid JSON</a:t>
            </a:r>
          </a:p>
          <a:p>
            <a:pPr algn="ctr"/>
            <a:r>
              <a:rPr sz="1700" b="0">
                <a:solidFill>
                  <a:srgbClr val="B45309"/>
                </a:solidFill>
                <a:latin typeface="Segoe UI"/>
              </a:rPr>
              <a:t>four separate times</a:t>
            </a:r>
          </a:p>
        </p:txBody>
      </p:sp>
      <p:sp>
        <p:nvSpPr>
          <p:cNvPr id="6" name="Rectangle 5"/>
          <p:cNvSpPr/>
          <p:nvPr/>
        </p:nvSpPr>
        <p:spPr>
          <a:xfrm>
            <a:off x="6492240" y="2304288"/>
            <a:ext cx="4892040" cy="960120"/>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B91C1C"/>
                </a:solidFill>
                <a:latin typeface="Segoe UI"/>
              </a:rPr>
              <a:t>A second AI call exists</a:t>
            </a:r>
          </a:p>
          <a:p>
            <a:pPr algn="ctr"/>
            <a:r>
              <a:rPr sz="1700" b="0">
                <a:solidFill>
                  <a:srgbClr val="B91C1C"/>
                </a:solidFill>
                <a:latin typeface="Segoe UI"/>
              </a:rPr>
              <a:t>just to repair broken JSON</a:t>
            </a:r>
          </a:p>
        </p:txBody>
      </p:sp>
      <p:sp>
        <p:nvSpPr>
          <p:cNvPr id="7" name="Right Arrow 6"/>
          <p:cNvSpPr/>
          <p:nvPr/>
        </p:nvSpPr>
        <p:spPr>
          <a:xfrm>
            <a:off x="5870448" y="2633472"/>
            <a:ext cx="384048" cy="29260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721608"/>
            <a:ext cx="10607040" cy="9144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D5E3EC"/>
                </a:solidFill>
                <a:latin typeface="Consolas"/>
              </a:rPr>
              <a:t>"You are a JSON repair assistant. Your only job is to fix malformed</a:t>
            </a:r>
          </a:p>
          <a:p>
            <a:pPr algn="ctr"/>
            <a:r>
              <a:rPr sz="1400" b="0">
                <a:solidFill>
                  <a:srgbClr val="D5E3EC"/>
                </a:solidFill>
                <a:latin typeface="Consolas"/>
              </a:rPr>
              <a:t> JSON and return valid JSON. Return ONLY the corrected JSON."</a:t>
            </a:r>
          </a:p>
        </p:txBody>
      </p:sp>
      <p:sp>
        <p:nvSpPr>
          <p:cNvPr id="9" name="TextBox 8"/>
          <p:cNvSpPr txBox="1"/>
          <p:nvPr/>
        </p:nvSpPr>
        <p:spPr>
          <a:xfrm>
            <a:off x="777240" y="4864608"/>
            <a:ext cx="10607040" cy="822960"/>
          </a:xfrm>
          <a:prstGeom prst="rect">
            <a:avLst/>
          </a:prstGeom>
          <a:noFill/>
        </p:spPr>
        <p:txBody>
          <a:bodyPr wrap="square" anchor="t" lIns="0" rIns="0" tIns="0" bIns="0">
            <a:spAutoFit/>
          </a:bodyPr>
          <a:lstStyle/>
          <a:p>
            <a:pPr algn="ctr">
              <a:lnSpc>
                <a:spcPct val="125000"/>
              </a:lnSpc>
            </a:pPr>
            <a:r>
              <a:rPr sz="1800" b="1" i="0">
                <a:solidFill>
                  <a:srgbClr val="0F766E"/>
                </a:solidFill>
                <a:latin typeface="Segoe UI"/>
              </a:rPr>
              <a:t>Both exist because the request never tells the model what shape to return.</a:t>
            </a:r>
          </a:p>
          <a:p>
            <a:pPr algn="ctr">
              <a:lnSpc>
                <a:spcPct val="125000"/>
              </a:lnSpc>
            </a:pPr>
            <a:r>
              <a:rPr sz="1800" b="1" i="0">
                <a:solidFill>
                  <a:srgbClr val="0F766E"/>
                </a:solidFill>
                <a:latin typeface="Segoe UI"/>
              </a:rPr>
              <a:t>One parameter removes both.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ROOT CAUSE 4</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It saves itself before anyone looks</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8</a:t>
            </a:r>
          </a:p>
        </p:txBody>
      </p:sp>
      <p:sp>
        <p:nvSpPr>
          <p:cNvPr id="5" name="Rounded Rectangle 4"/>
          <p:cNvSpPr/>
          <p:nvPr/>
        </p:nvSpPr>
        <p:spPr>
          <a:xfrm>
            <a:off x="1417320" y="2441448"/>
            <a:ext cx="2148840" cy="118872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model</a:t>
            </a:r>
          </a:p>
          <a:p>
            <a:pPr algn="ctr"/>
            <a:r>
              <a:rPr sz="1500" b="0">
                <a:solidFill>
                  <a:srgbClr val="10233A"/>
                </a:solidFill>
                <a:latin typeface="Segoe UI"/>
              </a:rPr>
              <a:t>response</a:t>
            </a:r>
          </a:p>
        </p:txBody>
      </p:sp>
      <p:sp>
        <p:nvSpPr>
          <p:cNvPr id="6" name="Right Arrow 5"/>
          <p:cNvSpPr/>
          <p:nvPr/>
        </p:nvSpPr>
        <p:spPr>
          <a:xfrm>
            <a:off x="3657600" y="2916936"/>
            <a:ext cx="365760"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0" y="2441448"/>
            <a:ext cx="2148840" cy="1188720"/>
          </a:xfrm>
          <a:prstGeom prst="roundRect">
            <a:avLst>
              <a:gd name="adj" fmla="val 8000"/>
            </a:avLst>
          </a:prstGeom>
          <a:solidFill>
            <a:srgbClr val="FDF0D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B45309"/>
                </a:solidFill>
                <a:latin typeface="Segoe UI"/>
              </a:rPr>
              <a:t>written into</a:t>
            </a:r>
          </a:p>
          <a:p>
            <a:pPr algn="ctr"/>
            <a:r>
              <a:rPr sz="1500" b="0">
                <a:solidFill>
                  <a:srgbClr val="B45309"/>
                </a:solidFill>
                <a:latin typeface="Segoe UI"/>
              </a:rPr>
              <a:t>the form</a:t>
            </a:r>
          </a:p>
        </p:txBody>
      </p:sp>
      <p:sp>
        <p:nvSpPr>
          <p:cNvPr id="8" name="Right Arrow 7"/>
          <p:cNvSpPr/>
          <p:nvPr/>
        </p:nvSpPr>
        <p:spPr>
          <a:xfrm>
            <a:off x="6355079" y="2916936"/>
            <a:ext cx="365760"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12280" y="2441448"/>
            <a:ext cx="2148840" cy="1188720"/>
          </a:xfrm>
          <a:prstGeom prst="roundRect">
            <a:avLst>
              <a:gd name="adj" fmla="val 8000"/>
            </a:avLst>
          </a:prstGeom>
          <a:solidFill>
            <a:srgbClr val="FCE7E7"/>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B91C1C"/>
                </a:solidFill>
                <a:latin typeface="Segoe UI"/>
              </a:rPr>
              <a:t>wait</a:t>
            </a:r>
          </a:p>
          <a:p>
            <a:pPr algn="ctr"/>
            <a:r>
              <a:rPr sz="1500" b="0">
                <a:solidFill>
                  <a:srgbClr val="B91C1C"/>
                </a:solidFill>
                <a:latin typeface="Segoe UI"/>
              </a:rPr>
              <a:t>1 second</a:t>
            </a:r>
          </a:p>
        </p:txBody>
      </p:sp>
      <p:sp>
        <p:nvSpPr>
          <p:cNvPr id="10" name="Right Arrow 9"/>
          <p:cNvSpPr/>
          <p:nvPr/>
        </p:nvSpPr>
        <p:spPr>
          <a:xfrm>
            <a:off x="9052560" y="2916936"/>
            <a:ext cx="365760"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509760" y="2441448"/>
            <a:ext cx="2148840" cy="1188720"/>
          </a:xfrm>
          <a:prstGeom prst="roundRect">
            <a:avLst>
              <a:gd name="adj" fmla="val 8000"/>
            </a:avLst>
          </a:prstGeom>
          <a:solidFill>
            <a:srgbClr val="FCE7E7"/>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B91C1C"/>
                </a:solidFill>
                <a:latin typeface="Segoe UI"/>
              </a:rPr>
              <a:t>encounter</a:t>
            </a:r>
          </a:p>
          <a:p>
            <a:pPr algn="ctr"/>
            <a:r>
              <a:rPr sz="1500" b="0">
                <a:solidFill>
                  <a:srgbClr val="B91C1C"/>
                </a:solidFill>
                <a:latin typeface="Segoe UI"/>
              </a:rPr>
              <a:t>SAVED</a:t>
            </a:r>
          </a:p>
        </p:txBody>
      </p:sp>
      <p:sp>
        <p:nvSpPr>
          <p:cNvPr id="12" name="Rectangle 11"/>
          <p:cNvSpPr/>
          <p:nvPr/>
        </p:nvSpPr>
        <p:spPr>
          <a:xfrm>
            <a:off x="777240" y="4133087"/>
            <a:ext cx="10607040" cy="658368"/>
          </a:xfrm>
          <a:prstGeom prst="rect">
            <a:avLst/>
          </a:prstGeom>
          <a:solidFill>
            <a:srgbClr val="FCE7E7"/>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B91C1C"/>
                </a:solidFill>
                <a:latin typeface="Segoe UI"/>
              </a:rPr>
              <a:t>no schema check      ·      no field whitelist      ·      no clinician confirmation</a:t>
            </a:r>
          </a:p>
        </p:txBody>
      </p:sp>
      <p:sp>
        <p:nvSpPr>
          <p:cNvPr id="13" name="TextBox 12"/>
          <p:cNvSpPr txBox="1"/>
          <p:nvPr/>
        </p:nvSpPr>
        <p:spPr>
          <a:xfrm>
            <a:off x="777240" y="5047488"/>
            <a:ext cx="10607040" cy="777240"/>
          </a:xfrm>
          <a:prstGeom prst="rect">
            <a:avLst/>
          </a:prstGeom>
          <a:noFill/>
        </p:spPr>
        <p:txBody>
          <a:bodyPr wrap="square" anchor="t" lIns="0" rIns="0" tIns="0" bIns="0">
            <a:spAutoFit/>
          </a:bodyPr>
          <a:lstStyle/>
          <a:p>
            <a:pPr algn="ctr">
              <a:lnSpc>
                <a:spcPct val="125000"/>
              </a:lnSpc>
            </a:pPr>
            <a:r>
              <a:rPr sz="1800" b="1" i="0">
                <a:solidFill>
                  <a:srgbClr val="10233A"/>
                </a:solidFill>
                <a:latin typeface="Segoe UI"/>
              </a:rPr>
              <a:t>And because nothing records what the provider accepted or changed,</a:t>
            </a:r>
          </a:p>
          <a:p>
            <a:pPr algn="ctr">
              <a:lnSpc>
                <a:spcPct val="125000"/>
              </a:lnSpc>
            </a:pPr>
            <a:r>
              <a:rPr sz="1800" b="1" i="0">
                <a:solidFill>
                  <a:srgbClr val="10233A"/>
                </a:solidFill>
                <a:latin typeface="Segoe UI"/>
              </a:rPr>
              <a:t>we have no data to prove accuracy either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ROOT CAUSE 5</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Template instructions cannot be reconciled</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9</a:t>
            </a:r>
          </a:p>
        </p:txBody>
      </p:sp>
      <p:sp>
        <p:nvSpPr>
          <p:cNvPr id="5" name="Rounded Rectangle 4"/>
          <p:cNvSpPr/>
          <p:nvPr/>
        </p:nvSpPr>
        <p:spPr>
          <a:xfrm>
            <a:off x="777240" y="2258568"/>
            <a:ext cx="3291840" cy="777240"/>
          </a:xfrm>
          <a:prstGeom prst="roundRect">
            <a:avLst>
              <a:gd name="adj" fmla="val 8000"/>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0F766E"/>
                </a:solidFill>
                <a:latin typeface="Segoe UI"/>
              </a:rPr>
              <a:t>TEMPLATE</a:t>
            </a:r>
          </a:p>
          <a:p>
            <a:pPr algn="ctr"/>
            <a:r>
              <a:rPr sz="1500" b="0">
                <a:solidFill>
                  <a:srgbClr val="0F766E"/>
                </a:solidFill>
                <a:latin typeface="Segoe UI"/>
              </a:rPr>
              <a:t>AI.prompt</a:t>
            </a:r>
          </a:p>
        </p:txBody>
      </p:sp>
      <p:sp>
        <p:nvSpPr>
          <p:cNvPr id="6" name="Rounded Rectangle 5"/>
          <p:cNvSpPr/>
          <p:nvPr/>
        </p:nvSpPr>
        <p:spPr>
          <a:xfrm>
            <a:off x="4389120" y="2258568"/>
            <a:ext cx="3291840" cy="777240"/>
          </a:xfrm>
          <a:prstGeom prst="roundRect">
            <a:avLst>
              <a:gd name="adj" fmla="val 8000"/>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0F766E"/>
                </a:solidFill>
                <a:latin typeface="Segoe UI"/>
              </a:rPr>
              <a:t>SECTION</a:t>
            </a:r>
          </a:p>
          <a:p>
            <a:pPr algn="ctr"/>
            <a:r>
              <a:rPr sz="1500" b="0">
                <a:solidFill>
                  <a:srgbClr val="0F766E"/>
                </a:solidFill>
                <a:latin typeface="Segoe UI"/>
              </a:rPr>
              <a:t>sectionPrompt</a:t>
            </a:r>
          </a:p>
        </p:txBody>
      </p:sp>
      <p:sp>
        <p:nvSpPr>
          <p:cNvPr id="7" name="Rounded Rectangle 6"/>
          <p:cNvSpPr/>
          <p:nvPr/>
        </p:nvSpPr>
        <p:spPr>
          <a:xfrm>
            <a:off x="8001000" y="2258568"/>
            <a:ext cx="3291840" cy="777240"/>
          </a:xfrm>
          <a:prstGeom prst="roundRect">
            <a:avLst>
              <a:gd name="adj" fmla="val 8000"/>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0F766E"/>
                </a:solidFill>
                <a:latin typeface="Segoe UI"/>
              </a:rPr>
              <a:t>FIELD</a:t>
            </a:r>
          </a:p>
          <a:p>
            <a:pPr algn="ctr"/>
            <a:r>
              <a:rPr sz="1500" b="0">
                <a:solidFill>
                  <a:srgbClr val="0F766E"/>
                </a:solidFill>
                <a:latin typeface="Segoe UI"/>
              </a:rPr>
              <a:t>fieldPrompt</a:t>
            </a:r>
          </a:p>
        </p:txBody>
      </p:sp>
      <p:sp>
        <p:nvSpPr>
          <p:cNvPr id="8" name="Down Arrow 7"/>
          <p:cNvSpPr/>
          <p:nvPr/>
        </p:nvSpPr>
        <p:spPr>
          <a:xfrm>
            <a:off x="5806440" y="3172968"/>
            <a:ext cx="384048" cy="292608"/>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611880"/>
            <a:ext cx="10607040" cy="77724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D5E3EC"/>
                </a:solidFill>
                <a:latin typeface="Segoe UI"/>
              </a:rPr>
              <a:t>flattened into one prose string  —  no delimiters, no precedence</a:t>
            </a:r>
          </a:p>
        </p:txBody>
      </p:sp>
      <p:sp>
        <p:nvSpPr>
          <p:cNvPr id="10" name="Rectangle 9"/>
          <p:cNvSpPr/>
          <p:nvPr/>
        </p:nvSpPr>
        <p:spPr>
          <a:xfrm>
            <a:off x="777240" y="4590288"/>
            <a:ext cx="5120640" cy="1051560"/>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50" b="1">
                <a:solidFill>
                  <a:srgbClr val="B91C1C"/>
                </a:solidFill>
                <a:latin typeface="Segoe UI"/>
              </a:rPr>
              <a:t>The merge is irreversible</a:t>
            </a:r>
          </a:p>
          <a:p>
            <a:pPr algn="ctr"/>
            <a:r>
              <a:rPr sz="1550" b="0">
                <a:solidFill>
                  <a:srgbClr val="B91C1C"/>
                </a:solidFill>
                <a:latin typeface="Segoe UI"/>
              </a:rPr>
              <a:t>nothing can detect a contradiction</a:t>
            </a:r>
          </a:p>
        </p:txBody>
      </p:sp>
      <p:sp>
        <p:nvSpPr>
          <p:cNvPr id="11" name="Rectangle 10"/>
          <p:cNvSpPr/>
          <p:nvPr/>
        </p:nvSpPr>
        <p:spPr>
          <a:xfrm>
            <a:off x="6263640" y="4590288"/>
            <a:ext cx="5120640" cy="1051560"/>
          </a:xfrm>
          <a:prstGeom prst="rect">
            <a:avLst/>
          </a:prstGeom>
          <a:solidFill>
            <a:srgbClr val="FC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50" b="1">
                <a:solidFill>
                  <a:srgbClr val="B91C1C"/>
                </a:solidFill>
                <a:latin typeface="Segoe UI"/>
              </a:rPr>
              <a:t>Prompt choice is winner-takes-all</a:t>
            </a:r>
          </a:p>
          <a:p>
            <a:pPr algn="ctr"/>
            <a:r>
              <a:rPr sz="1550" b="0">
                <a:solidFill>
                  <a:srgbClr val="B91C1C"/>
                </a:solidFill>
                <a:latin typeface="Segoe UI"/>
              </a:rPr>
              <a:t>a template prompt REPLACES the safety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514600"/>
            <a:ext cx="1280160" cy="822960"/>
          </a:xfrm>
          <a:prstGeom prst="rect">
            <a:avLst/>
          </a:prstGeom>
          <a:noFill/>
        </p:spPr>
        <p:txBody>
          <a:bodyPr wrap="square" anchor="t" lIns="0" rIns="0" tIns="0" bIns="0">
            <a:spAutoFit/>
          </a:bodyPr>
          <a:lstStyle/>
          <a:p>
            <a:pPr algn="l">
              <a:lnSpc>
                <a:spcPct val="100000"/>
              </a:lnSpc>
            </a:pPr>
            <a:r>
              <a:rPr sz="5800" b="1" i="0">
                <a:solidFill>
                  <a:srgbClr val="0F766E"/>
                </a:solidFill>
                <a:latin typeface="Segoe UI"/>
              </a:rPr>
              <a:t>02</a:t>
            </a:r>
          </a:p>
        </p:txBody>
      </p:sp>
      <p:sp>
        <p:nvSpPr>
          <p:cNvPr id="4" name="TextBox 3"/>
          <p:cNvSpPr txBox="1"/>
          <p:nvPr/>
        </p:nvSpPr>
        <p:spPr>
          <a:xfrm>
            <a:off x="2331720" y="2651760"/>
            <a:ext cx="8778240" cy="640080"/>
          </a:xfrm>
          <a:prstGeom prst="rect">
            <a:avLst/>
          </a:prstGeom>
          <a:noFill/>
        </p:spPr>
        <p:txBody>
          <a:bodyPr wrap="square" anchor="t" lIns="0" rIns="0" tIns="0" bIns="0">
            <a:spAutoFit/>
          </a:bodyPr>
          <a:lstStyle/>
          <a:p>
            <a:pPr algn="l">
              <a:lnSpc>
                <a:spcPct val="100000"/>
              </a:lnSpc>
            </a:pPr>
            <a:r>
              <a:rPr sz="3600" b="1" i="0">
                <a:solidFill>
                  <a:srgbClr val="FFFFFF"/>
                </a:solidFill>
                <a:latin typeface="Segoe UI"/>
              </a:rPr>
              <a:t>What we propose</a:t>
            </a:r>
          </a:p>
        </p:txBody>
      </p:sp>
      <p:sp>
        <p:nvSpPr>
          <p:cNvPr id="5" name="TextBox 4"/>
          <p:cNvSpPr txBox="1"/>
          <p:nvPr/>
        </p:nvSpPr>
        <p:spPr>
          <a:xfrm>
            <a:off x="2377440" y="3401568"/>
            <a:ext cx="8595360" cy="457200"/>
          </a:xfrm>
          <a:prstGeom prst="rect">
            <a:avLst/>
          </a:prstGeom>
          <a:noFill/>
        </p:spPr>
        <p:txBody>
          <a:bodyPr wrap="square" anchor="t" lIns="0" rIns="0" tIns="0" bIns="0">
            <a:spAutoFit/>
          </a:bodyPr>
          <a:lstStyle/>
          <a:p>
            <a:pPr algn="l">
              <a:lnSpc>
                <a:spcPct val="100000"/>
              </a:lnSpc>
            </a:pPr>
            <a:r>
              <a:rPr sz="1450" b="0" i="0">
                <a:solidFill>
                  <a:srgbClr val="9FB3C8"/>
                </a:solidFill>
                <a:latin typeface="Segoe UI"/>
              </a:rPr>
              <a:t>The backend engine</a:t>
            </a:r>
          </a:p>
        </p:txBody>
      </p:sp>
      <p:sp>
        <p:nvSpPr>
          <p:cNvPr id="6" name="Rectangle 5"/>
          <p:cNvSpPr/>
          <p:nvPr/>
        </p:nvSpPr>
        <p:spPr>
          <a:xfrm>
            <a:off x="2377440" y="3310128"/>
            <a:ext cx="2743200"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950" b="0" i="0">
                <a:solidFill>
                  <a:srgbClr val="55667D"/>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THE SHIFT</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From one big guess to a checked assembly line</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11</a:t>
            </a:r>
          </a:p>
        </p:txBody>
      </p:sp>
      <p:sp>
        <p:nvSpPr>
          <p:cNvPr id="5" name="TextBox 4"/>
          <p:cNvSpPr txBox="1"/>
          <p:nvPr/>
        </p:nvSpPr>
        <p:spPr>
          <a:xfrm>
            <a:off x="777240" y="2350008"/>
            <a:ext cx="4937760" cy="274320"/>
          </a:xfrm>
          <a:prstGeom prst="rect">
            <a:avLst/>
          </a:prstGeom>
          <a:noFill/>
        </p:spPr>
        <p:txBody>
          <a:bodyPr wrap="square" anchor="t" lIns="0" rIns="0" tIns="0" bIns="0">
            <a:spAutoFit/>
          </a:bodyPr>
          <a:lstStyle/>
          <a:p>
            <a:pPr algn="l">
              <a:lnSpc>
                <a:spcPct val="100000"/>
              </a:lnSpc>
            </a:pPr>
            <a:r>
              <a:rPr sz="1300" b="1" i="0">
                <a:solidFill>
                  <a:srgbClr val="64748B"/>
                </a:solidFill>
                <a:latin typeface="Segoe UI"/>
              </a:rPr>
              <a:t>TODAY</a:t>
            </a:r>
          </a:p>
        </p:txBody>
      </p:sp>
      <p:sp>
        <p:nvSpPr>
          <p:cNvPr id="6" name="TextBox 5"/>
          <p:cNvSpPr txBox="1"/>
          <p:nvPr/>
        </p:nvSpPr>
        <p:spPr>
          <a:xfrm>
            <a:off x="6400800" y="2350008"/>
            <a:ext cx="4937760" cy="274320"/>
          </a:xfrm>
          <a:prstGeom prst="rect">
            <a:avLst/>
          </a:prstGeom>
          <a:noFill/>
        </p:spPr>
        <p:txBody>
          <a:bodyPr wrap="square" anchor="t" lIns="0" rIns="0" tIns="0" bIns="0">
            <a:spAutoFit/>
          </a:bodyPr>
          <a:lstStyle/>
          <a:p>
            <a:pPr algn="l">
              <a:lnSpc>
                <a:spcPct val="100000"/>
              </a:lnSpc>
            </a:pPr>
            <a:r>
              <a:rPr sz="1300" b="1" i="0">
                <a:solidFill>
                  <a:srgbClr val="0F766E"/>
                </a:solidFill>
                <a:latin typeface="Segoe UI"/>
              </a:rPr>
              <a:t>PROPOSED</a:t>
            </a:r>
          </a:p>
        </p:txBody>
      </p:sp>
      <p:sp>
        <p:nvSpPr>
          <p:cNvPr id="7" name="Rectangle 6"/>
          <p:cNvSpPr/>
          <p:nvPr/>
        </p:nvSpPr>
        <p:spPr>
          <a:xfrm>
            <a:off x="777240" y="2734056"/>
            <a:ext cx="489204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0">
                <a:solidFill>
                  <a:srgbClr val="64748B"/>
                </a:solidFill>
                <a:latin typeface="Segoe UI"/>
              </a:rPr>
              <a:t>One call does everything</a:t>
            </a:r>
          </a:p>
        </p:txBody>
      </p:sp>
      <p:sp>
        <p:nvSpPr>
          <p:cNvPr id="8" name="Right Arrow 7"/>
          <p:cNvSpPr/>
          <p:nvPr/>
        </p:nvSpPr>
        <p:spPr>
          <a:xfrm>
            <a:off x="5870448" y="2916936"/>
            <a:ext cx="384048"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2734056"/>
            <a:ext cx="4983480" cy="60350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15803D"/>
                </a:solidFill>
                <a:latin typeface="Segoe UI"/>
              </a:rPr>
              <a:t>A pipeline of focused steps</a:t>
            </a:r>
          </a:p>
        </p:txBody>
      </p:sp>
      <p:sp>
        <p:nvSpPr>
          <p:cNvPr id="10" name="Rectangle 9"/>
          <p:cNvSpPr/>
          <p:nvPr/>
        </p:nvSpPr>
        <p:spPr>
          <a:xfrm>
            <a:off x="777240" y="3465576"/>
            <a:ext cx="489204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0">
                <a:solidFill>
                  <a:srgbClr val="64748B"/>
                </a:solidFill>
                <a:latin typeface="Segoe UI"/>
              </a:rPr>
              <a:t>Model writes free-form JSON</a:t>
            </a:r>
          </a:p>
        </p:txBody>
      </p:sp>
      <p:sp>
        <p:nvSpPr>
          <p:cNvPr id="11" name="Right Arrow 10"/>
          <p:cNvSpPr/>
          <p:nvPr/>
        </p:nvSpPr>
        <p:spPr>
          <a:xfrm>
            <a:off x="5870448" y="3648456"/>
            <a:ext cx="384048"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3465576"/>
            <a:ext cx="4983480" cy="60350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15803D"/>
                </a:solidFill>
                <a:latin typeface="Segoe UI"/>
              </a:rPr>
              <a:t>Schema decides the shape</a:t>
            </a:r>
          </a:p>
        </p:txBody>
      </p:sp>
      <p:sp>
        <p:nvSpPr>
          <p:cNvPr id="13" name="Rectangle 12"/>
          <p:cNvSpPr/>
          <p:nvPr/>
        </p:nvSpPr>
        <p:spPr>
          <a:xfrm>
            <a:off x="777240" y="4197096"/>
            <a:ext cx="489204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0">
                <a:solidFill>
                  <a:srgbClr val="64748B"/>
                </a:solidFill>
                <a:latin typeface="Segoe UI"/>
              </a:rPr>
              <a:t>Codes invented from narrative</a:t>
            </a:r>
          </a:p>
        </p:txBody>
      </p:sp>
      <p:sp>
        <p:nvSpPr>
          <p:cNvPr id="14" name="Right Arrow 13"/>
          <p:cNvSpPr/>
          <p:nvPr/>
        </p:nvSpPr>
        <p:spPr>
          <a:xfrm>
            <a:off x="5870448" y="4379976"/>
            <a:ext cx="384048"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4197096"/>
            <a:ext cx="4983480" cy="60350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15803D"/>
                </a:solidFill>
                <a:latin typeface="Segoe UI"/>
              </a:rPr>
              <a:t>Codes chosen from a valid set</a:t>
            </a:r>
          </a:p>
        </p:txBody>
      </p:sp>
      <p:sp>
        <p:nvSpPr>
          <p:cNvPr id="16" name="Rectangle 15"/>
          <p:cNvSpPr/>
          <p:nvPr/>
        </p:nvSpPr>
        <p:spPr>
          <a:xfrm>
            <a:off x="777240" y="4928616"/>
            <a:ext cx="489204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0">
                <a:solidFill>
                  <a:srgbClr val="64748B"/>
                </a:solidFill>
                <a:latin typeface="Segoe UI"/>
              </a:rPr>
              <a:t>No chart data</a:t>
            </a:r>
          </a:p>
        </p:txBody>
      </p:sp>
      <p:sp>
        <p:nvSpPr>
          <p:cNvPr id="17" name="Right Arrow 16"/>
          <p:cNvSpPr/>
          <p:nvPr/>
        </p:nvSpPr>
        <p:spPr>
          <a:xfrm>
            <a:off x="5870448" y="5111496"/>
            <a:ext cx="384048"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4928616"/>
            <a:ext cx="4983480" cy="60350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15803D"/>
                </a:solidFill>
                <a:latin typeface="Segoe UI"/>
              </a:rPr>
              <a:t>Chart assembled and supplied</a:t>
            </a:r>
          </a:p>
        </p:txBody>
      </p:sp>
      <p:sp>
        <p:nvSpPr>
          <p:cNvPr id="19" name="Rectangle 18"/>
          <p:cNvSpPr/>
          <p:nvPr/>
        </p:nvSpPr>
        <p:spPr>
          <a:xfrm>
            <a:off x="777240" y="5660136"/>
            <a:ext cx="489204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0">
                <a:solidFill>
                  <a:srgbClr val="64748B"/>
                </a:solidFill>
                <a:latin typeface="Segoe UI"/>
              </a:rPr>
              <a:t>Saves itself</a:t>
            </a:r>
          </a:p>
        </p:txBody>
      </p:sp>
      <p:sp>
        <p:nvSpPr>
          <p:cNvPr id="20" name="Right Arrow 19"/>
          <p:cNvSpPr/>
          <p:nvPr/>
        </p:nvSpPr>
        <p:spPr>
          <a:xfrm>
            <a:off x="5870448" y="5843016"/>
            <a:ext cx="384048"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5660136"/>
            <a:ext cx="4983480" cy="60350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15803D"/>
                </a:solidFill>
                <a:latin typeface="Segoe UI"/>
              </a:rPr>
              <a:t>Clinician attests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IDEA 1</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Read the note once, properly</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Then every later step works from the same set of facts.</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12</a:t>
            </a:r>
          </a:p>
        </p:txBody>
      </p:sp>
      <p:sp>
        <p:nvSpPr>
          <p:cNvPr id="6" name="Rounded Rectangle 5"/>
          <p:cNvSpPr/>
          <p:nvPr/>
        </p:nvSpPr>
        <p:spPr>
          <a:xfrm>
            <a:off x="777240" y="2761488"/>
            <a:ext cx="2834640" cy="105156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The dictated note</a:t>
            </a:r>
          </a:p>
        </p:txBody>
      </p:sp>
      <p:sp>
        <p:nvSpPr>
          <p:cNvPr id="7" name="Right Arrow 6"/>
          <p:cNvSpPr/>
          <p:nvPr/>
        </p:nvSpPr>
        <p:spPr>
          <a:xfrm>
            <a:off x="3749039" y="3145536"/>
            <a:ext cx="365760" cy="274320"/>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79392" y="2761488"/>
            <a:ext cx="3291840" cy="1051560"/>
          </a:xfrm>
          <a:prstGeom prst="roundRect">
            <a:avLst>
              <a:gd name="adj" fmla="val 8000"/>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0F766E"/>
                </a:solidFill>
                <a:latin typeface="Segoe UI"/>
              </a:rPr>
              <a:t>Clinical facts ledger</a:t>
            </a:r>
          </a:p>
          <a:p>
            <a:pPr algn="ctr"/>
            <a:r>
              <a:rPr sz="1400" b="0">
                <a:solidFill>
                  <a:srgbClr val="0F766E"/>
                </a:solidFill>
                <a:latin typeface="Segoe UI"/>
              </a:rPr>
              <a:t>atomic facts + where each came from</a:t>
            </a:r>
          </a:p>
        </p:txBody>
      </p:sp>
      <p:sp>
        <p:nvSpPr>
          <p:cNvPr id="9" name="Right Arrow 8"/>
          <p:cNvSpPr/>
          <p:nvPr/>
        </p:nvSpPr>
        <p:spPr>
          <a:xfrm>
            <a:off x="7717536" y="3145536"/>
            <a:ext cx="365760" cy="274320"/>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47888" y="2761488"/>
            <a:ext cx="3136392" cy="105156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0233A"/>
                </a:solidFill>
                <a:latin typeface="Segoe UI"/>
              </a:rPr>
              <a:t>Every field, code</a:t>
            </a:r>
          </a:p>
          <a:p>
            <a:pPr algn="ctr"/>
            <a:r>
              <a:rPr sz="1400" b="0">
                <a:solidFill>
                  <a:srgbClr val="10233A"/>
                </a:solidFill>
                <a:latin typeface="Segoe UI"/>
              </a:rPr>
              <a:t>and date reads</a:t>
            </a:r>
          </a:p>
          <a:p>
            <a:pPr algn="ctr"/>
            <a:r>
              <a:rPr sz="1400" b="0">
                <a:solidFill>
                  <a:srgbClr val="10233A"/>
                </a:solidFill>
                <a:latin typeface="Segoe UI"/>
              </a:rPr>
              <a:t>the ledger</a:t>
            </a:r>
          </a:p>
        </p:txBody>
      </p:sp>
      <p:sp>
        <p:nvSpPr>
          <p:cNvPr id="11" name="Rectangle 10"/>
          <p:cNvSpPr/>
          <p:nvPr/>
        </p:nvSpPr>
        <p:spPr>
          <a:xfrm>
            <a:off x="777240" y="4178808"/>
            <a:ext cx="5120640" cy="80467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5803D"/>
                </a:solidFill>
                <a:latin typeface="Segoe UI"/>
              </a:rPr>
              <a:t>Evidence for free</a:t>
            </a:r>
          </a:p>
          <a:p>
            <a:pPr algn="ctr"/>
            <a:r>
              <a:rPr sz="1400" b="0">
                <a:solidFill>
                  <a:srgbClr val="15803D"/>
                </a:solidFill>
                <a:latin typeface="Segoe UI"/>
              </a:rPr>
              <a:t>every value points at the words it came from</a:t>
            </a:r>
          </a:p>
        </p:txBody>
      </p:sp>
      <p:sp>
        <p:nvSpPr>
          <p:cNvPr id="12" name="Rectangle 11"/>
          <p:cNvSpPr/>
          <p:nvPr/>
        </p:nvSpPr>
        <p:spPr>
          <a:xfrm>
            <a:off x="6217920" y="4178808"/>
            <a:ext cx="5120640" cy="80467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5803D"/>
                </a:solidFill>
                <a:latin typeface="Segoe UI"/>
              </a:rPr>
              <a:t>Fixes stay stable</a:t>
            </a:r>
          </a:p>
          <a:p>
            <a:pPr algn="ctr"/>
            <a:r>
              <a:rPr sz="1400" b="0">
                <a:solidFill>
                  <a:srgbClr val="15803D"/>
                </a:solidFill>
                <a:latin typeface="Segoe UI"/>
              </a:rPr>
              <a:t>re-running one field reads the same facts</a:t>
            </a:r>
          </a:p>
        </p:txBody>
      </p:sp>
      <p:sp>
        <p:nvSpPr>
          <p:cNvPr id="13" name="Rectangle 12"/>
          <p:cNvSpPr/>
          <p:nvPr/>
        </p:nvSpPr>
        <p:spPr>
          <a:xfrm>
            <a:off x="777240" y="5138928"/>
            <a:ext cx="5120640" cy="80467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5803D"/>
                </a:solidFill>
                <a:latin typeface="Segoe UI"/>
              </a:rPr>
              <a:t>Cheap conversation</a:t>
            </a:r>
          </a:p>
          <a:p>
            <a:pPr algn="ctr"/>
            <a:r>
              <a:rPr sz="1400" b="0">
                <a:solidFill>
                  <a:srgbClr val="15803D"/>
                </a:solidFill>
                <a:latin typeface="Segoe UI"/>
              </a:rPr>
              <a:t>each exchange carries a few facts, not the whole note</a:t>
            </a:r>
          </a:p>
        </p:txBody>
      </p:sp>
      <p:sp>
        <p:nvSpPr>
          <p:cNvPr id="14" name="Rectangle 13"/>
          <p:cNvSpPr/>
          <p:nvPr/>
        </p:nvSpPr>
        <p:spPr>
          <a:xfrm>
            <a:off x="6217920" y="5138928"/>
            <a:ext cx="5120640" cy="80467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5803D"/>
                </a:solidFill>
                <a:latin typeface="Segoe UI"/>
              </a:rPr>
              <a:t>No self-reference</a:t>
            </a:r>
          </a:p>
          <a:p>
            <a:pPr algn="ctr"/>
            <a:r>
              <a:rPr sz="1400" b="0">
                <a:solidFill>
                  <a:srgbClr val="15803D"/>
                </a:solidFill>
                <a:latin typeface="Segoe UI"/>
              </a:rPr>
              <a:t>AI output never becomes its own evidence</a:t>
            </a:r>
          </a:p>
        </p:txBody>
      </p:sp>
      <p:sp>
        <p:nvSpPr>
          <p:cNvPr id="15" name="TextBox 14"/>
          <p:cNvSpPr txBox="1"/>
          <p:nvPr/>
        </p:nvSpPr>
        <p:spPr>
          <a:xfrm>
            <a:off x="777240" y="6263640"/>
            <a:ext cx="10607040" cy="365760"/>
          </a:xfrm>
          <a:prstGeom prst="rect">
            <a:avLst/>
          </a:prstGeom>
          <a:noFill/>
        </p:spPr>
        <p:txBody>
          <a:bodyPr wrap="square" anchor="t" lIns="0" rIns="0" tIns="0" bIns="0">
            <a:spAutoFit/>
          </a:bodyPr>
          <a:lstStyle/>
          <a:p>
            <a:pPr algn="ctr">
              <a:lnSpc>
                <a:spcPct val="100000"/>
              </a:lnSpc>
            </a:pPr>
            <a:r>
              <a:rPr sz="1700" b="1" i="0">
                <a:solidFill>
                  <a:srgbClr val="10233A"/>
                </a:solidFill>
                <a:latin typeface="Segoe UI"/>
              </a:rPr>
              <a:t>This one change is what makes everything else possible.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IDEA 2</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One call becomes a short pipeline</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Focused steps, run in parallel — same wall-clock, far better accuracy.</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13</a:t>
            </a:r>
          </a:p>
        </p:txBody>
      </p:sp>
      <p:sp>
        <p:nvSpPr>
          <p:cNvPr id="6" name="Rounded Rectangle 5"/>
          <p:cNvSpPr/>
          <p:nvPr/>
        </p:nvSpPr>
        <p:spPr>
          <a:xfrm>
            <a:off x="777240" y="2898648"/>
            <a:ext cx="1810512" cy="1554480"/>
          </a:xfrm>
          <a:prstGeom prst="roundRect">
            <a:avLst>
              <a:gd name="adj" fmla="val 8000"/>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Gather</a:t>
            </a:r>
          </a:p>
          <a:p>
            <a:pPr algn="ctr"/>
            <a:r>
              <a:rPr sz="1500" b="0">
                <a:solidFill>
                  <a:srgbClr val="15803D"/>
                </a:solidFill>
                <a:latin typeface="Segoe UI"/>
              </a:rPr>
              <a:t/>
            </a:r>
          </a:p>
          <a:p>
            <a:pPr algn="ctr"/>
            <a:r>
              <a:rPr sz="1500" b="0">
                <a:solidFill>
                  <a:srgbClr val="15803D"/>
                </a:solidFill>
                <a:latin typeface="Segoe UI"/>
              </a:rPr>
              <a:t>chart data</a:t>
            </a:r>
          </a:p>
          <a:p>
            <a:pPr algn="ctr"/>
            <a:r>
              <a:rPr sz="1500" b="0">
                <a:solidFill>
                  <a:srgbClr val="15803D"/>
                </a:solidFill>
                <a:latin typeface="Segoe UI"/>
              </a:rPr>
              <a:t>code candidates</a:t>
            </a:r>
          </a:p>
        </p:txBody>
      </p:sp>
      <p:sp>
        <p:nvSpPr>
          <p:cNvPr id="7" name="TextBox 6"/>
          <p:cNvSpPr txBox="1"/>
          <p:nvPr/>
        </p:nvSpPr>
        <p:spPr>
          <a:xfrm>
            <a:off x="777240" y="4544568"/>
            <a:ext cx="1810512" cy="256032"/>
          </a:xfrm>
          <a:prstGeom prst="rect">
            <a:avLst/>
          </a:prstGeom>
          <a:noFill/>
        </p:spPr>
        <p:txBody>
          <a:bodyPr wrap="square" anchor="t" lIns="0" rIns="0" tIns="0" bIns="0">
            <a:spAutoFit/>
          </a:bodyPr>
          <a:lstStyle/>
          <a:p>
            <a:pPr algn="ctr">
              <a:lnSpc>
                <a:spcPct val="100000"/>
              </a:lnSpc>
            </a:pPr>
            <a:r>
              <a:rPr sz="1150" b="1" i="0">
                <a:solidFill>
                  <a:srgbClr val="64748B"/>
                </a:solidFill>
                <a:latin typeface="Segoe UI"/>
              </a:rPr>
              <a:t>rules only</a:t>
            </a:r>
          </a:p>
        </p:txBody>
      </p:sp>
      <p:sp>
        <p:nvSpPr>
          <p:cNvPr id="8" name="Right Arrow 7"/>
          <p:cNvSpPr/>
          <p:nvPr/>
        </p:nvSpPr>
        <p:spPr>
          <a:xfrm>
            <a:off x="2642616" y="3538728"/>
            <a:ext cx="274320"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71800" y="2898648"/>
            <a:ext cx="1810512" cy="155448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Understand</a:t>
            </a:r>
          </a:p>
          <a:p>
            <a:pPr algn="ctr"/>
            <a:r>
              <a:rPr sz="1500" b="0">
                <a:solidFill>
                  <a:srgbClr val="10233A"/>
                </a:solidFill>
                <a:latin typeface="Segoe UI"/>
              </a:rPr>
              <a:t/>
            </a:r>
          </a:p>
          <a:p>
            <a:pPr algn="ctr"/>
            <a:r>
              <a:rPr sz="1500" b="0">
                <a:solidFill>
                  <a:srgbClr val="10233A"/>
                </a:solidFill>
                <a:latin typeface="Segoe UI"/>
              </a:rPr>
              <a:t>note -&gt; ledger</a:t>
            </a:r>
          </a:p>
        </p:txBody>
      </p:sp>
      <p:sp>
        <p:nvSpPr>
          <p:cNvPr id="10" name="TextBox 9"/>
          <p:cNvSpPr txBox="1"/>
          <p:nvPr/>
        </p:nvSpPr>
        <p:spPr>
          <a:xfrm>
            <a:off x="2971800" y="4544568"/>
            <a:ext cx="1810512" cy="256032"/>
          </a:xfrm>
          <a:prstGeom prst="rect">
            <a:avLst/>
          </a:prstGeom>
          <a:noFill/>
        </p:spPr>
        <p:txBody>
          <a:bodyPr wrap="square" anchor="t" lIns="0" rIns="0" tIns="0" bIns="0">
            <a:spAutoFit/>
          </a:bodyPr>
          <a:lstStyle/>
          <a:p>
            <a:pPr algn="ctr">
              <a:lnSpc>
                <a:spcPct val="100000"/>
              </a:lnSpc>
            </a:pPr>
            <a:r>
              <a:rPr sz="1150" b="1" i="0">
                <a:solidFill>
                  <a:srgbClr val="64748B"/>
                </a:solidFill>
                <a:latin typeface="Segoe UI"/>
              </a:rPr>
              <a:t>1 call</a:t>
            </a:r>
          </a:p>
        </p:txBody>
      </p:sp>
      <p:sp>
        <p:nvSpPr>
          <p:cNvPr id="11" name="Right Arrow 10"/>
          <p:cNvSpPr/>
          <p:nvPr/>
        </p:nvSpPr>
        <p:spPr>
          <a:xfrm>
            <a:off x="4837176" y="3538728"/>
            <a:ext cx="274320"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6359" y="2898648"/>
            <a:ext cx="1810512" cy="155448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Compose</a:t>
            </a:r>
          </a:p>
          <a:p>
            <a:pPr algn="ctr"/>
            <a:r>
              <a:rPr sz="1500" b="0">
                <a:solidFill>
                  <a:srgbClr val="10233A"/>
                </a:solidFill>
                <a:latin typeface="Segoe UI"/>
              </a:rPr>
              <a:t/>
            </a:r>
          </a:p>
          <a:p>
            <a:pPr algn="ctr"/>
            <a:r>
              <a:rPr sz="1500" b="0">
                <a:solidFill>
                  <a:srgbClr val="10233A"/>
                </a:solidFill>
                <a:latin typeface="Segoe UI"/>
              </a:rPr>
              <a:t>one call per section</a:t>
            </a:r>
          </a:p>
        </p:txBody>
      </p:sp>
      <p:sp>
        <p:nvSpPr>
          <p:cNvPr id="13" name="TextBox 12"/>
          <p:cNvSpPr txBox="1"/>
          <p:nvPr/>
        </p:nvSpPr>
        <p:spPr>
          <a:xfrm>
            <a:off x="5166359" y="4544568"/>
            <a:ext cx="1810512" cy="256032"/>
          </a:xfrm>
          <a:prstGeom prst="rect">
            <a:avLst/>
          </a:prstGeom>
          <a:noFill/>
        </p:spPr>
        <p:txBody>
          <a:bodyPr wrap="square" anchor="t" lIns="0" rIns="0" tIns="0" bIns="0">
            <a:spAutoFit/>
          </a:bodyPr>
          <a:lstStyle/>
          <a:p>
            <a:pPr algn="ctr">
              <a:lnSpc>
                <a:spcPct val="100000"/>
              </a:lnSpc>
            </a:pPr>
            <a:r>
              <a:rPr sz="1150" b="1" i="0">
                <a:solidFill>
                  <a:srgbClr val="64748B"/>
                </a:solidFill>
                <a:latin typeface="Segoe UI"/>
              </a:rPr>
              <a:t>in parallel</a:t>
            </a:r>
          </a:p>
        </p:txBody>
      </p:sp>
      <p:sp>
        <p:nvSpPr>
          <p:cNvPr id="14" name="Right Arrow 13"/>
          <p:cNvSpPr/>
          <p:nvPr/>
        </p:nvSpPr>
        <p:spPr>
          <a:xfrm>
            <a:off x="7031735" y="3538728"/>
            <a:ext cx="274320"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60919" y="2898648"/>
            <a:ext cx="1810512" cy="155448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Code</a:t>
            </a:r>
          </a:p>
          <a:p>
            <a:pPr algn="ctr"/>
            <a:r>
              <a:rPr sz="1500" b="0">
                <a:solidFill>
                  <a:srgbClr val="10233A"/>
                </a:solidFill>
                <a:latin typeface="Segoe UI"/>
              </a:rPr>
              <a:t/>
            </a:r>
          </a:p>
          <a:p>
            <a:pPr algn="ctr"/>
            <a:r>
              <a:rPr sz="1500" b="0">
                <a:solidFill>
                  <a:srgbClr val="10233A"/>
                </a:solidFill>
                <a:latin typeface="Segoe UI"/>
              </a:rPr>
              <a:t>ICD + CPT chosen</a:t>
            </a:r>
          </a:p>
          <a:p>
            <a:pPr algn="ctr"/>
            <a:r>
              <a:rPr sz="1500" b="0">
                <a:solidFill>
                  <a:srgbClr val="10233A"/>
                </a:solidFill>
                <a:latin typeface="Segoe UI"/>
              </a:rPr>
              <a:t>from the valid set</a:t>
            </a:r>
          </a:p>
        </p:txBody>
      </p:sp>
      <p:sp>
        <p:nvSpPr>
          <p:cNvPr id="16" name="TextBox 15"/>
          <p:cNvSpPr txBox="1"/>
          <p:nvPr/>
        </p:nvSpPr>
        <p:spPr>
          <a:xfrm>
            <a:off x="7360919" y="4544568"/>
            <a:ext cx="1810512" cy="256032"/>
          </a:xfrm>
          <a:prstGeom prst="rect">
            <a:avLst/>
          </a:prstGeom>
          <a:noFill/>
        </p:spPr>
        <p:txBody>
          <a:bodyPr wrap="square" anchor="t" lIns="0" rIns="0" tIns="0" bIns="0">
            <a:spAutoFit/>
          </a:bodyPr>
          <a:lstStyle/>
          <a:p>
            <a:pPr algn="ctr">
              <a:lnSpc>
                <a:spcPct val="100000"/>
              </a:lnSpc>
            </a:pPr>
            <a:r>
              <a:rPr sz="1150" b="1" i="0">
                <a:solidFill>
                  <a:srgbClr val="64748B"/>
                </a:solidFill>
                <a:latin typeface="Segoe UI"/>
              </a:rPr>
              <a:t>in parallel</a:t>
            </a:r>
          </a:p>
        </p:txBody>
      </p:sp>
      <p:sp>
        <p:nvSpPr>
          <p:cNvPr id="17" name="Right Arrow 16"/>
          <p:cNvSpPr/>
          <p:nvPr/>
        </p:nvSpPr>
        <p:spPr>
          <a:xfrm>
            <a:off x="9226296" y="3538728"/>
            <a:ext cx="274320"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55480" y="2898648"/>
            <a:ext cx="1810512" cy="1554480"/>
          </a:xfrm>
          <a:prstGeom prst="roundRect">
            <a:avLst>
              <a:gd name="adj" fmla="val 8000"/>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Check</a:t>
            </a:r>
          </a:p>
          <a:p>
            <a:pPr algn="ctr"/>
            <a:r>
              <a:rPr sz="1500" b="0">
                <a:solidFill>
                  <a:srgbClr val="15803D"/>
                </a:solidFill>
                <a:latin typeface="Segoe UI"/>
              </a:rPr>
              <a:t/>
            </a:r>
          </a:p>
          <a:p>
            <a:pPr algn="ctr"/>
            <a:r>
              <a:rPr sz="1500" b="0">
                <a:solidFill>
                  <a:srgbClr val="15803D"/>
                </a:solidFill>
                <a:latin typeface="Segoe UI"/>
              </a:rPr>
              <a:t>evidence + rules</a:t>
            </a:r>
          </a:p>
          <a:p>
            <a:pPr algn="ctr"/>
            <a:r>
              <a:rPr sz="1500" b="0">
                <a:solidFill>
                  <a:srgbClr val="15803D"/>
                </a:solidFill>
                <a:latin typeface="Segoe UI"/>
              </a:rPr>
              <a:t>+ consistency</a:t>
            </a:r>
          </a:p>
        </p:txBody>
      </p:sp>
      <p:sp>
        <p:nvSpPr>
          <p:cNvPr id="19" name="TextBox 18"/>
          <p:cNvSpPr txBox="1"/>
          <p:nvPr/>
        </p:nvSpPr>
        <p:spPr>
          <a:xfrm>
            <a:off x="9555480" y="4544568"/>
            <a:ext cx="1810512" cy="256032"/>
          </a:xfrm>
          <a:prstGeom prst="rect">
            <a:avLst/>
          </a:prstGeom>
          <a:noFill/>
        </p:spPr>
        <p:txBody>
          <a:bodyPr wrap="square" anchor="t" lIns="0" rIns="0" tIns="0" bIns="0">
            <a:spAutoFit/>
          </a:bodyPr>
          <a:lstStyle/>
          <a:p>
            <a:pPr algn="ctr">
              <a:lnSpc>
                <a:spcPct val="100000"/>
              </a:lnSpc>
            </a:pPr>
            <a:r>
              <a:rPr sz="1150" b="1" i="0">
                <a:solidFill>
                  <a:srgbClr val="64748B"/>
                </a:solidFill>
                <a:latin typeface="Segoe UI"/>
              </a:rPr>
              <a:t>mostly rules</a:t>
            </a:r>
          </a:p>
        </p:txBody>
      </p:sp>
      <p:sp>
        <p:nvSpPr>
          <p:cNvPr id="20" name="Rectangle 19"/>
          <p:cNvSpPr/>
          <p:nvPr/>
        </p:nvSpPr>
        <p:spPr>
          <a:xfrm>
            <a:off x="777240" y="5111496"/>
            <a:ext cx="10607040" cy="731520"/>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50" b="1">
                <a:solidFill>
                  <a:srgbClr val="0F766E"/>
                </a:solidFill>
                <a:latin typeface="Segoe UI"/>
              </a:rPr>
              <a:t>Sections run side by side  ·  fixing one field re-runs one small step, not the note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IDEA 3</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One engine — but it already knows your templates</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The per-template configuration is compiled from data that exists today.</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14</a:t>
            </a:r>
          </a:p>
        </p:txBody>
      </p:sp>
      <p:sp>
        <p:nvSpPr>
          <p:cNvPr id="6" name="Rectangle 5"/>
          <p:cNvSpPr/>
          <p:nvPr/>
        </p:nvSpPr>
        <p:spPr>
          <a:xfrm>
            <a:off x="777240" y="2807208"/>
            <a:ext cx="3794760" cy="5029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0">
                <a:solidFill>
                  <a:srgbClr val="10233A"/>
                </a:solidFill>
                <a:latin typeface="Segoe UI"/>
              </a:rPr>
              <a:t>Field types and units</a:t>
            </a:r>
          </a:p>
        </p:txBody>
      </p:sp>
      <p:sp>
        <p:nvSpPr>
          <p:cNvPr id="7" name="Rectangle 6"/>
          <p:cNvSpPr/>
          <p:nvPr/>
        </p:nvSpPr>
        <p:spPr>
          <a:xfrm>
            <a:off x="777240" y="3410712"/>
            <a:ext cx="3794760" cy="5029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0">
                <a:solidFill>
                  <a:srgbClr val="10233A"/>
                </a:solidFill>
                <a:latin typeface="Segoe UI"/>
              </a:rPr>
              <a:t>Section names and order</a:t>
            </a:r>
          </a:p>
        </p:txBody>
      </p:sp>
      <p:sp>
        <p:nvSpPr>
          <p:cNvPr id="8" name="Rectangle 7"/>
          <p:cNvSpPr/>
          <p:nvPr/>
        </p:nvSpPr>
        <p:spPr>
          <a:xfrm>
            <a:off x="777240" y="4014216"/>
            <a:ext cx="3794760" cy="5029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0">
                <a:solidFill>
                  <a:srgbClr val="10233A"/>
                </a:solidFill>
                <a:latin typeface="Segoe UI"/>
              </a:rPr>
              <a:t>Normal findings</a:t>
            </a:r>
          </a:p>
        </p:txBody>
      </p:sp>
      <p:sp>
        <p:nvSpPr>
          <p:cNvPr id="9" name="Rectangle 8"/>
          <p:cNvSpPr/>
          <p:nvPr/>
        </p:nvSpPr>
        <p:spPr>
          <a:xfrm>
            <a:off x="777240" y="4617720"/>
            <a:ext cx="3794760" cy="5029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0">
                <a:solidFill>
                  <a:srgbClr val="10233A"/>
                </a:solidFill>
                <a:latin typeface="Segoe UI"/>
              </a:rPr>
              <a:t>Existing validations</a:t>
            </a:r>
          </a:p>
        </p:txBody>
      </p:sp>
      <p:sp>
        <p:nvSpPr>
          <p:cNvPr id="10" name="Rectangle 9"/>
          <p:cNvSpPr/>
          <p:nvPr/>
        </p:nvSpPr>
        <p:spPr>
          <a:xfrm>
            <a:off x="777240" y="5221224"/>
            <a:ext cx="3794760" cy="5029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0">
                <a:solidFill>
                  <a:srgbClr val="10233A"/>
                </a:solidFill>
                <a:latin typeface="Segoe UI"/>
              </a:rPr>
              <a:t>LOINC / SNOMED codes</a:t>
            </a:r>
          </a:p>
        </p:txBody>
      </p:sp>
      <p:sp>
        <p:nvSpPr>
          <p:cNvPr id="11" name="Right Arrow 10"/>
          <p:cNvSpPr/>
          <p:nvPr/>
        </p:nvSpPr>
        <p:spPr>
          <a:xfrm>
            <a:off x="4800600" y="4133088"/>
            <a:ext cx="457200" cy="310896"/>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77840" y="2807208"/>
            <a:ext cx="5806440" cy="50292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350" b="1">
                <a:solidFill>
                  <a:srgbClr val="15803D"/>
                </a:solidFill>
                <a:latin typeface="Segoe UI"/>
              </a:rPr>
              <a:t>A strict schema per template</a:t>
            </a:r>
          </a:p>
        </p:txBody>
      </p:sp>
      <p:sp>
        <p:nvSpPr>
          <p:cNvPr id="13" name="Rectangle 12"/>
          <p:cNvSpPr/>
          <p:nvPr/>
        </p:nvSpPr>
        <p:spPr>
          <a:xfrm>
            <a:off x="5577840" y="3410712"/>
            <a:ext cx="5806440" cy="50292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350" b="1">
                <a:solidFill>
                  <a:srgbClr val="15803D"/>
                </a:solidFill>
                <a:latin typeface="Segoe UI"/>
              </a:rPr>
              <a:t>Valid IDs as a fixed list</a:t>
            </a:r>
          </a:p>
        </p:txBody>
      </p:sp>
      <p:sp>
        <p:nvSpPr>
          <p:cNvPr id="14" name="Rectangle 13"/>
          <p:cNvSpPr/>
          <p:nvPr/>
        </p:nvSpPr>
        <p:spPr>
          <a:xfrm>
            <a:off x="5577840" y="4014216"/>
            <a:ext cx="5806440" cy="50292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350" b="1">
                <a:solidFill>
                  <a:srgbClr val="15803D"/>
                </a:solidFill>
                <a:latin typeface="Segoe UI"/>
              </a:rPr>
              <a:t>Layered, conflict-checked instructions</a:t>
            </a:r>
          </a:p>
        </p:txBody>
      </p:sp>
      <p:sp>
        <p:nvSpPr>
          <p:cNvPr id="15" name="Rectangle 14"/>
          <p:cNvSpPr/>
          <p:nvPr/>
        </p:nvSpPr>
        <p:spPr>
          <a:xfrm>
            <a:off x="5577840" y="4617720"/>
            <a:ext cx="5806440" cy="50292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350" b="1">
                <a:solidFill>
                  <a:srgbClr val="15803D"/>
                </a:solidFill>
                <a:latin typeface="Segoe UI"/>
              </a:rPr>
              <a:t>A required-items checklist</a:t>
            </a:r>
          </a:p>
        </p:txBody>
      </p:sp>
      <p:sp>
        <p:nvSpPr>
          <p:cNvPr id="16" name="Rectangle 15"/>
          <p:cNvSpPr/>
          <p:nvPr/>
        </p:nvSpPr>
        <p:spPr>
          <a:xfrm>
            <a:off x="5577840" y="5221224"/>
            <a:ext cx="5806440" cy="50292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350" b="1">
                <a:solidFill>
                  <a:srgbClr val="15803D"/>
                </a:solidFill>
                <a:latin typeface="Segoe UI"/>
              </a:rPr>
              <a:t>Shortcut expansions</a:t>
            </a:r>
          </a:p>
        </p:txBody>
      </p:sp>
      <p:sp>
        <p:nvSpPr>
          <p:cNvPr id="17" name="Rectangle 16"/>
          <p:cNvSpPr/>
          <p:nvPr/>
        </p:nvSpPr>
        <p:spPr>
          <a:xfrm>
            <a:off x="777240" y="6053328"/>
            <a:ext cx="10607040" cy="731520"/>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50" b="1">
                <a:solidFill>
                  <a:srgbClr val="0F766E"/>
                </a:solidFill>
                <a:latin typeface="Segoe UI"/>
              </a:rPr>
              <a:t>Behavioural Health and Primary Care differ because their data differs — not because they have separate prompts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IDEA 4</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Codes are chosen from a valid list, not invented</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15</a:t>
            </a:r>
          </a:p>
        </p:txBody>
      </p:sp>
      <p:sp>
        <p:nvSpPr>
          <p:cNvPr id="5" name="Rounded Rectangle 4"/>
          <p:cNvSpPr/>
          <p:nvPr/>
        </p:nvSpPr>
        <p:spPr>
          <a:xfrm>
            <a:off x="777240" y="2322576"/>
            <a:ext cx="2487168" cy="1188720"/>
          </a:xfrm>
          <a:prstGeom prst="roundRect">
            <a:avLst>
              <a:gd name="adj" fmla="val 8000"/>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Rules build</a:t>
            </a:r>
          </a:p>
          <a:p>
            <a:pPr algn="ctr"/>
            <a:r>
              <a:rPr sz="1500" b="0">
                <a:solidFill>
                  <a:srgbClr val="15803D"/>
                </a:solidFill>
                <a:latin typeface="Segoe UI"/>
              </a:rPr>
              <a:t>the valid list</a:t>
            </a:r>
          </a:p>
        </p:txBody>
      </p:sp>
      <p:sp>
        <p:nvSpPr>
          <p:cNvPr id="6" name="Right Arrow 5"/>
          <p:cNvSpPr/>
          <p:nvPr/>
        </p:nvSpPr>
        <p:spPr>
          <a:xfrm>
            <a:off x="3282696" y="2798064"/>
            <a:ext cx="237744"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38728" y="2322576"/>
            <a:ext cx="2487168" cy="1188720"/>
          </a:xfrm>
          <a:prstGeom prst="roundRect">
            <a:avLst>
              <a:gd name="adj" fmla="val 8000"/>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The list becomes</a:t>
            </a:r>
          </a:p>
          <a:p>
            <a:pPr algn="ctr"/>
            <a:r>
              <a:rPr sz="1500" b="0">
                <a:solidFill>
                  <a:srgbClr val="15803D"/>
                </a:solidFill>
                <a:latin typeface="Segoe UI"/>
              </a:rPr>
              <a:t>a hard constraint</a:t>
            </a:r>
          </a:p>
        </p:txBody>
      </p:sp>
      <p:sp>
        <p:nvSpPr>
          <p:cNvPr id="8" name="Right Arrow 7"/>
          <p:cNvSpPr/>
          <p:nvPr/>
        </p:nvSpPr>
        <p:spPr>
          <a:xfrm>
            <a:off x="6044183" y="2798064"/>
            <a:ext cx="237744"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0216" y="2322576"/>
            <a:ext cx="2487168" cy="118872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0233A"/>
                </a:solidFill>
                <a:latin typeface="Segoe UI"/>
              </a:rPr>
              <a:t>Model picks</a:t>
            </a:r>
          </a:p>
          <a:p>
            <a:pPr algn="ctr"/>
            <a:r>
              <a:rPr sz="1500" b="0">
                <a:solidFill>
                  <a:srgbClr val="10233A"/>
                </a:solidFill>
                <a:latin typeface="Segoe UI"/>
              </a:rPr>
              <a:t>and justifies</a:t>
            </a:r>
          </a:p>
        </p:txBody>
      </p:sp>
      <p:sp>
        <p:nvSpPr>
          <p:cNvPr id="10" name="Right Arrow 9"/>
          <p:cNvSpPr/>
          <p:nvPr/>
        </p:nvSpPr>
        <p:spPr>
          <a:xfrm>
            <a:off x="8805672" y="2798064"/>
            <a:ext cx="237744" cy="23774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61704" y="2322576"/>
            <a:ext cx="2487168" cy="1188720"/>
          </a:xfrm>
          <a:prstGeom prst="roundRect">
            <a:avLst>
              <a:gd name="adj" fmla="val 8000"/>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Rules check</a:t>
            </a:r>
          </a:p>
          <a:p>
            <a:pPr algn="ctr"/>
            <a:r>
              <a:rPr sz="1500" b="0">
                <a:solidFill>
                  <a:srgbClr val="15803D"/>
                </a:solidFill>
                <a:latin typeface="Segoe UI"/>
              </a:rPr>
              <a:t>the result</a:t>
            </a:r>
          </a:p>
        </p:txBody>
      </p:sp>
      <p:sp>
        <p:nvSpPr>
          <p:cNvPr id="12" name="Rectangle 11"/>
          <p:cNvSpPr/>
          <p:nvPr/>
        </p:nvSpPr>
        <p:spPr>
          <a:xfrm>
            <a:off x="777240" y="3922776"/>
            <a:ext cx="5120640" cy="109728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5803D"/>
                </a:solidFill>
                <a:latin typeface="Segoe UI"/>
              </a:rPr>
              <a:t>ICD comes from the</a:t>
            </a:r>
          </a:p>
          <a:p>
            <a:pPr algn="ctr"/>
            <a:r>
              <a:rPr sz="1600" b="0">
                <a:solidFill>
                  <a:srgbClr val="15803D"/>
                </a:solidFill>
                <a:latin typeface="Segoe UI"/>
              </a:rPr>
              <a:t>active problem list</a:t>
            </a:r>
          </a:p>
        </p:txBody>
      </p:sp>
      <p:sp>
        <p:nvSpPr>
          <p:cNvPr id="13" name="Rectangle 12"/>
          <p:cNvSpPr/>
          <p:nvPr/>
        </p:nvSpPr>
        <p:spPr>
          <a:xfrm>
            <a:off x="6263640" y="3922776"/>
            <a:ext cx="5120640" cy="1097280"/>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5803D"/>
                </a:solidFill>
                <a:latin typeface="Segoe UI"/>
              </a:rPr>
              <a:t>CPT comes from visit time,</a:t>
            </a:r>
          </a:p>
          <a:p>
            <a:pPr algn="ctr"/>
            <a:r>
              <a:rPr sz="1600" b="0">
                <a:solidFill>
                  <a:srgbClr val="15803D"/>
                </a:solidFill>
                <a:latin typeface="Segoe UI"/>
              </a:rPr>
              <a:t>provider type and place of service</a:t>
            </a:r>
          </a:p>
        </p:txBody>
      </p:sp>
      <p:sp>
        <p:nvSpPr>
          <p:cNvPr id="14" name="TextBox 13"/>
          <p:cNvSpPr txBox="1"/>
          <p:nvPr/>
        </p:nvSpPr>
        <p:spPr>
          <a:xfrm>
            <a:off x="777240" y="5202936"/>
            <a:ext cx="10607040" cy="411480"/>
          </a:xfrm>
          <a:prstGeom prst="rect">
            <a:avLst/>
          </a:prstGeom>
          <a:noFill/>
        </p:spPr>
        <p:txBody>
          <a:bodyPr wrap="square" anchor="t" lIns="0" rIns="0" tIns="0" bIns="0">
            <a:spAutoFit/>
          </a:bodyPr>
          <a:lstStyle/>
          <a:p>
            <a:pPr algn="ctr">
              <a:lnSpc>
                <a:spcPct val="100000"/>
              </a:lnSpc>
            </a:pPr>
            <a:r>
              <a:rPr sz="1750" b="1" i="0">
                <a:solidFill>
                  <a:srgbClr val="10233A"/>
                </a:solidFill>
                <a:latin typeface="Segoe UI"/>
              </a:rPr>
              <a:t>Unbillable, outdated and invalid codes become impossible — not discouraged.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514600"/>
            <a:ext cx="1280160" cy="822960"/>
          </a:xfrm>
          <a:prstGeom prst="rect">
            <a:avLst/>
          </a:prstGeom>
          <a:noFill/>
        </p:spPr>
        <p:txBody>
          <a:bodyPr wrap="square" anchor="t" lIns="0" rIns="0" tIns="0" bIns="0">
            <a:spAutoFit/>
          </a:bodyPr>
          <a:lstStyle/>
          <a:p>
            <a:pPr algn="l">
              <a:lnSpc>
                <a:spcPct val="100000"/>
              </a:lnSpc>
            </a:pPr>
            <a:r>
              <a:rPr sz="5800" b="1" i="0">
                <a:solidFill>
                  <a:srgbClr val="0F766E"/>
                </a:solidFill>
                <a:latin typeface="Segoe UI"/>
              </a:rPr>
              <a:t>03</a:t>
            </a:r>
          </a:p>
        </p:txBody>
      </p:sp>
      <p:sp>
        <p:nvSpPr>
          <p:cNvPr id="4" name="TextBox 3"/>
          <p:cNvSpPr txBox="1"/>
          <p:nvPr/>
        </p:nvSpPr>
        <p:spPr>
          <a:xfrm>
            <a:off x="2331720" y="2651760"/>
            <a:ext cx="8778240" cy="640080"/>
          </a:xfrm>
          <a:prstGeom prst="rect">
            <a:avLst/>
          </a:prstGeom>
          <a:noFill/>
        </p:spPr>
        <p:txBody>
          <a:bodyPr wrap="square" anchor="t" lIns="0" rIns="0" tIns="0" bIns="0">
            <a:spAutoFit/>
          </a:bodyPr>
          <a:lstStyle/>
          <a:p>
            <a:pPr algn="l">
              <a:lnSpc>
                <a:spcPct val="100000"/>
              </a:lnSpc>
            </a:pPr>
            <a:r>
              <a:rPr sz="3600" b="1" i="0">
                <a:solidFill>
                  <a:srgbClr val="FFFFFF"/>
                </a:solidFill>
                <a:latin typeface="Segoe UI"/>
              </a:rPr>
              <a:t>How we build it</a:t>
            </a:r>
          </a:p>
        </p:txBody>
      </p:sp>
      <p:sp>
        <p:nvSpPr>
          <p:cNvPr id="5" name="TextBox 4"/>
          <p:cNvSpPr txBox="1"/>
          <p:nvPr/>
        </p:nvSpPr>
        <p:spPr>
          <a:xfrm>
            <a:off x="2377440" y="3401568"/>
            <a:ext cx="8595360" cy="457200"/>
          </a:xfrm>
          <a:prstGeom prst="rect">
            <a:avLst/>
          </a:prstGeom>
          <a:noFill/>
        </p:spPr>
        <p:txBody>
          <a:bodyPr wrap="square" anchor="t" lIns="0" rIns="0" tIns="0" bIns="0">
            <a:spAutoFit/>
          </a:bodyPr>
          <a:lstStyle/>
          <a:p>
            <a:pPr algn="l">
              <a:lnSpc>
                <a:spcPct val="100000"/>
              </a:lnSpc>
            </a:pPr>
            <a:r>
              <a:rPr sz="1450" b="0" i="0">
                <a:solidFill>
                  <a:srgbClr val="9FB3C8"/>
                </a:solidFill>
                <a:latin typeface="Segoe UI"/>
              </a:rPr>
              <a:t>Architecture and technology choices</a:t>
            </a:r>
          </a:p>
        </p:txBody>
      </p:sp>
      <p:sp>
        <p:nvSpPr>
          <p:cNvPr id="6" name="Rectangle 5"/>
          <p:cNvSpPr/>
          <p:nvPr/>
        </p:nvSpPr>
        <p:spPr>
          <a:xfrm>
            <a:off x="2377440" y="3310128"/>
            <a:ext cx="2743200"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950" b="0" i="0">
                <a:solidFill>
                  <a:srgbClr val="55667D"/>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  ·  1 OF 2</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Reference architecture — standard practice</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The shape any production clinical AI system converges on. Nothing here is specific to PacEHR.</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17</a:t>
            </a:r>
          </a:p>
        </p:txBody>
      </p:sp>
      <p:sp>
        <p:nvSpPr>
          <p:cNvPr id="6" name="Rectangle 5"/>
          <p:cNvSpPr/>
          <p:nvPr/>
        </p:nvSpPr>
        <p:spPr>
          <a:xfrm>
            <a:off x="777240" y="2441448"/>
            <a:ext cx="1143000" cy="324612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64748B"/>
                </a:solidFill>
                <a:latin typeface="Segoe UI"/>
              </a:rPr>
              <a:t>SECURITY</a:t>
            </a:r>
          </a:p>
          <a:p>
            <a:pPr algn="ctr"/>
            <a:r>
              <a:rPr sz="1050" b="0">
                <a:solidFill>
                  <a:srgbClr val="64748B"/>
                </a:solidFill>
                <a:latin typeface="Segoe UI"/>
              </a:rPr>
              <a:t>&amp;</a:t>
            </a:r>
          </a:p>
          <a:p>
            <a:pPr algn="ctr"/>
            <a:r>
              <a:rPr sz="1050" b="0">
                <a:solidFill>
                  <a:srgbClr val="64748B"/>
                </a:solidFill>
                <a:latin typeface="Segoe UI"/>
              </a:rPr>
              <a:t>COMPLIANCE</a:t>
            </a:r>
          </a:p>
          <a:p>
            <a:pPr algn="ctr"/>
            <a:r>
              <a:rPr sz="1050" b="0">
                <a:solidFill>
                  <a:srgbClr val="64748B"/>
                </a:solidFill>
                <a:latin typeface="Segoe UI"/>
              </a:rPr>
              <a:t/>
            </a:r>
          </a:p>
          <a:p>
            <a:pPr algn="ctr"/>
            <a:r>
              <a:rPr sz="1050" b="0">
                <a:solidFill>
                  <a:srgbClr val="64748B"/>
                </a:solidFill>
                <a:latin typeface="Segoe UI"/>
              </a:rPr>
              <a:t>identity</a:t>
            </a:r>
          </a:p>
          <a:p>
            <a:pPr algn="ctr"/>
            <a:r>
              <a:rPr sz="1050" b="0">
                <a:solidFill>
                  <a:srgbClr val="64748B"/>
                </a:solidFill>
                <a:latin typeface="Segoe UI"/>
              </a:rPr>
              <a:t>data policy</a:t>
            </a:r>
          </a:p>
          <a:p>
            <a:pPr algn="ctr"/>
            <a:r>
              <a:rPr sz="1050" b="0">
                <a:solidFill>
                  <a:srgbClr val="64748B"/>
                </a:solidFill>
                <a:latin typeface="Segoe UI"/>
              </a:rPr>
              <a:t>residency</a:t>
            </a:r>
          </a:p>
          <a:p>
            <a:pPr algn="ctr"/>
            <a:r>
              <a:rPr sz="1050" b="0">
                <a:solidFill>
                  <a:srgbClr val="64748B"/>
                </a:solidFill>
                <a:latin typeface="Segoe UI"/>
              </a:rPr>
              <a:t>retention</a:t>
            </a:r>
          </a:p>
          <a:p>
            <a:pPr algn="ctr"/>
            <a:r>
              <a:rPr sz="1050" b="0">
                <a:solidFill>
                  <a:srgbClr val="64748B"/>
                </a:solidFill>
                <a:latin typeface="Segoe UI"/>
              </a:rPr>
              <a:t>audit</a:t>
            </a:r>
          </a:p>
        </p:txBody>
      </p:sp>
      <p:sp>
        <p:nvSpPr>
          <p:cNvPr id="7" name="Rectangle 6"/>
          <p:cNvSpPr/>
          <p:nvPr/>
        </p:nvSpPr>
        <p:spPr>
          <a:xfrm>
            <a:off x="10241280" y="2441448"/>
            <a:ext cx="1143000" cy="324612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64748B"/>
                </a:solidFill>
                <a:latin typeface="Segoe UI"/>
              </a:rPr>
              <a:t>EVALUATION</a:t>
            </a:r>
          </a:p>
          <a:p>
            <a:pPr algn="ctr"/>
            <a:r>
              <a:rPr sz="1050" b="0">
                <a:solidFill>
                  <a:srgbClr val="64748B"/>
                </a:solidFill>
                <a:latin typeface="Segoe UI"/>
              </a:rPr>
              <a:t>&amp;</a:t>
            </a:r>
          </a:p>
          <a:p>
            <a:pPr algn="ctr"/>
            <a:r>
              <a:rPr sz="1050" b="0">
                <a:solidFill>
                  <a:srgbClr val="64748B"/>
                </a:solidFill>
                <a:latin typeface="Segoe UI"/>
              </a:rPr>
              <a:t>OBSERVABILITY</a:t>
            </a:r>
          </a:p>
          <a:p>
            <a:pPr algn="ctr"/>
            <a:r>
              <a:rPr sz="1050" b="0">
                <a:solidFill>
                  <a:srgbClr val="64748B"/>
                </a:solidFill>
                <a:latin typeface="Segoe UI"/>
              </a:rPr>
              <a:t/>
            </a:r>
          </a:p>
          <a:p>
            <a:pPr algn="ctr"/>
            <a:r>
              <a:rPr sz="1050" b="0">
                <a:solidFill>
                  <a:srgbClr val="64748B"/>
                </a:solidFill>
                <a:latin typeface="Segoe UI"/>
              </a:rPr>
              <a:t>offline evals</a:t>
            </a:r>
          </a:p>
          <a:p>
            <a:pPr algn="ctr"/>
            <a:r>
              <a:rPr sz="1050" b="0">
                <a:solidFill>
                  <a:srgbClr val="64748B"/>
                </a:solidFill>
                <a:latin typeface="Segoe UI"/>
              </a:rPr>
              <a:t>tracing</a:t>
            </a:r>
          </a:p>
          <a:p>
            <a:pPr algn="ctr"/>
            <a:r>
              <a:rPr sz="1050" b="0">
                <a:solidFill>
                  <a:srgbClr val="64748B"/>
                </a:solidFill>
                <a:latin typeface="Segoe UI"/>
              </a:rPr>
              <a:t>drift</a:t>
            </a:r>
          </a:p>
          <a:p>
            <a:pPr algn="ctr"/>
            <a:r>
              <a:rPr sz="1050" b="0">
                <a:solidFill>
                  <a:srgbClr val="64748B"/>
                </a:solidFill>
                <a:latin typeface="Segoe UI"/>
              </a:rPr>
              <a:t>cost</a:t>
            </a:r>
          </a:p>
          <a:p>
            <a:pPr algn="ctr"/>
            <a:r>
              <a:rPr sz="1050" b="0">
                <a:solidFill>
                  <a:srgbClr val="64748B"/>
                </a:solidFill>
                <a:latin typeface="Segoe UI"/>
              </a:rPr>
              <a:t>quality</a:t>
            </a:r>
          </a:p>
        </p:txBody>
      </p:sp>
      <p:sp>
        <p:nvSpPr>
          <p:cNvPr id="8" name="Rectangle 7"/>
          <p:cNvSpPr/>
          <p:nvPr/>
        </p:nvSpPr>
        <p:spPr>
          <a:xfrm>
            <a:off x="2011680" y="2441448"/>
            <a:ext cx="813816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0233A"/>
                </a:solidFill>
                <a:latin typeface="Segoe UI"/>
              </a:rPr>
              <a:t>EXPERIENCE  +  HUMAN IN THE LOOP</a:t>
            </a:r>
          </a:p>
          <a:p>
            <a:pPr algn="ctr"/>
            <a:r>
              <a:rPr sz="1200" b="0">
                <a:solidFill>
                  <a:srgbClr val="10233A"/>
                </a:solidFill>
                <a:latin typeface="Segoe UI"/>
              </a:rPr>
              <a:t>capture · review · approve</a:t>
            </a:r>
          </a:p>
        </p:txBody>
      </p:sp>
      <p:sp>
        <p:nvSpPr>
          <p:cNvPr id="9" name="Rectangle 8"/>
          <p:cNvSpPr/>
          <p:nvPr/>
        </p:nvSpPr>
        <p:spPr>
          <a:xfrm>
            <a:off x="2011680" y="2926080"/>
            <a:ext cx="813816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0233A"/>
                </a:solidFill>
                <a:latin typeface="Segoe UI"/>
              </a:rPr>
              <a:t>API GATEWAY</a:t>
            </a:r>
          </a:p>
          <a:p>
            <a:pPr algn="ctr"/>
            <a:r>
              <a:rPr sz="1200" b="0">
                <a:solidFill>
                  <a:srgbClr val="10233A"/>
                </a:solidFill>
                <a:latin typeface="Segoe UI"/>
              </a:rPr>
              <a:t>authentication · entitlement · rate limiting</a:t>
            </a:r>
          </a:p>
        </p:txBody>
      </p:sp>
      <p:sp>
        <p:nvSpPr>
          <p:cNvPr id="10" name="Rectangle 9"/>
          <p:cNvSpPr/>
          <p:nvPr/>
        </p:nvSpPr>
        <p:spPr>
          <a:xfrm>
            <a:off x="2011680" y="3392424"/>
            <a:ext cx="8138160" cy="65836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10233A"/>
                </a:solidFill>
                <a:latin typeface="Segoe UI"/>
              </a:rPr>
              <a:t>ORCHESTRATION</a:t>
            </a:r>
          </a:p>
          <a:p>
            <a:pPr algn="ctr"/>
            <a:r>
              <a:rPr sz="1350" b="0">
                <a:solidFill>
                  <a:srgbClr val="10233A"/>
                </a:solidFill>
                <a:latin typeface="Segoe UI"/>
              </a:rPr>
              <a:t>decompose the task · sequence the steps · fan out · retry</a:t>
            </a:r>
          </a:p>
        </p:txBody>
      </p:sp>
      <p:sp>
        <p:nvSpPr>
          <p:cNvPr id="11" name="Rectangle 10"/>
          <p:cNvSpPr/>
          <p:nvPr/>
        </p:nvSpPr>
        <p:spPr>
          <a:xfrm>
            <a:off x="2011680" y="4114800"/>
            <a:ext cx="4005072" cy="56692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GROUNDING &amp; CONTEXT</a:t>
            </a:r>
          </a:p>
          <a:p>
            <a:pPr algn="ctr"/>
            <a:r>
              <a:rPr sz="1250" b="0">
                <a:solidFill>
                  <a:srgbClr val="10233A"/>
                </a:solidFill>
                <a:latin typeface="Segoe UI"/>
              </a:rPr>
              <a:t>assemble the record the model must reason over</a:t>
            </a:r>
          </a:p>
        </p:txBody>
      </p:sp>
      <p:sp>
        <p:nvSpPr>
          <p:cNvPr id="12" name="Rectangle 11"/>
          <p:cNvSpPr/>
          <p:nvPr/>
        </p:nvSpPr>
        <p:spPr>
          <a:xfrm>
            <a:off x="6144768" y="4114800"/>
            <a:ext cx="4005072" cy="56692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PROMPT &amp; POLICY</a:t>
            </a:r>
          </a:p>
          <a:p>
            <a:pPr algn="ctr"/>
            <a:r>
              <a:rPr sz="1250" b="0">
                <a:solidFill>
                  <a:srgbClr val="10233A"/>
                </a:solidFill>
                <a:latin typeface="Segoe UI"/>
              </a:rPr>
              <a:t>registry · versioning · composition · guardrails</a:t>
            </a:r>
          </a:p>
        </p:txBody>
      </p:sp>
      <p:sp>
        <p:nvSpPr>
          <p:cNvPr id="13" name="Rectangle 12"/>
          <p:cNvSpPr/>
          <p:nvPr/>
        </p:nvSpPr>
        <p:spPr>
          <a:xfrm>
            <a:off x="2011680" y="4745736"/>
            <a:ext cx="813816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0233A"/>
                </a:solidFill>
                <a:latin typeface="Segoe UI"/>
              </a:rPr>
              <a:t>MODEL GATEWAY</a:t>
            </a:r>
          </a:p>
          <a:p>
            <a:pPr algn="ctr"/>
            <a:r>
              <a:rPr sz="1200" b="0">
                <a:solidFill>
                  <a:srgbClr val="10233A"/>
                </a:solidFill>
                <a:latin typeface="Segoe UI"/>
              </a:rPr>
              <a:t>provider abstraction · routing · caching · fallback</a:t>
            </a:r>
          </a:p>
        </p:txBody>
      </p:sp>
      <p:sp>
        <p:nvSpPr>
          <p:cNvPr id="14" name="Rectangle 13"/>
          <p:cNvSpPr/>
          <p:nvPr/>
        </p:nvSpPr>
        <p:spPr>
          <a:xfrm>
            <a:off x="2011680" y="5212080"/>
            <a:ext cx="8138160" cy="47548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MODEL SERVING</a:t>
            </a:r>
          </a:p>
          <a:p>
            <a:pPr algn="ctr"/>
            <a:r>
              <a:rPr sz="1250" b="0">
                <a:solidFill>
                  <a:srgbClr val="10233A"/>
                </a:solidFill>
                <a:latin typeface="Segoe UI"/>
              </a:rPr>
              <a:t>managed or self-hosted inference</a:t>
            </a:r>
          </a:p>
        </p:txBody>
      </p:sp>
      <p:sp>
        <p:nvSpPr>
          <p:cNvPr id="15" name="Rectangle 14"/>
          <p:cNvSpPr/>
          <p:nvPr/>
        </p:nvSpPr>
        <p:spPr>
          <a:xfrm>
            <a:off x="777240" y="5751576"/>
            <a:ext cx="10607040" cy="40233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64748B"/>
                </a:solidFill>
                <a:latin typeface="Segoe UI"/>
              </a:rPr>
              <a:t>DATA &amp; GOVERNANCE   ·   source systems · audit store · lineage · retention</a:t>
            </a:r>
          </a:p>
        </p:txBody>
      </p:sp>
      <p:sp>
        <p:nvSpPr>
          <p:cNvPr id="16" name="TextBox 15"/>
          <p:cNvSpPr txBox="1"/>
          <p:nvPr/>
        </p:nvSpPr>
        <p:spPr>
          <a:xfrm>
            <a:off x="777240" y="6254496"/>
            <a:ext cx="10607040" cy="310896"/>
          </a:xfrm>
          <a:prstGeom prst="rect">
            <a:avLst/>
          </a:prstGeom>
          <a:noFill/>
        </p:spPr>
        <p:txBody>
          <a:bodyPr wrap="square" anchor="t" lIns="0" rIns="0" tIns="0" bIns="0">
            <a:spAutoFit/>
          </a:bodyPr>
          <a:lstStyle/>
          <a:p>
            <a:pPr algn="ctr">
              <a:lnSpc>
                <a:spcPct val="100000"/>
              </a:lnSpc>
            </a:pPr>
            <a:r>
              <a:rPr sz="1400" b="1" i="0">
                <a:solidFill>
                  <a:srgbClr val="64748B"/>
                </a:solidFill>
                <a:latin typeface="Segoe UI"/>
              </a:rPr>
              <a:t>Two cross-cutting rails, because compliance and evaluation cannot be a layer — they touch every layer.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  ·  2 OF 2</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The same architecture, instantiated for PacEHR</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Identical blocks. Teal is what we build in Phase 1; grey already exists.</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18</a:t>
            </a:r>
          </a:p>
        </p:txBody>
      </p:sp>
      <p:sp>
        <p:nvSpPr>
          <p:cNvPr id="6" name="Rectangle 5"/>
          <p:cNvSpPr/>
          <p:nvPr/>
        </p:nvSpPr>
        <p:spPr>
          <a:xfrm>
            <a:off x="777240" y="2441448"/>
            <a:ext cx="1143000" cy="324612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64748B"/>
                </a:solidFill>
                <a:latin typeface="Segoe UI"/>
              </a:rPr>
              <a:t>SECURITY</a:t>
            </a:r>
          </a:p>
          <a:p>
            <a:pPr algn="ctr"/>
            <a:r>
              <a:rPr sz="1050" b="0">
                <a:solidFill>
                  <a:srgbClr val="64748B"/>
                </a:solidFill>
                <a:latin typeface="Segoe UI"/>
              </a:rPr>
              <a:t>&amp;</a:t>
            </a:r>
          </a:p>
          <a:p>
            <a:pPr algn="ctr"/>
            <a:r>
              <a:rPr sz="1050" b="0">
                <a:solidFill>
                  <a:srgbClr val="64748B"/>
                </a:solidFill>
                <a:latin typeface="Segoe UI"/>
              </a:rPr>
              <a:t>COMPLIANCE</a:t>
            </a:r>
          </a:p>
          <a:p>
            <a:pPr algn="ctr"/>
            <a:r>
              <a:rPr sz="1050" b="0">
                <a:solidFill>
                  <a:srgbClr val="64748B"/>
                </a:solidFill>
                <a:latin typeface="Segoe UI"/>
              </a:rPr>
              <a:t/>
            </a:r>
          </a:p>
          <a:p>
            <a:pPr algn="ctr"/>
            <a:r>
              <a:rPr sz="1050" b="0">
                <a:solidFill>
                  <a:srgbClr val="64748B"/>
                </a:solidFill>
                <a:latin typeface="Segoe UI"/>
              </a:rPr>
              <a:t>server-side</a:t>
            </a:r>
          </a:p>
          <a:p>
            <a:pPr algn="ctr"/>
            <a:r>
              <a:rPr sz="1050" b="0">
                <a:solidFill>
                  <a:srgbClr val="64748B"/>
                </a:solidFill>
                <a:latin typeface="Segoe UI"/>
              </a:rPr>
              <a:t>guards</a:t>
            </a:r>
          </a:p>
          <a:p>
            <a:pPr algn="ctr"/>
            <a:r>
              <a:rPr sz="1050" b="0">
                <a:solidFill>
                  <a:srgbClr val="64748B"/>
                </a:solidFill>
                <a:latin typeface="Segoe UI"/>
              </a:rPr>
              <a:t>PHI policy</a:t>
            </a:r>
          </a:p>
          <a:p>
            <a:pPr algn="ctr"/>
            <a:r>
              <a:rPr sz="1050" b="0">
                <a:solidFill>
                  <a:srgbClr val="64748B"/>
                </a:solidFill>
                <a:latin typeface="Segoe UI"/>
              </a:rPr>
              <a:t>ZDR</a:t>
            </a:r>
          </a:p>
          <a:p>
            <a:pPr algn="ctr"/>
            <a:r>
              <a:rPr sz="1050" b="0">
                <a:solidFill>
                  <a:srgbClr val="64748B"/>
                </a:solidFill>
                <a:latin typeface="Segoe UI"/>
              </a:rPr>
              <a:t>audit trail</a:t>
            </a:r>
          </a:p>
        </p:txBody>
      </p:sp>
      <p:sp>
        <p:nvSpPr>
          <p:cNvPr id="7" name="Rectangle 6"/>
          <p:cNvSpPr/>
          <p:nvPr/>
        </p:nvSpPr>
        <p:spPr>
          <a:xfrm>
            <a:off x="10241280" y="2441448"/>
            <a:ext cx="1143000" cy="3246120"/>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0F766E"/>
                </a:solidFill>
                <a:latin typeface="Segoe UI"/>
              </a:rPr>
              <a:t>EVALUATION</a:t>
            </a:r>
          </a:p>
          <a:p>
            <a:pPr algn="ctr"/>
            <a:r>
              <a:rPr sz="1050" b="0">
                <a:solidFill>
                  <a:srgbClr val="0F766E"/>
                </a:solidFill>
                <a:latin typeface="Segoe UI"/>
              </a:rPr>
              <a:t>&amp;</a:t>
            </a:r>
          </a:p>
          <a:p>
            <a:pPr algn="ctr"/>
            <a:r>
              <a:rPr sz="1050" b="0">
                <a:solidFill>
                  <a:srgbClr val="0F766E"/>
                </a:solidFill>
                <a:latin typeface="Segoe UI"/>
              </a:rPr>
              <a:t>OBSERVABILITY</a:t>
            </a:r>
          </a:p>
          <a:p>
            <a:pPr algn="ctr"/>
            <a:r>
              <a:rPr sz="1050" b="0">
                <a:solidFill>
                  <a:srgbClr val="0F766E"/>
                </a:solidFill>
                <a:latin typeface="Segoe UI"/>
              </a:rPr>
              <a:t/>
            </a:r>
          </a:p>
          <a:p>
            <a:pPr algn="ctr"/>
            <a:r>
              <a:rPr sz="1050" b="0">
                <a:solidFill>
                  <a:srgbClr val="0F766E"/>
                </a:solidFill>
                <a:latin typeface="Segoe UI"/>
              </a:rPr>
              <a:t>eval harness</a:t>
            </a:r>
          </a:p>
          <a:p>
            <a:pPr algn="ctr"/>
            <a:r>
              <a:rPr sz="1050" b="0">
                <a:solidFill>
                  <a:srgbClr val="0F766E"/>
                </a:solidFill>
                <a:latin typeface="Segoe UI"/>
              </a:rPr>
              <a:t>golden set</a:t>
            </a:r>
          </a:p>
          <a:p>
            <a:pPr algn="ctr"/>
            <a:r>
              <a:rPr sz="1050" b="0">
                <a:solidFill>
                  <a:srgbClr val="0F766E"/>
                </a:solidFill>
                <a:latin typeface="Segoe UI"/>
              </a:rPr>
              <a:t>faithfulness</a:t>
            </a:r>
          </a:p>
          <a:p>
            <a:pPr algn="ctr"/>
            <a:r>
              <a:rPr sz="1050" b="0">
                <a:solidFill>
                  <a:srgbClr val="0F766E"/>
                </a:solidFill>
                <a:latin typeface="Segoe UI"/>
              </a:rPr>
              <a:t>App Insights</a:t>
            </a:r>
          </a:p>
        </p:txBody>
      </p:sp>
      <p:sp>
        <p:nvSpPr>
          <p:cNvPr id="8" name="Rectangle 7"/>
          <p:cNvSpPr/>
          <p:nvPr/>
        </p:nvSpPr>
        <p:spPr>
          <a:xfrm>
            <a:off x="2011680" y="2441448"/>
            <a:ext cx="8138160" cy="420624"/>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0F766E"/>
                </a:solidFill>
                <a:latin typeface="Segoe UI"/>
              </a:rPr>
              <a:t>Angular 18 SPA  +  Review &amp; Attest</a:t>
            </a:r>
          </a:p>
          <a:p>
            <a:pPr algn="ctr"/>
            <a:r>
              <a:rPr sz="1200" b="0">
                <a:solidFill>
                  <a:srgbClr val="0F766E"/>
                </a:solidFill>
                <a:latin typeface="Segoe UI"/>
              </a:rPr>
              <a:t>capture · three-state review · attestation before save</a:t>
            </a:r>
          </a:p>
        </p:txBody>
      </p:sp>
      <p:sp>
        <p:nvSpPr>
          <p:cNvPr id="9" name="Rectangle 8"/>
          <p:cNvSpPr/>
          <p:nvPr/>
        </p:nvSpPr>
        <p:spPr>
          <a:xfrm>
            <a:off x="2011680" y="2926080"/>
            <a:ext cx="813816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0233A"/>
                </a:solidFill>
                <a:latin typeface="Segoe UI"/>
              </a:rPr>
              <a:t>PacEHR.API  +  contract adapter</a:t>
            </a:r>
          </a:p>
          <a:p>
            <a:pPr algn="ctr"/>
            <a:r>
              <a:rPr sz="1200" b="0">
                <a:solidFill>
                  <a:srgbClr val="10233A"/>
                </a:solidFill>
                <a:latin typeface="Segoe UI"/>
              </a:rPr>
              <a:t>Entra identity · AI entitlement claim · existing routes preserved</a:t>
            </a:r>
          </a:p>
        </p:txBody>
      </p:sp>
      <p:sp>
        <p:nvSpPr>
          <p:cNvPr id="10" name="Rectangle 9"/>
          <p:cNvSpPr/>
          <p:nvPr/>
        </p:nvSpPr>
        <p:spPr>
          <a:xfrm>
            <a:off x="2011680" y="3392424"/>
            <a:ext cx="8138160" cy="658368"/>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0F766E"/>
                </a:solidFill>
                <a:latin typeface="Segoe UI"/>
              </a:rPr>
              <a:t>PacEHR.AI pipeline</a:t>
            </a:r>
          </a:p>
          <a:p>
            <a:pPr algn="ctr"/>
            <a:r>
              <a:rPr sz="1350" b="0">
                <a:solidFill>
                  <a:srgbClr val="0F766E"/>
                </a:solidFill>
                <a:latin typeface="Segoe UI"/>
              </a:rPr>
              <a:t>ledger → sections (parallel) → codes (parallel) → verify</a:t>
            </a:r>
          </a:p>
        </p:txBody>
      </p:sp>
      <p:sp>
        <p:nvSpPr>
          <p:cNvPr id="11" name="Rectangle 10"/>
          <p:cNvSpPr/>
          <p:nvPr/>
        </p:nvSpPr>
        <p:spPr>
          <a:xfrm>
            <a:off x="2011680" y="4114800"/>
            <a:ext cx="4005072" cy="566928"/>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0F766E"/>
                </a:solidFill>
                <a:latin typeface="Segoe UI"/>
              </a:rPr>
              <a:t>Context Assembly + Config Compiler</a:t>
            </a:r>
          </a:p>
          <a:p>
            <a:pPr algn="ctr"/>
            <a:r>
              <a:rPr sz="1250" b="0">
                <a:solidFill>
                  <a:srgbClr val="0F766E"/>
                </a:solidFill>
                <a:latin typeface="Segoe UI"/>
              </a:rPr>
              <a:t>meds · vitals · problems  |  schemas · checklists · enums</a:t>
            </a:r>
          </a:p>
        </p:txBody>
      </p:sp>
      <p:sp>
        <p:nvSpPr>
          <p:cNvPr id="12" name="Rectangle 11"/>
          <p:cNvSpPr/>
          <p:nvPr/>
        </p:nvSpPr>
        <p:spPr>
          <a:xfrm>
            <a:off x="6144768" y="4114800"/>
            <a:ext cx="4005072" cy="566928"/>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0F766E"/>
                </a:solidFill>
                <a:latin typeface="Segoe UI"/>
              </a:rPr>
              <a:t>AI.prompt registry + Instruction Resolver</a:t>
            </a:r>
          </a:p>
          <a:p>
            <a:pPr algn="ctr"/>
            <a:r>
              <a:rPr sz="1250" b="0">
                <a:solidFill>
                  <a:srgbClr val="0F766E"/>
                </a:solidFill>
                <a:latin typeface="Segoe UI"/>
              </a:rPr>
              <a:t>typed directives · layered merge · conflict linter · hashed</a:t>
            </a:r>
          </a:p>
        </p:txBody>
      </p:sp>
      <p:sp>
        <p:nvSpPr>
          <p:cNvPr id="13" name="Rectangle 12"/>
          <p:cNvSpPr/>
          <p:nvPr/>
        </p:nvSpPr>
        <p:spPr>
          <a:xfrm>
            <a:off x="2011680" y="4745736"/>
            <a:ext cx="8138160" cy="402336"/>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0F766E"/>
                </a:solidFill>
                <a:latin typeface="Segoe UI"/>
              </a:rPr>
              <a:t>IChatClient  +  middleware</a:t>
            </a:r>
          </a:p>
          <a:p>
            <a:pPr algn="ctr"/>
            <a:r>
              <a:rPr sz="1200" b="0">
                <a:solidFill>
                  <a:srgbClr val="0F766E"/>
                </a:solidFill>
                <a:latin typeface="Segoe UI"/>
              </a:rPr>
              <a:t>retry · prompt cache · telemetry · per-task model routing</a:t>
            </a:r>
          </a:p>
        </p:txBody>
      </p:sp>
      <p:sp>
        <p:nvSpPr>
          <p:cNvPr id="14" name="Rectangle 13"/>
          <p:cNvSpPr/>
          <p:nvPr/>
        </p:nvSpPr>
        <p:spPr>
          <a:xfrm>
            <a:off x="2011680" y="5212080"/>
            <a:ext cx="8138160" cy="475488"/>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Azure OpenAI</a:t>
            </a:r>
          </a:p>
          <a:p>
            <a:pPr algn="ctr"/>
            <a:r>
              <a:rPr sz="1250" b="0">
                <a:solidFill>
                  <a:srgbClr val="10233A"/>
                </a:solidFill>
                <a:latin typeface="Segoe UI"/>
              </a:rPr>
              <a:t>structured outputs · managed identity · BAA + zero data retention</a:t>
            </a:r>
          </a:p>
        </p:txBody>
      </p:sp>
      <p:sp>
        <p:nvSpPr>
          <p:cNvPr id="15" name="Rectangle 14"/>
          <p:cNvSpPr/>
          <p:nvPr/>
        </p:nvSpPr>
        <p:spPr>
          <a:xfrm>
            <a:off x="777240" y="5751576"/>
            <a:ext cx="10607040" cy="40233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64748B"/>
                </a:solidFill>
                <a:latin typeface="Segoe UI"/>
              </a:rPr>
              <a:t>Azure SQL  +  existing internal APIs   ·   templates · prompts · normals · validations   ·   no new integrations</a:t>
            </a:r>
          </a:p>
        </p:txBody>
      </p:sp>
      <p:sp>
        <p:nvSpPr>
          <p:cNvPr id="16" name="TextBox 15"/>
          <p:cNvSpPr txBox="1"/>
          <p:nvPr/>
        </p:nvSpPr>
        <p:spPr>
          <a:xfrm>
            <a:off x="777240" y="6254496"/>
            <a:ext cx="10607040" cy="310896"/>
          </a:xfrm>
          <a:prstGeom prst="rect">
            <a:avLst/>
          </a:prstGeom>
          <a:noFill/>
        </p:spPr>
        <p:txBody>
          <a:bodyPr wrap="square" anchor="t" lIns="0" rIns="0" tIns="0" bIns="0">
            <a:spAutoFit/>
          </a:bodyPr>
          <a:lstStyle/>
          <a:p>
            <a:pPr algn="ctr">
              <a:lnSpc>
                <a:spcPct val="100000"/>
              </a:lnSpc>
            </a:pPr>
            <a:r>
              <a:rPr sz="1400" b="1" i="0">
                <a:solidFill>
                  <a:srgbClr val="0F766E"/>
                </a:solidFill>
                <a:latin typeface="Segoe UI"/>
              </a:rPr>
              <a:t>Six blocks are new. The gateway, the model service and the data tier are already in place.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Standard capability vs. what we have</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The gap analysis behind the plan — read the middle column.</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19</a:t>
            </a:r>
          </a:p>
        </p:txBody>
      </p:sp>
      <p:sp>
        <p:nvSpPr>
          <p:cNvPr id="6" name="Rectangle 5"/>
          <p:cNvSpPr/>
          <p:nvPr/>
        </p:nvSpPr>
        <p:spPr>
          <a:xfrm>
            <a:off x="777240" y="2542032"/>
            <a:ext cx="301752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a:solidFill>
                  <a:srgbClr val="FFFFFF"/>
                </a:solidFill>
                <a:latin typeface="Segoe UI"/>
              </a:rPr>
              <a:t>Standard capability</a:t>
            </a:r>
          </a:p>
        </p:txBody>
      </p:sp>
      <p:sp>
        <p:nvSpPr>
          <p:cNvPr id="7" name="Rectangle 6"/>
          <p:cNvSpPr/>
          <p:nvPr/>
        </p:nvSpPr>
        <p:spPr>
          <a:xfrm>
            <a:off x="3794759" y="2542032"/>
            <a:ext cx="338328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a:solidFill>
                  <a:srgbClr val="FFFFFF"/>
                </a:solidFill>
                <a:latin typeface="Segoe UI"/>
              </a:rPr>
              <a:t>Today</a:t>
            </a:r>
          </a:p>
        </p:txBody>
      </p:sp>
      <p:sp>
        <p:nvSpPr>
          <p:cNvPr id="8" name="Rectangle 7"/>
          <p:cNvSpPr/>
          <p:nvPr/>
        </p:nvSpPr>
        <p:spPr>
          <a:xfrm>
            <a:off x="7178040" y="2542032"/>
            <a:ext cx="420624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a:solidFill>
                  <a:srgbClr val="FFFFFF"/>
                </a:solidFill>
                <a:latin typeface="Segoe UI"/>
              </a:rPr>
              <a:t>Phase 1</a:t>
            </a:r>
          </a:p>
        </p:txBody>
      </p:sp>
      <p:sp>
        <p:nvSpPr>
          <p:cNvPr id="9" name="Rectangle 8"/>
          <p:cNvSpPr/>
          <p:nvPr/>
        </p:nvSpPr>
        <p:spPr>
          <a:xfrm>
            <a:off x="777240" y="2852928"/>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Experience + human loop</a:t>
            </a:r>
          </a:p>
        </p:txBody>
      </p:sp>
      <p:sp>
        <p:nvSpPr>
          <p:cNvPr id="10" name="Rectangle 9"/>
          <p:cNvSpPr/>
          <p:nvPr/>
        </p:nvSpPr>
        <p:spPr>
          <a:xfrm>
            <a:off x="3794759" y="2852928"/>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none — auto-saves</a:t>
            </a:r>
          </a:p>
        </p:txBody>
      </p:sp>
      <p:sp>
        <p:nvSpPr>
          <p:cNvPr id="11" name="Rectangle 10"/>
          <p:cNvSpPr/>
          <p:nvPr/>
        </p:nvSpPr>
        <p:spPr>
          <a:xfrm>
            <a:off x="7178040" y="2852928"/>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Review &amp; attest, three-state gate</a:t>
            </a:r>
          </a:p>
        </p:txBody>
      </p:sp>
      <p:sp>
        <p:nvSpPr>
          <p:cNvPr id="12" name="Rectangle 11"/>
          <p:cNvSpPr/>
          <p:nvPr/>
        </p:nvSpPr>
        <p:spPr>
          <a:xfrm>
            <a:off x="777240" y="3163824"/>
            <a:ext cx="301752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API gateway</a:t>
            </a:r>
          </a:p>
        </p:txBody>
      </p:sp>
      <p:sp>
        <p:nvSpPr>
          <p:cNvPr id="13" name="Rectangle 12"/>
          <p:cNvSpPr/>
          <p:nvPr/>
        </p:nvSpPr>
        <p:spPr>
          <a:xfrm>
            <a:off x="3794759" y="3163824"/>
            <a:ext cx="338328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15803D"/>
                </a:solidFill>
                <a:latin typeface="Segoe UI"/>
              </a:rPr>
              <a:t>exists</a:t>
            </a:r>
          </a:p>
        </p:txBody>
      </p:sp>
      <p:sp>
        <p:nvSpPr>
          <p:cNvPr id="14" name="Rectangle 13"/>
          <p:cNvSpPr/>
          <p:nvPr/>
        </p:nvSpPr>
        <p:spPr>
          <a:xfrm>
            <a:off x="7178040" y="3163824"/>
            <a:ext cx="420624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 entitlement claim, field-level endpoints</a:t>
            </a:r>
          </a:p>
        </p:txBody>
      </p:sp>
      <p:sp>
        <p:nvSpPr>
          <p:cNvPr id="15" name="Rectangle 14"/>
          <p:cNvSpPr/>
          <p:nvPr/>
        </p:nvSpPr>
        <p:spPr>
          <a:xfrm>
            <a:off x="777240" y="3474720"/>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Orchestration</a:t>
            </a:r>
          </a:p>
        </p:txBody>
      </p:sp>
      <p:sp>
        <p:nvSpPr>
          <p:cNvPr id="16" name="Rectangle 15"/>
          <p:cNvSpPr/>
          <p:nvPr/>
        </p:nvSpPr>
        <p:spPr>
          <a:xfrm>
            <a:off x="3794759" y="3474720"/>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none — one call</a:t>
            </a:r>
          </a:p>
        </p:txBody>
      </p:sp>
      <p:sp>
        <p:nvSpPr>
          <p:cNvPr id="17" name="Rectangle 16"/>
          <p:cNvSpPr/>
          <p:nvPr/>
        </p:nvSpPr>
        <p:spPr>
          <a:xfrm>
            <a:off x="7178040" y="3474720"/>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Five-stage pipeline, parallel fan-out</a:t>
            </a:r>
          </a:p>
        </p:txBody>
      </p:sp>
      <p:sp>
        <p:nvSpPr>
          <p:cNvPr id="18" name="Rectangle 17"/>
          <p:cNvSpPr/>
          <p:nvPr/>
        </p:nvSpPr>
        <p:spPr>
          <a:xfrm>
            <a:off x="777240" y="3785615"/>
            <a:ext cx="301752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Grounding &amp; context</a:t>
            </a:r>
          </a:p>
        </p:txBody>
      </p:sp>
      <p:sp>
        <p:nvSpPr>
          <p:cNvPr id="19" name="Rectangle 18"/>
          <p:cNvSpPr/>
          <p:nvPr/>
        </p:nvSpPr>
        <p:spPr>
          <a:xfrm>
            <a:off x="3794759" y="3785615"/>
            <a:ext cx="338328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none</a:t>
            </a:r>
          </a:p>
        </p:txBody>
      </p:sp>
      <p:sp>
        <p:nvSpPr>
          <p:cNvPr id="20" name="Rectangle 19"/>
          <p:cNvSpPr/>
          <p:nvPr/>
        </p:nvSpPr>
        <p:spPr>
          <a:xfrm>
            <a:off x="7178040" y="3785615"/>
            <a:ext cx="420624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Chart assembly + compiled template config</a:t>
            </a:r>
          </a:p>
        </p:txBody>
      </p:sp>
      <p:sp>
        <p:nvSpPr>
          <p:cNvPr id="21" name="Rectangle 20"/>
          <p:cNvSpPr/>
          <p:nvPr/>
        </p:nvSpPr>
        <p:spPr>
          <a:xfrm>
            <a:off x="777240" y="4096511"/>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Prompt &amp; policy</a:t>
            </a:r>
          </a:p>
        </p:txBody>
      </p:sp>
      <p:sp>
        <p:nvSpPr>
          <p:cNvPr id="22" name="Rectangle 21"/>
          <p:cNvSpPr/>
          <p:nvPr/>
        </p:nvSpPr>
        <p:spPr>
          <a:xfrm>
            <a:off x="3794759" y="4096511"/>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45309"/>
                </a:solidFill>
                <a:latin typeface="Segoe UI"/>
              </a:rPr>
              <a:t>partial — selection only</a:t>
            </a:r>
          </a:p>
        </p:txBody>
      </p:sp>
      <p:sp>
        <p:nvSpPr>
          <p:cNvPr id="23" name="Rectangle 22"/>
          <p:cNvSpPr/>
          <p:nvPr/>
        </p:nvSpPr>
        <p:spPr>
          <a:xfrm>
            <a:off x="7178040" y="4096511"/>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Registry, typed directives, linter, versioning</a:t>
            </a:r>
          </a:p>
        </p:txBody>
      </p:sp>
      <p:sp>
        <p:nvSpPr>
          <p:cNvPr id="24" name="Rectangle 23"/>
          <p:cNvSpPr/>
          <p:nvPr/>
        </p:nvSpPr>
        <p:spPr>
          <a:xfrm>
            <a:off x="777240" y="4407407"/>
            <a:ext cx="301752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Model gateway</a:t>
            </a:r>
          </a:p>
        </p:txBody>
      </p:sp>
      <p:sp>
        <p:nvSpPr>
          <p:cNvPr id="25" name="Rectangle 24"/>
          <p:cNvSpPr/>
          <p:nvPr/>
        </p:nvSpPr>
        <p:spPr>
          <a:xfrm>
            <a:off x="3794759" y="4407407"/>
            <a:ext cx="338328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none — 4 copies</a:t>
            </a:r>
          </a:p>
        </p:txBody>
      </p:sp>
      <p:sp>
        <p:nvSpPr>
          <p:cNvPr id="26" name="Rectangle 25"/>
          <p:cNvSpPr/>
          <p:nvPr/>
        </p:nvSpPr>
        <p:spPr>
          <a:xfrm>
            <a:off x="7178040" y="4407407"/>
            <a:ext cx="420624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IChatClient + middleware, per-task routing</a:t>
            </a:r>
          </a:p>
        </p:txBody>
      </p:sp>
      <p:sp>
        <p:nvSpPr>
          <p:cNvPr id="27" name="Rectangle 26"/>
          <p:cNvSpPr/>
          <p:nvPr/>
        </p:nvSpPr>
        <p:spPr>
          <a:xfrm>
            <a:off x="777240" y="4718303"/>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Model serving</a:t>
            </a:r>
          </a:p>
        </p:txBody>
      </p:sp>
      <p:sp>
        <p:nvSpPr>
          <p:cNvPr id="28" name="Rectangle 27"/>
          <p:cNvSpPr/>
          <p:nvPr/>
        </p:nvSpPr>
        <p:spPr>
          <a:xfrm>
            <a:off x="3794759" y="4718303"/>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45309"/>
                </a:solidFill>
                <a:latin typeface="Segoe UI"/>
              </a:rPr>
              <a:t>posture unverified</a:t>
            </a:r>
          </a:p>
        </p:txBody>
      </p:sp>
      <p:sp>
        <p:nvSpPr>
          <p:cNvPr id="29" name="Rectangle 28"/>
          <p:cNvSpPr/>
          <p:nvPr/>
        </p:nvSpPr>
        <p:spPr>
          <a:xfrm>
            <a:off x="7178040" y="4718303"/>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Azure OpenAI, managed identity, BAA + ZDR</a:t>
            </a:r>
          </a:p>
        </p:txBody>
      </p:sp>
      <p:sp>
        <p:nvSpPr>
          <p:cNvPr id="30" name="Rectangle 29"/>
          <p:cNvSpPr/>
          <p:nvPr/>
        </p:nvSpPr>
        <p:spPr>
          <a:xfrm>
            <a:off x="777240" y="5029199"/>
            <a:ext cx="301752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Guardrails</a:t>
            </a:r>
          </a:p>
        </p:txBody>
      </p:sp>
      <p:sp>
        <p:nvSpPr>
          <p:cNvPr id="31" name="Rectangle 30"/>
          <p:cNvSpPr/>
          <p:nvPr/>
        </p:nvSpPr>
        <p:spPr>
          <a:xfrm>
            <a:off x="3794759" y="5029199"/>
            <a:ext cx="338328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client-side, one disabled</a:t>
            </a:r>
          </a:p>
        </p:txBody>
      </p:sp>
      <p:sp>
        <p:nvSpPr>
          <p:cNvPr id="32" name="Rectangle 31"/>
          <p:cNvSpPr/>
          <p:nvPr/>
        </p:nvSpPr>
        <p:spPr>
          <a:xfrm>
            <a:off x="7178040" y="5029199"/>
            <a:ext cx="420624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Server-side schema, evidence spans, rules</a:t>
            </a:r>
          </a:p>
        </p:txBody>
      </p:sp>
      <p:sp>
        <p:nvSpPr>
          <p:cNvPr id="33" name="Rectangle 32"/>
          <p:cNvSpPr/>
          <p:nvPr/>
        </p:nvSpPr>
        <p:spPr>
          <a:xfrm>
            <a:off x="777240" y="5340095"/>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Evaluation</a:t>
            </a:r>
          </a:p>
        </p:txBody>
      </p:sp>
      <p:sp>
        <p:nvSpPr>
          <p:cNvPr id="34" name="Rectangle 33"/>
          <p:cNvSpPr/>
          <p:nvPr/>
        </p:nvSpPr>
        <p:spPr>
          <a:xfrm>
            <a:off x="3794759" y="5340095"/>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none</a:t>
            </a:r>
          </a:p>
        </p:txBody>
      </p:sp>
      <p:sp>
        <p:nvSpPr>
          <p:cNvPr id="35" name="Rectangle 34"/>
          <p:cNvSpPr/>
          <p:nvPr/>
        </p:nvSpPr>
        <p:spPr>
          <a:xfrm>
            <a:off x="7178040" y="5340095"/>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Offline harness, golden set, faithfulness metrics</a:t>
            </a:r>
          </a:p>
        </p:txBody>
      </p:sp>
      <p:sp>
        <p:nvSpPr>
          <p:cNvPr id="36" name="Rectangle 35"/>
          <p:cNvSpPr/>
          <p:nvPr/>
        </p:nvSpPr>
        <p:spPr>
          <a:xfrm>
            <a:off x="777240" y="5650991"/>
            <a:ext cx="301752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Observability</a:t>
            </a:r>
          </a:p>
        </p:txBody>
      </p:sp>
      <p:sp>
        <p:nvSpPr>
          <p:cNvPr id="37" name="Rectangle 36"/>
          <p:cNvSpPr/>
          <p:nvPr/>
        </p:nvSpPr>
        <p:spPr>
          <a:xfrm>
            <a:off x="3794759" y="5650991"/>
            <a:ext cx="338328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45309"/>
                </a:solidFill>
                <a:latin typeface="Segoe UI"/>
              </a:rPr>
              <a:t>partial — logs != wire</a:t>
            </a:r>
          </a:p>
        </p:txBody>
      </p:sp>
      <p:sp>
        <p:nvSpPr>
          <p:cNvPr id="38" name="Rectangle 37"/>
          <p:cNvSpPr/>
          <p:nvPr/>
        </p:nvSpPr>
        <p:spPr>
          <a:xfrm>
            <a:off x="7178040" y="5650991"/>
            <a:ext cx="4206240" cy="310896"/>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Prompt hash, provenance, server-side tokens</a:t>
            </a:r>
          </a:p>
        </p:txBody>
      </p:sp>
      <p:sp>
        <p:nvSpPr>
          <p:cNvPr id="39" name="Rectangle 38"/>
          <p:cNvSpPr/>
          <p:nvPr/>
        </p:nvSpPr>
        <p:spPr>
          <a:xfrm>
            <a:off x="777240" y="5961887"/>
            <a:ext cx="301752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Data governance</a:t>
            </a:r>
          </a:p>
        </p:txBody>
      </p:sp>
      <p:sp>
        <p:nvSpPr>
          <p:cNvPr id="40" name="Rectangle 39"/>
          <p:cNvSpPr/>
          <p:nvPr/>
        </p:nvSpPr>
        <p:spPr>
          <a:xfrm>
            <a:off x="3794759" y="5961887"/>
            <a:ext cx="338328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B91C1C"/>
                </a:solidFill>
                <a:latin typeface="Segoe UI"/>
              </a:rPr>
              <a:t>PHI unmasked in logs</a:t>
            </a:r>
          </a:p>
        </p:txBody>
      </p:sp>
      <p:sp>
        <p:nvSpPr>
          <p:cNvPr id="41" name="Rectangle 40"/>
          <p:cNvSpPr/>
          <p:nvPr/>
        </p:nvSpPr>
        <p:spPr>
          <a:xfrm>
            <a:off x="7178040" y="5961887"/>
            <a:ext cx="4206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0">
                <a:solidFill>
                  <a:srgbClr val="33445B"/>
                </a:solidFill>
                <a:latin typeface="Segoe UI"/>
              </a:rPr>
              <a:t>Restricted audit store, explicit retention</a:t>
            </a:r>
          </a:p>
        </p:txBody>
      </p:sp>
      <p:sp>
        <p:nvSpPr>
          <p:cNvPr id="42" name="TextBox 41"/>
          <p:cNvSpPr txBox="1"/>
          <p:nvPr/>
        </p:nvSpPr>
        <p:spPr>
          <a:xfrm>
            <a:off x="777240" y="6309360"/>
            <a:ext cx="10607040" cy="310896"/>
          </a:xfrm>
          <a:prstGeom prst="rect">
            <a:avLst/>
          </a:prstGeom>
          <a:noFill/>
        </p:spPr>
        <p:txBody>
          <a:bodyPr wrap="square" anchor="t" lIns="0" rIns="0" tIns="0" bIns="0">
            <a:spAutoFit/>
          </a:bodyPr>
          <a:lstStyle/>
          <a:p>
            <a:pPr algn="ctr">
              <a:lnSpc>
                <a:spcPct val="100000"/>
              </a:lnSpc>
            </a:pPr>
            <a:r>
              <a:rPr sz="1450" b="1" i="0">
                <a:solidFill>
                  <a:srgbClr val="10233A"/>
                </a:solidFill>
                <a:latin typeface="Segoe UI"/>
              </a:rPr>
              <a:t>Six of eleven capabilities do not exist today in any form. That is the accuracy story.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Runtime view — what calls a model, and what does not</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20</a:t>
            </a:r>
          </a:p>
        </p:txBody>
      </p:sp>
      <p:sp>
        <p:nvSpPr>
          <p:cNvPr id="5" name="TextBox 4"/>
          <p:cNvSpPr txBox="1"/>
          <p:nvPr/>
        </p:nvSpPr>
        <p:spPr>
          <a:xfrm>
            <a:off x="777240" y="2231136"/>
            <a:ext cx="5029200" cy="256032"/>
          </a:xfrm>
          <a:prstGeom prst="rect">
            <a:avLst/>
          </a:prstGeom>
          <a:noFill/>
        </p:spPr>
        <p:txBody>
          <a:bodyPr wrap="square" anchor="t" lIns="0" rIns="0" tIns="0" bIns="0">
            <a:spAutoFit/>
          </a:bodyPr>
          <a:lstStyle/>
          <a:p>
            <a:pPr algn="l">
              <a:lnSpc>
                <a:spcPct val="100000"/>
              </a:lnSpc>
            </a:pPr>
            <a:r>
              <a:rPr sz="1150" b="1" i="0">
                <a:solidFill>
                  <a:srgbClr val="15803D"/>
                </a:solidFill>
                <a:latin typeface="Segoe UI"/>
              </a:rPr>
              <a:t>DETERMINISTIC  ·  no model call</a:t>
            </a:r>
          </a:p>
        </p:txBody>
      </p:sp>
      <p:sp>
        <p:nvSpPr>
          <p:cNvPr id="6" name="TextBox 5"/>
          <p:cNvSpPr txBox="1"/>
          <p:nvPr/>
        </p:nvSpPr>
        <p:spPr>
          <a:xfrm>
            <a:off x="6355080" y="2231136"/>
            <a:ext cx="5029200" cy="256032"/>
          </a:xfrm>
          <a:prstGeom prst="rect">
            <a:avLst/>
          </a:prstGeom>
          <a:noFill/>
        </p:spPr>
        <p:txBody>
          <a:bodyPr wrap="square" anchor="t" lIns="0" rIns="0" tIns="0" bIns="0">
            <a:spAutoFit/>
          </a:bodyPr>
          <a:lstStyle/>
          <a:p>
            <a:pPr algn="l">
              <a:lnSpc>
                <a:spcPct val="100000"/>
              </a:lnSpc>
            </a:pPr>
            <a:r>
              <a:rPr sz="1150" b="1" i="0">
                <a:solidFill>
                  <a:srgbClr val="10233A"/>
                </a:solidFill>
                <a:latin typeface="Segoe UI"/>
              </a:rPr>
              <a:t>MODEL-BACKED  ·  schema-constrained</a:t>
            </a:r>
          </a:p>
        </p:txBody>
      </p:sp>
      <p:sp>
        <p:nvSpPr>
          <p:cNvPr id="7" name="Rectangle 6"/>
          <p:cNvSpPr/>
          <p:nvPr/>
        </p:nvSpPr>
        <p:spPr>
          <a:xfrm>
            <a:off x="777240" y="2560320"/>
            <a:ext cx="4983480" cy="62179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5803D"/>
                </a:solidFill>
                <a:latin typeface="Segoe UI"/>
              </a:rPr>
              <a:t>Template Config Compiler</a:t>
            </a:r>
          </a:p>
          <a:p>
            <a:pPr algn="ctr"/>
            <a:r>
              <a:rPr sz="1250" b="0">
                <a:solidFill>
                  <a:srgbClr val="15803D"/>
                </a:solidFill>
                <a:latin typeface="Segoe UI"/>
              </a:rPr>
              <a:t>schemas · checklists · enums</a:t>
            </a:r>
          </a:p>
        </p:txBody>
      </p:sp>
      <p:sp>
        <p:nvSpPr>
          <p:cNvPr id="8" name="Rectangle 7"/>
          <p:cNvSpPr/>
          <p:nvPr/>
        </p:nvSpPr>
        <p:spPr>
          <a:xfrm>
            <a:off x="777240" y="3273552"/>
            <a:ext cx="4983480" cy="62179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5803D"/>
                </a:solidFill>
                <a:latin typeface="Segoe UI"/>
              </a:rPr>
              <a:t>Context Assembly</a:t>
            </a:r>
          </a:p>
          <a:p>
            <a:pPr algn="ctr"/>
            <a:r>
              <a:rPr sz="1250" b="0">
                <a:solidFill>
                  <a:srgbClr val="15803D"/>
                </a:solidFill>
                <a:latin typeface="Segoe UI"/>
              </a:rPr>
              <a:t>meds · vitals · problems · history</a:t>
            </a:r>
          </a:p>
        </p:txBody>
      </p:sp>
      <p:sp>
        <p:nvSpPr>
          <p:cNvPr id="9" name="Rectangle 8"/>
          <p:cNvSpPr/>
          <p:nvPr/>
        </p:nvSpPr>
        <p:spPr>
          <a:xfrm>
            <a:off x="777240" y="3986783"/>
            <a:ext cx="4983480" cy="62179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5803D"/>
                </a:solidFill>
                <a:latin typeface="Segoe UI"/>
              </a:rPr>
              <a:t>Rules Engine</a:t>
            </a:r>
          </a:p>
          <a:p>
            <a:pPr algn="ctr"/>
            <a:r>
              <a:rPr sz="1250" b="0">
                <a:solidFill>
                  <a:srgbClr val="15803D"/>
                </a:solidFill>
                <a:latin typeface="Segoe UI"/>
              </a:rPr>
              <a:t>ICD + CPT candidates · normals macros</a:t>
            </a:r>
          </a:p>
        </p:txBody>
      </p:sp>
      <p:sp>
        <p:nvSpPr>
          <p:cNvPr id="10" name="Rectangle 9"/>
          <p:cNvSpPr/>
          <p:nvPr/>
        </p:nvSpPr>
        <p:spPr>
          <a:xfrm>
            <a:off x="777240" y="4700016"/>
            <a:ext cx="4983480" cy="62179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5803D"/>
                </a:solidFill>
                <a:latin typeface="Segoe UI"/>
              </a:rPr>
              <a:t>Verification</a:t>
            </a:r>
          </a:p>
          <a:p>
            <a:pPr algn="ctr"/>
            <a:r>
              <a:rPr sz="1250" b="0">
                <a:solidFill>
                  <a:srgbClr val="15803D"/>
                </a:solidFill>
                <a:latin typeface="Segoe UI"/>
              </a:rPr>
              <a:t>span checks · rule checks · consistency</a:t>
            </a:r>
          </a:p>
        </p:txBody>
      </p:sp>
      <p:sp>
        <p:nvSpPr>
          <p:cNvPr id="11" name="Rectangle 10"/>
          <p:cNvSpPr/>
          <p:nvPr/>
        </p:nvSpPr>
        <p:spPr>
          <a:xfrm>
            <a:off x="777240" y="5413248"/>
            <a:ext cx="4983480" cy="62179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5803D"/>
                </a:solidFill>
                <a:latin typeface="Segoe UI"/>
              </a:rPr>
              <a:t>Audit &amp; Telemetry</a:t>
            </a:r>
          </a:p>
          <a:p>
            <a:pPr algn="ctr"/>
            <a:r>
              <a:rPr sz="1250" b="0">
                <a:solidFill>
                  <a:srgbClr val="15803D"/>
                </a:solidFill>
                <a:latin typeface="Segoe UI"/>
              </a:rPr>
              <a:t>prompt hash · provenance · tokens</a:t>
            </a:r>
          </a:p>
        </p:txBody>
      </p:sp>
      <p:sp>
        <p:nvSpPr>
          <p:cNvPr id="12" name="Rectangle 11"/>
          <p:cNvSpPr/>
          <p:nvPr/>
        </p:nvSpPr>
        <p:spPr>
          <a:xfrm>
            <a:off x="6355080" y="2560320"/>
            <a:ext cx="5029200" cy="6217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Ledger Extractor</a:t>
            </a:r>
          </a:p>
          <a:p>
            <a:pPr algn="ctr"/>
            <a:r>
              <a:rPr sz="1250" b="0">
                <a:solidFill>
                  <a:srgbClr val="10233A"/>
                </a:solidFill>
                <a:latin typeface="Segoe UI"/>
              </a:rPr>
              <a:t>note -&gt; atomic facts with spans</a:t>
            </a:r>
          </a:p>
        </p:txBody>
      </p:sp>
      <p:sp>
        <p:nvSpPr>
          <p:cNvPr id="13" name="Rectangle 12"/>
          <p:cNvSpPr/>
          <p:nvPr/>
        </p:nvSpPr>
        <p:spPr>
          <a:xfrm>
            <a:off x="6355080" y="3273552"/>
            <a:ext cx="5029200" cy="6217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Section Composer</a:t>
            </a:r>
          </a:p>
          <a:p>
            <a:pPr algn="ctr"/>
            <a:r>
              <a:rPr sz="1250" b="0">
                <a:solidFill>
                  <a:srgbClr val="10233A"/>
                </a:solidFill>
                <a:latin typeface="Segoe UI"/>
              </a:rPr>
              <a:t>one call per section, in parallel</a:t>
            </a:r>
          </a:p>
        </p:txBody>
      </p:sp>
      <p:sp>
        <p:nvSpPr>
          <p:cNvPr id="14" name="Rectangle 13"/>
          <p:cNvSpPr/>
          <p:nvPr/>
        </p:nvSpPr>
        <p:spPr>
          <a:xfrm>
            <a:off x="6355080" y="3986783"/>
            <a:ext cx="5029200" cy="6217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Code Selector</a:t>
            </a:r>
          </a:p>
          <a:p>
            <a:pPr algn="ctr"/>
            <a:r>
              <a:rPr sz="1250" b="0">
                <a:solidFill>
                  <a:srgbClr val="10233A"/>
                </a:solidFill>
                <a:latin typeface="Segoe UI"/>
              </a:rPr>
              <a:t>picks from the candidate enum, justifies</a:t>
            </a:r>
          </a:p>
        </p:txBody>
      </p:sp>
      <p:sp>
        <p:nvSpPr>
          <p:cNvPr id="15" name="Rectangle 14"/>
          <p:cNvSpPr/>
          <p:nvPr/>
        </p:nvSpPr>
        <p:spPr>
          <a:xfrm>
            <a:off x="6355080" y="4700016"/>
            <a:ext cx="5029200" cy="6217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0233A"/>
                </a:solidFill>
                <a:latin typeface="Segoe UI"/>
              </a:rPr>
              <a:t>Grounding Judge</a:t>
            </a:r>
          </a:p>
          <a:p>
            <a:pPr algn="ctr"/>
            <a:r>
              <a:rPr sz="1250" b="0">
                <a:solidFill>
                  <a:srgbClr val="10233A"/>
                </a:solidFill>
                <a:latin typeface="Segoe UI"/>
              </a:rPr>
              <a:t>flags unsupported statements</a:t>
            </a:r>
          </a:p>
        </p:txBody>
      </p:sp>
      <p:sp>
        <p:nvSpPr>
          <p:cNvPr id="16" name="Rectangle 15"/>
          <p:cNvSpPr/>
          <p:nvPr/>
        </p:nvSpPr>
        <p:spPr>
          <a:xfrm>
            <a:off x="6355080" y="5413248"/>
            <a:ext cx="5029200" cy="621792"/>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0F766E"/>
                </a:solidFill>
                <a:latin typeface="Segoe UI"/>
              </a:rPr>
              <a:t>Entitlement + Instruction Resolver</a:t>
            </a:r>
          </a:p>
          <a:p>
            <a:pPr algn="ctr"/>
            <a:r>
              <a:rPr sz="1250" b="0">
                <a:solidFill>
                  <a:srgbClr val="0F766E"/>
                </a:solidFill>
                <a:latin typeface="Segoe UI"/>
              </a:rPr>
              <a:t>gate every call · compose · version-pin</a:t>
            </a:r>
          </a:p>
        </p:txBody>
      </p:sp>
      <p:sp>
        <p:nvSpPr>
          <p:cNvPr id="17" name="TextBox 16"/>
          <p:cNvSpPr txBox="1"/>
          <p:nvPr/>
        </p:nvSpPr>
        <p:spPr>
          <a:xfrm>
            <a:off x="777240" y="6163056"/>
            <a:ext cx="10607040" cy="329184"/>
          </a:xfrm>
          <a:prstGeom prst="rect">
            <a:avLst/>
          </a:prstGeom>
          <a:noFill/>
        </p:spPr>
        <p:txBody>
          <a:bodyPr wrap="square" anchor="t" lIns="0" rIns="0" tIns="0" bIns="0">
            <a:spAutoFit/>
          </a:bodyPr>
          <a:lstStyle/>
          <a:p>
            <a:pPr algn="ctr">
              <a:lnSpc>
                <a:spcPct val="100000"/>
              </a:lnSpc>
            </a:pPr>
            <a:r>
              <a:rPr sz="1450" b="1" i="0">
                <a:solidFill>
                  <a:srgbClr val="10233A"/>
                </a:solidFill>
                <a:latin typeface="Segoe UI"/>
              </a:rPr>
              <a:t>Five of nine components never call a model — so five are testable with ordinary unit tests.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One encounter, end to end</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Steps 3 and 4 fan out in parallel — the sequence is longer, the wall-clock is not.</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21</a:t>
            </a:r>
          </a:p>
        </p:txBody>
      </p:sp>
      <p:sp>
        <p:nvSpPr>
          <p:cNvPr id="6" name="Rectangle 5"/>
          <p:cNvSpPr/>
          <p:nvPr/>
        </p:nvSpPr>
        <p:spPr>
          <a:xfrm>
            <a:off x="777240" y="2670048"/>
            <a:ext cx="1737360" cy="352044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7" name="TextBox 6"/>
          <p:cNvSpPr txBox="1"/>
          <p:nvPr/>
        </p:nvSpPr>
        <p:spPr>
          <a:xfrm>
            <a:off x="868680" y="2743200"/>
            <a:ext cx="1554480" cy="219456"/>
          </a:xfrm>
          <a:prstGeom prst="rect">
            <a:avLst/>
          </a:prstGeom>
          <a:noFill/>
        </p:spPr>
        <p:txBody>
          <a:bodyPr wrap="square" anchor="t" lIns="0" rIns="0" tIns="0" bIns="0">
            <a:spAutoFit/>
          </a:bodyPr>
          <a:lstStyle/>
          <a:p>
            <a:pPr algn="ctr">
              <a:lnSpc>
                <a:spcPct val="100000"/>
              </a:lnSpc>
            </a:pPr>
            <a:r>
              <a:rPr sz="950" b="1" i="0">
                <a:solidFill>
                  <a:srgbClr val="64748B"/>
                </a:solidFill>
                <a:latin typeface="Segoe UI"/>
              </a:rPr>
              <a:t>PROVIDER</a:t>
            </a:r>
          </a:p>
        </p:txBody>
      </p:sp>
      <p:sp>
        <p:nvSpPr>
          <p:cNvPr id="8" name="Rectangle 7"/>
          <p:cNvSpPr/>
          <p:nvPr/>
        </p:nvSpPr>
        <p:spPr>
          <a:xfrm>
            <a:off x="2697480" y="2670048"/>
            <a:ext cx="6263640" cy="3520440"/>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9" name="TextBox 8"/>
          <p:cNvSpPr txBox="1"/>
          <p:nvPr/>
        </p:nvSpPr>
        <p:spPr>
          <a:xfrm>
            <a:off x="2788920" y="2743200"/>
            <a:ext cx="6080759" cy="219456"/>
          </a:xfrm>
          <a:prstGeom prst="rect">
            <a:avLst/>
          </a:prstGeom>
          <a:noFill/>
        </p:spPr>
        <p:txBody>
          <a:bodyPr wrap="square" anchor="t" lIns="0" rIns="0" tIns="0" bIns="0">
            <a:spAutoFit/>
          </a:bodyPr>
          <a:lstStyle/>
          <a:p>
            <a:pPr algn="ctr">
              <a:lnSpc>
                <a:spcPct val="100000"/>
              </a:lnSpc>
            </a:pPr>
            <a:r>
              <a:rPr sz="950" b="1" i="0">
                <a:solidFill>
                  <a:srgbClr val="64748B"/>
                </a:solidFill>
                <a:latin typeface="Segoe UI"/>
              </a:rPr>
              <a:t>PacEHR.AI</a:t>
            </a:r>
          </a:p>
        </p:txBody>
      </p:sp>
      <p:sp>
        <p:nvSpPr>
          <p:cNvPr id="10" name="Rectangle 9"/>
          <p:cNvSpPr/>
          <p:nvPr/>
        </p:nvSpPr>
        <p:spPr>
          <a:xfrm>
            <a:off x="9144000" y="2670048"/>
            <a:ext cx="2240280" cy="3520440"/>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1" name="TextBox 10"/>
          <p:cNvSpPr txBox="1"/>
          <p:nvPr/>
        </p:nvSpPr>
        <p:spPr>
          <a:xfrm>
            <a:off x="9235440" y="2743200"/>
            <a:ext cx="2057400" cy="219456"/>
          </a:xfrm>
          <a:prstGeom prst="rect">
            <a:avLst/>
          </a:prstGeom>
          <a:noFill/>
        </p:spPr>
        <p:txBody>
          <a:bodyPr wrap="square" anchor="t" lIns="0" rIns="0" tIns="0" bIns="0">
            <a:spAutoFit/>
          </a:bodyPr>
          <a:lstStyle/>
          <a:p>
            <a:pPr algn="ctr">
              <a:lnSpc>
                <a:spcPct val="100000"/>
              </a:lnSpc>
            </a:pPr>
            <a:r>
              <a:rPr sz="950" b="1" i="0">
                <a:solidFill>
                  <a:srgbClr val="64748B"/>
                </a:solidFill>
                <a:latin typeface="Segoe UI"/>
              </a:rPr>
              <a:t>AZURE OPENAI</a:t>
            </a:r>
          </a:p>
        </p:txBody>
      </p:sp>
      <p:sp>
        <p:nvSpPr>
          <p:cNvPr id="12" name="Rectangle 11"/>
          <p:cNvSpPr/>
          <p:nvPr/>
        </p:nvSpPr>
        <p:spPr>
          <a:xfrm>
            <a:off x="868680" y="3054096"/>
            <a:ext cx="155448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0233A"/>
                </a:solidFill>
                <a:latin typeface="Segoe UI"/>
              </a:rPr>
              <a:t>1   dictate / type</a:t>
            </a:r>
          </a:p>
        </p:txBody>
      </p:sp>
      <p:sp>
        <p:nvSpPr>
          <p:cNvPr id="13" name="Rectangle 12"/>
          <p:cNvSpPr/>
          <p:nvPr/>
        </p:nvSpPr>
        <p:spPr>
          <a:xfrm>
            <a:off x="2788920" y="3511296"/>
            <a:ext cx="608076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0233A"/>
                </a:solidFill>
                <a:latin typeface="Segoe UI"/>
              </a:rPr>
              <a:t>2   authorise · compile config · resolve instructions</a:t>
            </a:r>
          </a:p>
        </p:txBody>
      </p:sp>
      <p:sp>
        <p:nvSpPr>
          <p:cNvPr id="14" name="Rectangle 13"/>
          <p:cNvSpPr/>
          <p:nvPr/>
        </p:nvSpPr>
        <p:spPr>
          <a:xfrm>
            <a:off x="2788920" y="3968496"/>
            <a:ext cx="6080760" cy="402336"/>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5803D"/>
                </a:solidFill>
                <a:latin typeface="Segoe UI"/>
              </a:rPr>
              <a:t>3   gather chart data + code candidates   (no model)</a:t>
            </a:r>
          </a:p>
        </p:txBody>
      </p:sp>
      <p:sp>
        <p:nvSpPr>
          <p:cNvPr id="15" name="Rectangle 14"/>
          <p:cNvSpPr/>
          <p:nvPr/>
        </p:nvSpPr>
        <p:spPr>
          <a:xfrm>
            <a:off x="2788920" y="4425696"/>
            <a:ext cx="292608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0233A"/>
                </a:solidFill>
                <a:latin typeface="Segoe UI"/>
              </a:rPr>
              <a:t>4   note -&gt; ledger</a:t>
            </a:r>
          </a:p>
        </p:txBody>
      </p:sp>
      <p:sp>
        <p:nvSpPr>
          <p:cNvPr id="16" name="Rectangle 15"/>
          <p:cNvSpPr/>
          <p:nvPr/>
        </p:nvSpPr>
        <p:spPr>
          <a:xfrm>
            <a:off x="2788920" y="4882896"/>
            <a:ext cx="2926080" cy="40233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0233A"/>
                </a:solidFill>
                <a:latin typeface="Segoe UI"/>
              </a:rPr>
              <a:t>5   sections + codes, in parallel</a:t>
            </a:r>
          </a:p>
        </p:txBody>
      </p:sp>
      <p:sp>
        <p:nvSpPr>
          <p:cNvPr id="17" name="Rectangle 16"/>
          <p:cNvSpPr/>
          <p:nvPr/>
        </p:nvSpPr>
        <p:spPr>
          <a:xfrm>
            <a:off x="2788920" y="5340096"/>
            <a:ext cx="6080760" cy="402336"/>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15803D"/>
                </a:solidFill>
                <a:latin typeface="Segoe UI"/>
              </a:rPr>
              <a:t>6   verify · score · audit   (no model)</a:t>
            </a:r>
          </a:p>
        </p:txBody>
      </p:sp>
      <p:sp>
        <p:nvSpPr>
          <p:cNvPr id="18" name="Rectangle 17"/>
          <p:cNvSpPr/>
          <p:nvPr/>
        </p:nvSpPr>
        <p:spPr>
          <a:xfrm>
            <a:off x="868680" y="5797296"/>
            <a:ext cx="1554480" cy="402336"/>
          </a:xfrm>
          <a:prstGeom prst="rect">
            <a:avLst/>
          </a:prstGeom>
          <a:solidFill>
            <a:srgbClr val="CCE6E4"/>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a:solidFill>
                  <a:srgbClr val="0F766E"/>
                </a:solidFill>
                <a:latin typeface="Segoe UI"/>
              </a:rPr>
              <a:t>7   review &amp; attest</a:t>
            </a:r>
          </a:p>
        </p:txBody>
      </p:sp>
      <p:sp>
        <p:nvSpPr>
          <p:cNvPr id="19" name="Rectangle 18"/>
          <p:cNvSpPr/>
          <p:nvPr/>
        </p:nvSpPr>
        <p:spPr>
          <a:xfrm>
            <a:off x="9235440" y="4535424"/>
            <a:ext cx="2057400" cy="402336"/>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15803D"/>
                </a:solidFill>
                <a:latin typeface="Segoe UI"/>
              </a:rPr>
              <a:t>model calls</a:t>
            </a:r>
          </a:p>
        </p:txBody>
      </p:sp>
      <p:sp>
        <p:nvSpPr>
          <p:cNvPr id="20" name="Right Arrow 19"/>
          <p:cNvSpPr/>
          <p:nvPr/>
        </p:nvSpPr>
        <p:spPr>
          <a:xfrm>
            <a:off x="5806440" y="4590288"/>
            <a:ext cx="3291840" cy="14630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345936"/>
            <a:ext cx="10607040" cy="310896"/>
          </a:xfrm>
          <a:prstGeom prst="rect">
            <a:avLst/>
          </a:prstGeom>
          <a:noFill/>
        </p:spPr>
        <p:txBody>
          <a:bodyPr wrap="square" anchor="t" lIns="0" rIns="0" tIns="0" bIns="0">
            <a:spAutoFit/>
          </a:bodyPr>
          <a:lstStyle/>
          <a:p>
            <a:pPr algn="ctr">
              <a:lnSpc>
                <a:spcPct val="100000"/>
              </a:lnSpc>
            </a:pPr>
            <a:r>
              <a:rPr sz="1550" b="1" i="0">
                <a:solidFill>
                  <a:srgbClr val="10233A"/>
                </a:solidFill>
                <a:latin typeface="Segoe UI"/>
              </a:rPr>
              <a:t>Nothing reaches the encounter record until step 7 completes.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The technology stack</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Deliberately conservative: the pipeline is a fixed sequence, not an autonomous agent.</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22</a:t>
            </a:r>
          </a:p>
        </p:txBody>
      </p:sp>
      <p:sp>
        <p:nvSpPr>
          <p:cNvPr id="6" name="Rectangle 5"/>
          <p:cNvSpPr/>
          <p:nvPr/>
        </p:nvSpPr>
        <p:spPr>
          <a:xfrm>
            <a:off x="777240" y="2670048"/>
            <a:ext cx="246888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1">
                <a:solidFill>
                  <a:srgbClr val="FFFFFF"/>
                </a:solidFill>
                <a:latin typeface="Segoe UI"/>
              </a:rPr>
              <a:t>Concern</a:t>
            </a:r>
          </a:p>
        </p:txBody>
      </p:sp>
      <p:sp>
        <p:nvSpPr>
          <p:cNvPr id="7" name="Rectangle 6"/>
          <p:cNvSpPr/>
          <p:nvPr/>
        </p:nvSpPr>
        <p:spPr>
          <a:xfrm>
            <a:off x="3246120" y="2670048"/>
            <a:ext cx="393192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1">
                <a:solidFill>
                  <a:srgbClr val="FFFFFF"/>
                </a:solidFill>
                <a:latin typeface="Segoe UI"/>
              </a:rPr>
              <a:t>Choice</a:t>
            </a:r>
          </a:p>
        </p:txBody>
      </p:sp>
      <p:sp>
        <p:nvSpPr>
          <p:cNvPr id="8" name="Rectangle 7"/>
          <p:cNvSpPr/>
          <p:nvPr/>
        </p:nvSpPr>
        <p:spPr>
          <a:xfrm>
            <a:off x="7178040" y="2670048"/>
            <a:ext cx="4206240" cy="310896"/>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1">
                <a:solidFill>
                  <a:srgbClr val="FFFFFF"/>
                </a:solidFill>
                <a:latin typeface="Segoe UI"/>
              </a:rPr>
              <a:t>Why</a:t>
            </a:r>
          </a:p>
        </p:txBody>
      </p:sp>
      <p:sp>
        <p:nvSpPr>
          <p:cNvPr id="9" name="Rectangle 8"/>
          <p:cNvSpPr/>
          <p:nvPr/>
        </p:nvSpPr>
        <p:spPr>
          <a:xfrm>
            <a:off x="777240" y="2980944"/>
            <a:ext cx="246888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Runtime</a:t>
            </a:r>
          </a:p>
        </p:txBody>
      </p:sp>
      <p:sp>
        <p:nvSpPr>
          <p:cNvPr id="10" name="Rectangle 9"/>
          <p:cNvSpPr/>
          <p:nvPr/>
        </p:nvSpPr>
        <p:spPr>
          <a:xfrm>
            <a:off x="3246120" y="2980944"/>
            <a:ext cx="393192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.NET 8  ·  existing App Service</a:t>
            </a:r>
          </a:p>
        </p:txBody>
      </p:sp>
      <p:sp>
        <p:nvSpPr>
          <p:cNvPr id="11" name="Rectangle 10"/>
          <p:cNvSpPr/>
          <p:nvPr/>
        </p:nvSpPr>
        <p:spPr>
          <a:xfrm>
            <a:off x="7178040" y="2980944"/>
            <a:ext cx="420624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no new deployable, no new runtime in Phase 1</a:t>
            </a:r>
          </a:p>
        </p:txBody>
      </p:sp>
      <p:sp>
        <p:nvSpPr>
          <p:cNvPr id="12" name="Rectangle 11"/>
          <p:cNvSpPr/>
          <p:nvPr/>
        </p:nvSpPr>
        <p:spPr>
          <a:xfrm>
            <a:off x="777240" y="3401568"/>
            <a:ext cx="246888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Model abstraction</a:t>
            </a:r>
          </a:p>
        </p:txBody>
      </p:sp>
      <p:sp>
        <p:nvSpPr>
          <p:cNvPr id="13" name="Rectangle 12"/>
          <p:cNvSpPr/>
          <p:nvPr/>
        </p:nvSpPr>
        <p:spPr>
          <a:xfrm>
            <a:off x="3246120" y="3401568"/>
            <a:ext cx="393192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Microsoft.Extensions.AI  (IChatClient)</a:t>
            </a:r>
          </a:p>
        </p:txBody>
      </p:sp>
      <p:sp>
        <p:nvSpPr>
          <p:cNvPr id="14" name="Rectangle 13"/>
          <p:cNvSpPr/>
          <p:nvPr/>
        </p:nvSpPr>
        <p:spPr>
          <a:xfrm>
            <a:off x="7178040" y="3401568"/>
            <a:ext cx="420624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provider-agnostic; retry, caching, telemetry as middleware</a:t>
            </a:r>
          </a:p>
        </p:txBody>
      </p:sp>
      <p:sp>
        <p:nvSpPr>
          <p:cNvPr id="15" name="Rectangle 14"/>
          <p:cNvSpPr/>
          <p:nvPr/>
        </p:nvSpPr>
        <p:spPr>
          <a:xfrm>
            <a:off x="777240" y="3822191"/>
            <a:ext cx="246888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Orchestration</a:t>
            </a:r>
          </a:p>
        </p:txBody>
      </p:sp>
      <p:sp>
        <p:nvSpPr>
          <p:cNvPr id="16" name="Rectangle 15"/>
          <p:cNvSpPr/>
          <p:nvPr/>
        </p:nvSpPr>
        <p:spPr>
          <a:xfrm>
            <a:off x="3246120" y="3822191"/>
            <a:ext cx="393192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Plain C# pipeline</a:t>
            </a:r>
          </a:p>
        </p:txBody>
      </p:sp>
      <p:sp>
        <p:nvSpPr>
          <p:cNvPr id="17" name="Rectangle 16"/>
          <p:cNvSpPr/>
          <p:nvPr/>
        </p:nvSpPr>
        <p:spPr>
          <a:xfrm>
            <a:off x="7178040" y="3822191"/>
            <a:ext cx="420624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a fixed 5-stage DAG with parallel fan-out; fully debuggable</a:t>
            </a:r>
          </a:p>
        </p:txBody>
      </p:sp>
      <p:sp>
        <p:nvSpPr>
          <p:cNvPr id="18" name="Rectangle 17"/>
          <p:cNvSpPr/>
          <p:nvPr/>
        </p:nvSpPr>
        <p:spPr>
          <a:xfrm>
            <a:off x="777240" y="4242816"/>
            <a:ext cx="246888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Prompt assets</a:t>
            </a:r>
          </a:p>
        </p:txBody>
      </p:sp>
      <p:sp>
        <p:nvSpPr>
          <p:cNvPr id="19" name="Rectangle 18"/>
          <p:cNvSpPr/>
          <p:nvPr/>
        </p:nvSpPr>
        <p:spPr>
          <a:xfrm>
            <a:off x="3246120" y="4242816"/>
            <a:ext cx="393192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Semantic Kernel  (templating + filters)</a:t>
            </a:r>
          </a:p>
        </p:txBody>
      </p:sp>
      <p:sp>
        <p:nvSpPr>
          <p:cNvPr id="20" name="Rectangle 19"/>
          <p:cNvSpPr/>
          <p:nvPr/>
        </p:nvSpPr>
        <p:spPr>
          <a:xfrm>
            <a:off x="7178040" y="4242816"/>
            <a:ext cx="420624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adopt only where templating and call filters earn their place</a:t>
            </a:r>
          </a:p>
        </p:txBody>
      </p:sp>
      <p:sp>
        <p:nvSpPr>
          <p:cNvPr id="21" name="Rectangle 20"/>
          <p:cNvSpPr/>
          <p:nvPr/>
        </p:nvSpPr>
        <p:spPr>
          <a:xfrm>
            <a:off x="777240" y="4663440"/>
            <a:ext cx="246888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Output contract</a:t>
            </a:r>
          </a:p>
        </p:txBody>
      </p:sp>
      <p:sp>
        <p:nvSpPr>
          <p:cNvPr id="22" name="Rectangle 21"/>
          <p:cNvSpPr/>
          <p:nvPr/>
        </p:nvSpPr>
        <p:spPr>
          <a:xfrm>
            <a:off x="3246120" y="4663440"/>
            <a:ext cx="393192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JSON Schema  -&gt;  structured outputs</a:t>
            </a:r>
          </a:p>
        </p:txBody>
      </p:sp>
      <p:sp>
        <p:nvSpPr>
          <p:cNvPr id="23" name="Rectangle 22"/>
          <p:cNvSpPr/>
          <p:nvPr/>
        </p:nvSpPr>
        <p:spPr>
          <a:xfrm>
            <a:off x="7178040" y="4663440"/>
            <a:ext cx="420624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compiled per template; strict mode makes bad JSON impossible</a:t>
            </a:r>
          </a:p>
        </p:txBody>
      </p:sp>
      <p:sp>
        <p:nvSpPr>
          <p:cNvPr id="24" name="Rectangle 23"/>
          <p:cNvSpPr/>
          <p:nvPr/>
        </p:nvSpPr>
        <p:spPr>
          <a:xfrm>
            <a:off x="777240" y="5084064"/>
            <a:ext cx="246888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Deterministic services</a:t>
            </a:r>
          </a:p>
        </p:txBody>
      </p:sp>
      <p:sp>
        <p:nvSpPr>
          <p:cNvPr id="25" name="Rectangle 24"/>
          <p:cNvSpPr/>
          <p:nvPr/>
        </p:nvSpPr>
        <p:spPr>
          <a:xfrm>
            <a:off x="3246120" y="5084064"/>
            <a:ext cx="393192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C# rules engine + SQL</a:t>
            </a:r>
          </a:p>
        </p:txBody>
      </p:sp>
      <p:sp>
        <p:nvSpPr>
          <p:cNvPr id="26" name="Rectangle 25"/>
          <p:cNvSpPr/>
          <p:nvPr/>
        </p:nvSpPr>
        <p:spPr>
          <a:xfrm>
            <a:off x="7178040" y="5084064"/>
            <a:ext cx="420624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codes, normals, completeness — unit tested, no model</a:t>
            </a:r>
          </a:p>
        </p:txBody>
      </p:sp>
      <p:sp>
        <p:nvSpPr>
          <p:cNvPr id="27" name="Rectangle 26"/>
          <p:cNvSpPr/>
          <p:nvPr/>
        </p:nvSpPr>
        <p:spPr>
          <a:xfrm>
            <a:off x="777240" y="5504688"/>
            <a:ext cx="246888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Evaluation</a:t>
            </a:r>
          </a:p>
        </p:txBody>
      </p:sp>
      <p:sp>
        <p:nvSpPr>
          <p:cNvPr id="28" name="Rectangle 27"/>
          <p:cNvSpPr/>
          <p:nvPr/>
        </p:nvSpPr>
        <p:spPr>
          <a:xfrm>
            <a:off x="3246120" y="5504688"/>
            <a:ext cx="393192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Offline harness  +  Azure AI Foundry evaluators</a:t>
            </a:r>
          </a:p>
        </p:txBody>
      </p:sp>
      <p:sp>
        <p:nvSpPr>
          <p:cNvPr id="29" name="Rectangle 28"/>
          <p:cNvSpPr/>
          <p:nvPr/>
        </p:nvSpPr>
        <p:spPr>
          <a:xfrm>
            <a:off x="7178040" y="5504688"/>
            <a:ext cx="4206240" cy="4206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gated on every prompt or model change</a:t>
            </a:r>
          </a:p>
        </p:txBody>
      </p:sp>
      <p:sp>
        <p:nvSpPr>
          <p:cNvPr id="30" name="Rectangle 29"/>
          <p:cNvSpPr/>
          <p:nvPr/>
        </p:nvSpPr>
        <p:spPr>
          <a:xfrm>
            <a:off x="777240" y="5925312"/>
            <a:ext cx="246888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Prompt optimisation</a:t>
            </a:r>
          </a:p>
        </p:txBody>
      </p:sp>
      <p:sp>
        <p:nvSpPr>
          <p:cNvPr id="31" name="Rectangle 30"/>
          <p:cNvSpPr/>
          <p:nvPr/>
        </p:nvSpPr>
        <p:spPr>
          <a:xfrm>
            <a:off x="3246120" y="5925312"/>
            <a:ext cx="393192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DSPy  —  Phase 3, offline only</a:t>
            </a:r>
          </a:p>
        </p:txBody>
      </p:sp>
      <p:sp>
        <p:nvSpPr>
          <p:cNvPr id="32" name="Rectangle 31"/>
          <p:cNvSpPr/>
          <p:nvPr/>
        </p:nvSpPr>
        <p:spPr>
          <a:xfrm>
            <a:off x="7178040" y="5925312"/>
            <a:ext cx="4206240" cy="42062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0">
                <a:solidFill>
                  <a:srgbClr val="33445B"/>
                </a:solidFill>
                <a:latin typeface="Segoe UI"/>
              </a:rPr>
              <a:t>needs labelled data that Phase 1 creates; never in the request path</a:t>
            </a:r>
          </a:p>
        </p:txBody>
      </p:sp>
      <p:sp>
        <p:nvSpPr>
          <p:cNvPr id="33" name="TextBox 32"/>
          <p:cNvSpPr txBox="1"/>
          <p:nvPr/>
        </p:nvSpPr>
        <p:spPr>
          <a:xfrm>
            <a:off x="777240" y="6492240"/>
            <a:ext cx="10607040" cy="310896"/>
          </a:xfrm>
          <a:prstGeom prst="rect">
            <a:avLst/>
          </a:prstGeom>
          <a:noFill/>
        </p:spPr>
        <p:txBody>
          <a:bodyPr wrap="square" anchor="t" lIns="0" rIns="0" tIns="0" bIns="0">
            <a:spAutoFit/>
          </a:bodyPr>
          <a:lstStyle/>
          <a:p>
            <a:pPr algn="ctr">
              <a:lnSpc>
                <a:spcPct val="100000"/>
              </a:lnSpc>
            </a:pPr>
            <a:r>
              <a:rPr sz="1450" b="1" i="0">
                <a:solidFill>
                  <a:srgbClr val="0F766E"/>
                </a:solidFill>
                <a:latin typeface="Segoe UI"/>
              </a:rPr>
              <a:t>One new NuGet-level abstraction. No new language, no new runtime, no new deployable.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ARCHITECTURE</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Frameworks considered</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Named so the choice is visible — and so we can revisit it deliberately.</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23</a:t>
            </a:r>
          </a:p>
        </p:txBody>
      </p:sp>
      <p:sp>
        <p:nvSpPr>
          <p:cNvPr id="6" name="Rectangle 5"/>
          <p:cNvSpPr/>
          <p:nvPr/>
        </p:nvSpPr>
        <p:spPr>
          <a:xfrm>
            <a:off x="777240" y="2651760"/>
            <a:ext cx="10607040" cy="55778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7" name="Rectangle 6"/>
          <p:cNvSpPr/>
          <p:nvPr/>
        </p:nvSpPr>
        <p:spPr>
          <a:xfrm>
            <a:off x="777240" y="2651760"/>
            <a:ext cx="54864" cy="55778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98064"/>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Microsoft.Extensions.AI</a:t>
            </a:r>
          </a:p>
        </p:txBody>
      </p:sp>
      <p:sp>
        <p:nvSpPr>
          <p:cNvPr id="9" name="TextBox 8"/>
          <p:cNvSpPr txBox="1"/>
          <p:nvPr/>
        </p:nvSpPr>
        <p:spPr>
          <a:xfrm>
            <a:off x="3977639" y="2807208"/>
            <a:ext cx="1600200" cy="237744"/>
          </a:xfrm>
          <a:prstGeom prst="rect">
            <a:avLst/>
          </a:prstGeom>
          <a:noFill/>
        </p:spPr>
        <p:txBody>
          <a:bodyPr wrap="square" anchor="t" lIns="0" rIns="0" tIns="0" bIns="0">
            <a:spAutoFit/>
          </a:bodyPr>
          <a:lstStyle/>
          <a:p>
            <a:pPr algn="l">
              <a:lnSpc>
                <a:spcPct val="100000"/>
              </a:lnSpc>
            </a:pPr>
            <a:r>
              <a:rPr sz="1050" b="1" i="0">
                <a:solidFill>
                  <a:srgbClr val="15803D"/>
                </a:solidFill>
                <a:latin typeface="Segoe UI"/>
              </a:rPr>
              <a:t>ADOPT</a:t>
            </a:r>
          </a:p>
        </p:txBody>
      </p:sp>
      <p:sp>
        <p:nvSpPr>
          <p:cNvPr id="10" name="TextBox 9"/>
          <p:cNvSpPr txBox="1"/>
          <p:nvPr/>
        </p:nvSpPr>
        <p:spPr>
          <a:xfrm>
            <a:off x="5669280" y="2807208"/>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Thin provider abstraction with middleware. .NET-native. This is our IModelProvider.</a:t>
            </a:r>
          </a:p>
        </p:txBody>
      </p:sp>
      <p:sp>
        <p:nvSpPr>
          <p:cNvPr id="11" name="Rectangle 10"/>
          <p:cNvSpPr/>
          <p:nvPr/>
        </p:nvSpPr>
        <p:spPr>
          <a:xfrm>
            <a:off x="777240" y="3273552"/>
            <a:ext cx="10607040" cy="557784"/>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2" name="Rectangle 11"/>
          <p:cNvSpPr/>
          <p:nvPr/>
        </p:nvSpPr>
        <p:spPr>
          <a:xfrm>
            <a:off x="777240" y="3273552"/>
            <a:ext cx="54864" cy="55778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19856"/>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Plain C# orchestration</a:t>
            </a:r>
          </a:p>
        </p:txBody>
      </p:sp>
      <p:sp>
        <p:nvSpPr>
          <p:cNvPr id="14" name="TextBox 13"/>
          <p:cNvSpPr txBox="1"/>
          <p:nvPr/>
        </p:nvSpPr>
        <p:spPr>
          <a:xfrm>
            <a:off x="3977639" y="3429000"/>
            <a:ext cx="1600200" cy="237744"/>
          </a:xfrm>
          <a:prstGeom prst="rect">
            <a:avLst/>
          </a:prstGeom>
          <a:noFill/>
        </p:spPr>
        <p:txBody>
          <a:bodyPr wrap="square" anchor="t" lIns="0" rIns="0" tIns="0" bIns="0">
            <a:spAutoFit/>
          </a:bodyPr>
          <a:lstStyle/>
          <a:p>
            <a:pPr algn="l">
              <a:lnSpc>
                <a:spcPct val="100000"/>
              </a:lnSpc>
            </a:pPr>
            <a:r>
              <a:rPr sz="1050" b="1" i="0">
                <a:solidFill>
                  <a:srgbClr val="15803D"/>
                </a:solidFill>
                <a:latin typeface="Segoe UI"/>
              </a:rPr>
              <a:t>ADOPT</a:t>
            </a:r>
          </a:p>
        </p:txBody>
      </p:sp>
      <p:sp>
        <p:nvSpPr>
          <p:cNvPr id="15" name="TextBox 14"/>
          <p:cNvSpPr txBox="1"/>
          <p:nvPr/>
        </p:nvSpPr>
        <p:spPr>
          <a:xfrm>
            <a:off x="5669280" y="3429000"/>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The pipeline is a fixed DAG. Parallel fan-out in a few hundred readable lines.</a:t>
            </a:r>
          </a:p>
        </p:txBody>
      </p:sp>
      <p:sp>
        <p:nvSpPr>
          <p:cNvPr id="16" name="Rectangle 15"/>
          <p:cNvSpPr/>
          <p:nvPr/>
        </p:nvSpPr>
        <p:spPr>
          <a:xfrm>
            <a:off x="777240" y="3895344"/>
            <a:ext cx="10607040" cy="557784"/>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7" name="Rectangle 16"/>
          <p:cNvSpPr/>
          <p:nvPr/>
        </p:nvSpPr>
        <p:spPr>
          <a:xfrm>
            <a:off x="777240" y="3895344"/>
            <a:ext cx="54864" cy="5577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041648"/>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Semantic Kernel</a:t>
            </a:r>
          </a:p>
        </p:txBody>
      </p:sp>
      <p:sp>
        <p:nvSpPr>
          <p:cNvPr id="19" name="TextBox 18"/>
          <p:cNvSpPr txBox="1"/>
          <p:nvPr/>
        </p:nvSpPr>
        <p:spPr>
          <a:xfrm>
            <a:off x="3977639" y="4050792"/>
            <a:ext cx="1600200" cy="237744"/>
          </a:xfrm>
          <a:prstGeom prst="rect">
            <a:avLst/>
          </a:prstGeom>
          <a:noFill/>
        </p:spPr>
        <p:txBody>
          <a:bodyPr wrap="square" anchor="t" lIns="0" rIns="0" tIns="0" bIns="0">
            <a:spAutoFit/>
          </a:bodyPr>
          <a:lstStyle/>
          <a:p>
            <a:pPr algn="l">
              <a:lnSpc>
                <a:spcPct val="100000"/>
              </a:lnSpc>
            </a:pPr>
            <a:r>
              <a:rPr sz="1050" b="1" i="0">
                <a:solidFill>
                  <a:srgbClr val="0F766E"/>
                </a:solidFill>
                <a:latin typeface="Segoe UI"/>
              </a:rPr>
              <a:t>ADOPT, SCOPED</a:t>
            </a:r>
          </a:p>
        </p:txBody>
      </p:sp>
      <p:sp>
        <p:nvSpPr>
          <p:cNvPr id="20" name="TextBox 19"/>
          <p:cNvSpPr txBox="1"/>
          <p:nvPr/>
        </p:nvSpPr>
        <p:spPr>
          <a:xfrm>
            <a:off x="5669280" y="4050792"/>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Prompt templating and call filters only. Not planners, not agents — we do not need autonomy.</a:t>
            </a:r>
          </a:p>
        </p:txBody>
      </p:sp>
      <p:sp>
        <p:nvSpPr>
          <p:cNvPr id="21" name="Rectangle 20"/>
          <p:cNvSpPr/>
          <p:nvPr/>
        </p:nvSpPr>
        <p:spPr>
          <a:xfrm>
            <a:off x="777240" y="4517136"/>
            <a:ext cx="10607040" cy="557784"/>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2" name="Rectangle 21"/>
          <p:cNvSpPr/>
          <p:nvPr/>
        </p:nvSpPr>
        <p:spPr>
          <a:xfrm>
            <a:off x="777240" y="4517136"/>
            <a:ext cx="54864" cy="5577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663440"/>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LangChain  /  LangGraph</a:t>
            </a:r>
          </a:p>
        </p:txBody>
      </p:sp>
      <p:sp>
        <p:nvSpPr>
          <p:cNvPr id="24" name="TextBox 23"/>
          <p:cNvSpPr txBox="1"/>
          <p:nvPr/>
        </p:nvSpPr>
        <p:spPr>
          <a:xfrm>
            <a:off x="3977639" y="4672584"/>
            <a:ext cx="1600200" cy="237744"/>
          </a:xfrm>
          <a:prstGeom prst="rect">
            <a:avLst/>
          </a:prstGeom>
          <a:noFill/>
        </p:spPr>
        <p:txBody>
          <a:bodyPr wrap="square" anchor="t" lIns="0" rIns="0" tIns="0" bIns="0">
            <a:spAutoFit/>
          </a:bodyPr>
          <a:lstStyle/>
          <a:p>
            <a:pPr algn="l">
              <a:lnSpc>
                <a:spcPct val="100000"/>
              </a:lnSpc>
            </a:pPr>
            <a:r>
              <a:rPr sz="1050" b="1" i="0">
                <a:solidFill>
                  <a:srgbClr val="B45309"/>
                </a:solidFill>
                <a:latin typeface="Segoe UI"/>
              </a:rPr>
              <a:t>NOT NOW</a:t>
            </a:r>
          </a:p>
        </p:txBody>
      </p:sp>
      <p:sp>
        <p:nvSpPr>
          <p:cNvPr id="25" name="TextBox 24"/>
          <p:cNvSpPr txBox="1"/>
          <p:nvPr/>
        </p:nvSpPr>
        <p:spPr>
          <a:xfrm>
            <a:off x="5669280" y="4672584"/>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Python-first: a second runtime, deployable and compliance surface. Its strength is agent loops we do not have.</a:t>
            </a:r>
          </a:p>
        </p:txBody>
      </p:sp>
      <p:sp>
        <p:nvSpPr>
          <p:cNvPr id="26" name="Rectangle 25"/>
          <p:cNvSpPr/>
          <p:nvPr/>
        </p:nvSpPr>
        <p:spPr>
          <a:xfrm>
            <a:off x="777240" y="5138928"/>
            <a:ext cx="10607040" cy="557784"/>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7" name="Rectangle 26"/>
          <p:cNvSpPr/>
          <p:nvPr/>
        </p:nvSpPr>
        <p:spPr>
          <a:xfrm>
            <a:off x="777240" y="5138928"/>
            <a:ext cx="54864" cy="5577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285232"/>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DSPy</a:t>
            </a:r>
          </a:p>
        </p:txBody>
      </p:sp>
      <p:sp>
        <p:nvSpPr>
          <p:cNvPr id="29" name="TextBox 28"/>
          <p:cNvSpPr txBox="1"/>
          <p:nvPr/>
        </p:nvSpPr>
        <p:spPr>
          <a:xfrm>
            <a:off x="3977639" y="5294376"/>
            <a:ext cx="1600200" cy="237744"/>
          </a:xfrm>
          <a:prstGeom prst="rect">
            <a:avLst/>
          </a:prstGeom>
          <a:noFill/>
        </p:spPr>
        <p:txBody>
          <a:bodyPr wrap="square" anchor="t" lIns="0" rIns="0" tIns="0" bIns="0">
            <a:spAutoFit/>
          </a:bodyPr>
          <a:lstStyle/>
          <a:p>
            <a:pPr algn="l">
              <a:lnSpc>
                <a:spcPct val="100000"/>
              </a:lnSpc>
            </a:pPr>
            <a:r>
              <a:rPr sz="1050" b="1" i="0">
                <a:solidFill>
                  <a:srgbClr val="B45309"/>
                </a:solidFill>
                <a:latin typeface="Segoe UI"/>
              </a:rPr>
              <a:t>PHASE 3</a:t>
            </a:r>
          </a:p>
        </p:txBody>
      </p:sp>
      <p:sp>
        <p:nvSpPr>
          <p:cNvPr id="30" name="TextBox 29"/>
          <p:cNvSpPr txBox="1"/>
          <p:nvPr/>
        </p:nvSpPr>
        <p:spPr>
          <a:xfrm>
            <a:off x="5669280" y="5294376"/>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Optimises prompts against a metric using examples. We have neither yet — Phase 1 creates both.</a:t>
            </a:r>
          </a:p>
        </p:txBody>
      </p:sp>
      <p:sp>
        <p:nvSpPr>
          <p:cNvPr id="31" name="Rectangle 30"/>
          <p:cNvSpPr/>
          <p:nvPr/>
        </p:nvSpPr>
        <p:spPr>
          <a:xfrm>
            <a:off x="777240" y="5760720"/>
            <a:ext cx="10607040" cy="5577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32" name="Rectangle 31"/>
          <p:cNvSpPr/>
          <p:nvPr/>
        </p:nvSpPr>
        <p:spPr>
          <a:xfrm>
            <a:off x="777240" y="5760720"/>
            <a:ext cx="54864" cy="557784"/>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907024"/>
            <a:ext cx="2880360" cy="256032"/>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Self-hosted / fine-tuned model</a:t>
            </a:r>
          </a:p>
        </p:txBody>
      </p:sp>
      <p:sp>
        <p:nvSpPr>
          <p:cNvPr id="34" name="TextBox 33"/>
          <p:cNvSpPr txBox="1"/>
          <p:nvPr/>
        </p:nvSpPr>
        <p:spPr>
          <a:xfrm>
            <a:off x="3977639" y="5916168"/>
            <a:ext cx="1600200" cy="237744"/>
          </a:xfrm>
          <a:prstGeom prst="rect">
            <a:avLst/>
          </a:prstGeom>
          <a:noFill/>
        </p:spPr>
        <p:txBody>
          <a:bodyPr wrap="square" anchor="t" lIns="0" rIns="0" tIns="0" bIns="0">
            <a:spAutoFit/>
          </a:bodyPr>
          <a:lstStyle/>
          <a:p>
            <a:pPr algn="l">
              <a:lnSpc>
                <a:spcPct val="100000"/>
              </a:lnSpc>
            </a:pPr>
            <a:r>
              <a:rPr sz="1050" b="1" i="0">
                <a:solidFill>
                  <a:srgbClr val="64748B"/>
                </a:solidFill>
                <a:latin typeface="Segoe UI"/>
              </a:rPr>
              <a:t>PHASE 3+</a:t>
            </a:r>
          </a:p>
        </p:txBody>
      </p:sp>
      <p:sp>
        <p:nvSpPr>
          <p:cNvPr id="35" name="TextBox 34"/>
          <p:cNvSpPr txBox="1"/>
          <p:nvPr/>
        </p:nvSpPr>
        <p:spPr>
          <a:xfrm>
            <a:off x="5669280" y="5916168"/>
            <a:ext cx="5577840" cy="256032"/>
          </a:xfrm>
          <a:prstGeom prst="rect">
            <a:avLst/>
          </a:prstGeom>
          <a:noFill/>
        </p:spPr>
        <p:txBody>
          <a:bodyPr wrap="square" anchor="t" lIns="0" rIns="0" tIns="0" bIns="0">
            <a:spAutoFit/>
          </a:bodyPr>
          <a:lstStyle/>
          <a:p>
            <a:pPr algn="l">
              <a:lnSpc>
                <a:spcPct val="100000"/>
              </a:lnSpc>
            </a:pPr>
            <a:r>
              <a:rPr sz="1050" b="0" i="0">
                <a:solidFill>
                  <a:srgbClr val="33445B"/>
                </a:solidFill>
                <a:latin typeface="Segoe UI"/>
              </a:rPr>
              <a:t>Zero retention is already achievable on Azure, and there is nothing to fine-tune on yet.</a:t>
            </a:r>
          </a:p>
        </p:txBody>
      </p:sp>
      <p:sp>
        <p:nvSpPr>
          <p:cNvPr id="36" name="TextBox 35"/>
          <p:cNvSpPr txBox="1"/>
          <p:nvPr/>
        </p:nvSpPr>
        <p:spPr>
          <a:xfrm>
            <a:off x="777240" y="6492240"/>
            <a:ext cx="10607040" cy="310896"/>
          </a:xfrm>
          <a:prstGeom prst="rect">
            <a:avLst/>
          </a:prstGeom>
          <a:noFill/>
        </p:spPr>
        <p:txBody>
          <a:bodyPr wrap="square" anchor="t" lIns="0" rIns="0" tIns="0" bIns="0">
            <a:spAutoFit/>
          </a:bodyPr>
          <a:lstStyle/>
          <a:p>
            <a:pPr algn="ctr">
              <a:lnSpc>
                <a:spcPct val="100000"/>
              </a:lnSpc>
            </a:pPr>
            <a:r>
              <a:rPr sz="1400" b="1" i="0">
                <a:solidFill>
                  <a:srgbClr val="0F766E"/>
                </a:solidFill>
                <a:latin typeface="Segoe UI"/>
              </a:rPr>
              <a:t>Nothing here is closed off — each is a decision we can revisit when the reason for it changes.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514600"/>
            <a:ext cx="1280160" cy="822960"/>
          </a:xfrm>
          <a:prstGeom prst="rect">
            <a:avLst/>
          </a:prstGeom>
          <a:noFill/>
        </p:spPr>
        <p:txBody>
          <a:bodyPr wrap="square" anchor="t" lIns="0" rIns="0" tIns="0" bIns="0">
            <a:spAutoFit/>
          </a:bodyPr>
          <a:lstStyle/>
          <a:p>
            <a:pPr algn="l">
              <a:lnSpc>
                <a:spcPct val="100000"/>
              </a:lnSpc>
            </a:pPr>
            <a:r>
              <a:rPr sz="5800" b="1" i="0">
                <a:solidFill>
                  <a:srgbClr val="0F766E"/>
                </a:solidFill>
                <a:latin typeface="Segoe UI"/>
              </a:rPr>
              <a:t>04</a:t>
            </a:r>
          </a:p>
        </p:txBody>
      </p:sp>
      <p:sp>
        <p:nvSpPr>
          <p:cNvPr id="4" name="TextBox 3"/>
          <p:cNvSpPr txBox="1"/>
          <p:nvPr/>
        </p:nvSpPr>
        <p:spPr>
          <a:xfrm>
            <a:off x="2331720" y="2651760"/>
            <a:ext cx="8778240" cy="640080"/>
          </a:xfrm>
          <a:prstGeom prst="rect">
            <a:avLst/>
          </a:prstGeom>
          <a:noFill/>
        </p:spPr>
        <p:txBody>
          <a:bodyPr wrap="square" anchor="t" lIns="0" rIns="0" tIns="0" bIns="0">
            <a:spAutoFit/>
          </a:bodyPr>
          <a:lstStyle/>
          <a:p>
            <a:pPr algn="l">
              <a:lnSpc>
                <a:spcPct val="100000"/>
              </a:lnSpc>
            </a:pPr>
            <a:r>
              <a:rPr sz="3600" b="1" i="0">
                <a:solidFill>
                  <a:srgbClr val="FFFFFF"/>
                </a:solidFill>
                <a:latin typeface="Segoe UI"/>
              </a:rPr>
              <a:t>What providers will see</a:t>
            </a:r>
          </a:p>
        </p:txBody>
      </p:sp>
      <p:sp>
        <p:nvSpPr>
          <p:cNvPr id="5" name="TextBox 4"/>
          <p:cNvSpPr txBox="1"/>
          <p:nvPr/>
        </p:nvSpPr>
        <p:spPr>
          <a:xfrm>
            <a:off x="2377440" y="3401568"/>
            <a:ext cx="8595360" cy="457200"/>
          </a:xfrm>
          <a:prstGeom prst="rect">
            <a:avLst/>
          </a:prstGeom>
          <a:noFill/>
        </p:spPr>
        <p:txBody>
          <a:bodyPr wrap="square" anchor="t" lIns="0" rIns="0" tIns="0" bIns="0">
            <a:spAutoFit/>
          </a:bodyPr>
          <a:lstStyle/>
          <a:p>
            <a:pPr algn="l">
              <a:lnSpc>
                <a:spcPct val="100000"/>
              </a:lnSpc>
            </a:pPr>
            <a:r>
              <a:rPr sz="1450" b="0" i="0">
                <a:solidFill>
                  <a:srgbClr val="9FB3C8"/>
                </a:solidFill>
                <a:latin typeface="Segoe UI"/>
              </a:rPr>
              <a:t>The frontend</a:t>
            </a:r>
          </a:p>
        </p:txBody>
      </p:sp>
      <p:sp>
        <p:nvSpPr>
          <p:cNvPr id="6" name="Rectangle 5"/>
          <p:cNvSpPr/>
          <p:nvPr/>
        </p:nvSpPr>
        <p:spPr>
          <a:xfrm>
            <a:off x="2377440" y="3310128"/>
            <a:ext cx="2743200" cy="25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950" b="0" i="0">
                <a:solidFill>
                  <a:srgbClr val="55667D"/>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THE JOURNEY</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Same capture, same form — one step added in between</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25</a:t>
            </a:r>
          </a:p>
        </p:txBody>
      </p:sp>
      <p:sp>
        <p:nvSpPr>
          <p:cNvPr id="5" name="Rectangle 4"/>
          <p:cNvSpPr/>
          <p:nvPr/>
        </p:nvSpPr>
        <p:spPr>
          <a:xfrm>
            <a:off x="777240" y="2395728"/>
            <a:ext cx="2487168" cy="169164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6" name="Oval 5"/>
          <p:cNvSpPr/>
          <p:nvPr/>
        </p:nvSpPr>
        <p:spPr>
          <a:xfrm>
            <a:off x="923544" y="2560320"/>
            <a:ext cx="457200" cy="457200"/>
          </a:xfrm>
          <a:prstGeom prst="ellipse">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FFFFFF"/>
                </a:solidFill>
                <a:latin typeface="Segoe UI"/>
              </a:rPr>
              <a:t>1</a:t>
            </a:r>
          </a:p>
        </p:txBody>
      </p:sp>
      <p:sp>
        <p:nvSpPr>
          <p:cNvPr id="7" name="TextBox 6"/>
          <p:cNvSpPr txBox="1"/>
          <p:nvPr/>
        </p:nvSpPr>
        <p:spPr>
          <a:xfrm>
            <a:off x="923544" y="3182112"/>
            <a:ext cx="2194560" cy="310896"/>
          </a:xfrm>
          <a:prstGeom prst="rect">
            <a:avLst/>
          </a:prstGeom>
          <a:noFill/>
        </p:spPr>
        <p:txBody>
          <a:bodyPr wrap="square" anchor="t" lIns="0" rIns="0" tIns="0" bIns="0">
            <a:spAutoFit/>
          </a:bodyPr>
          <a:lstStyle/>
          <a:p>
            <a:pPr algn="l">
              <a:lnSpc>
                <a:spcPct val="100000"/>
              </a:lnSpc>
            </a:pPr>
            <a:r>
              <a:rPr sz="1500" b="1" i="0">
                <a:solidFill>
                  <a:srgbClr val="10233A"/>
                </a:solidFill>
                <a:latin typeface="Segoe UI"/>
              </a:rPr>
              <a:t>Speak or type</a:t>
            </a:r>
          </a:p>
        </p:txBody>
      </p:sp>
      <p:sp>
        <p:nvSpPr>
          <p:cNvPr id="8" name="TextBox 7"/>
          <p:cNvSpPr txBox="1"/>
          <p:nvPr/>
        </p:nvSpPr>
        <p:spPr>
          <a:xfrm>
            <a:off x="923544" y="3547872"/>
            <a:ext cx="2194560" cy="457200"/>
          </a:xfrm>
          <a:prstGeom prst="rect">
            <a:avLst/>
          </a:prstGeom>
          <a:noFill/>
        </p:spPr>
        <p:txBody>
          <a:bodyPr wrap="square" anchor="t" lIns="0" rIns="0" tIns="0" bIns="0">
            <a:spAutoFit/>
          </a:bodyPr>
          <a:lstStyle/>
          <a:p>
            <a:pPr algn="l">
              <a:lnSpc>
                <a:spcPct val="115000"/>
              </a:lnSpc>
            </a:pPr>
            <a:r>
              <a:rPr sz="1200" b="0" i="0">
                <a:solidFill>
                  <a:srgbClr val="64748B"/>
                </a:solidFill>
                <a:latin typeface="Segoe UI"/>
              </a:rPr>
              <a:t>exactly as today</a:t>
            </a:r>
          </a:p>
        </p:txBody>
      </p:sp>
      <p:sp>
        <p:nvSpPr>
          <p:cNvPr id="9" name="Right Arrow 8"/>
          <p:cNvSpPr/>
          <p:nvPr/>
        </p:nvSpPr>
        <p:spPr>
          <a:xfrm>
            <a:off x="3282696" y="3108960"/>
            <a:ext cx="237744"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38728" y="2395728"/>
            <a:ext cx="2487168" cy="169164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1" name="Oval 10"/>
          <p:cNvSpPr/>
          <p:nvPr/>
        </p:nvSpPr>
        <p:spPr>
          <a:xfrm>
            <a:off x="3685032" y="2560320"/>
            <a:ext cx="457200" cy="457200"/>
          </a:xfrm>
          <a:prstGeom prst="ellipse">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FFFFFF"/>
                </a:solidFill>
                <a:latin typeface="Segoe UI"/>
              </a:rPr>
              <a:t>2</a:t>
            </a:r>
          </a:p>
        </p:txBody>
      </p:sp>
      <p:sp>
        <p:nvSpPr>
          <p:cNvPr id="12" name="TextBox 11"/>
          <p:cNvSpPr txBox="1"/>
          <p:nvPr/>
        </p:nvSpPr>
        <p:spPr>
          <a:xfrm>
            <a:off x="3685032" y="3182112"/>
            <a:ext cx="2194560" cy="310896"/>
          </a:xfrm>
          <a:prstGeom prst="rect">
            <a:avLst/>
          </a:prstGeom>
          <a:noFill/>
        </p:spPr>
        <p:txBody>
          <a:bodyPr wrap="square" anchor="t" lIns="0" rIns="0" tIns="0" bIns="0">
            <a:spAutoFit/>
          </a:bodyPr>
          <a:lstStyle/>
          <a:p>
            <a:pPr algn="l">
              <a:lnSpc>
                <a:spcPct val="100000"/>
              </a:lnSpc>
            </a:pPr>
            <a:r>
              <a:rPr sz="1500" b="1" i="0">
                <a:solidFill>
                  <a:srgbClr val="10233A"/>
                </a:solidFill>
                <a:latin typeface="Segoe UI"/>
              </a:rPr>
              <a:t>Watch it build</a:t>
            </a:r>
          </a:p>
        </p:txBody>
      </p:sp>
      <p:sp>
        <p:nvSpPr>
          <p:cNvPr id="13" name="TextBox 12"/>
          <p:cNvSpPr txBox="1"/>
          <p:nvPr/>
        </p:nvSpPr>
        <p:spPr>
          <a:xfrm>
            <a:off x="3685032" y="3547872"/>
            <a:ext cx="2194560" cy="457200"/>
          </a:xfrm>
          <a:prstGeom prst="rect">
            <a:avLst/>
          </a:prstGeom>
          <a:noFill/>
        </p:spPr>
        <p:txBody>
          <a:bodyPr wrap="square" anchor="t" lIns="0" rIns="0" tIns="0" bIns="0">
            <a:spAutoFit/>
          </a:bodyPr>
          <a:lstStyle/>
          <a:p>
            <a:pPr algn="l">
              <a:lnSpc>
                <a:spcPct val="115000"/>
              </a:lnSpc>
            </a:pPr>
            <a:r>
              <a:rPr sz="1200" b="0" i="0">
                <a:solidFill>
                  <a:srgbClr val="64748B"/>
                </a:solidFill>
                <a:latin typeface="Segoe UI"/>
              </a:rPr>
              <a:t>sections appear as they finish</a:t>
            </a:r>
          </a:p>
        </p:txBody>
      </p:sp>
      <p:sp>
        <p:nvSpPr>
          <p:cNvPr id="14" name="Right Arrow 13"/>
          <p:cNvSpPr/>
          <p:nvPr/>
        </p:nvSpPr>
        <p:spPr>
          <a:xfrm>
            <a:off x="6044183" y="3108960"/>
            <a:ext cx="237744"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0216" y="2395728"/>
            <a:ext cx="2487168" cy="1691640"/>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6" name="Oval 15"/>
          <p:cNvSpPr/>
          <p:nvPr/>
        </p:nvSpPr>
        <p:spPr>
          <a:xfrm>
            <a:off x="6446520" y="2560320"/>
            <a:ext cx="457200" cy="45720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FFFFFF"/>
                </a:solidFill>
                <a:latin typeface="Segoe UI"/>
              </a:rPr>
              <a:t>3</a:t>
            </a:r>
          </a:p>
        </p:txBody>
      </p:sp>
      <p:sp>
        <p:nvSpPr>
          <p:cNvPr id="17" name="TextBox 16"/>
          <p:cNvSpPr txBox="1"/>
          <p:nvPr/>
        </p:nvSpPr>
        <p:spPr>
          <a:xfrm>
            <a:off x="6446520" y="3182112"/>
            <a:ext cx="2194560" cy="310896"/>
          </a:xfrm>
          <a:prstGeom prst="rect">
            <a:avLst/>
          </a:prstGeom>
          <a:noFill/>
        </p:spPr>
        <p:txBody>
          <a:bodyPr wrap="square" anchor="t" lIns="0" rIns="0" tIns="0" bIns="0">
            <a:spAutoFit/>
          </a:bodyPr>
          <a:lstStyle/>
          <a:p>
            <a:pPr algn="l">
              <a:lnSpc>
                <a:spcPct val="100000"/>
              </a:lnSpc>
            </a:pPr>
            <a:r>
              <a:rPr sz="1500" b="1" i="0">
                <a:solidFill>
                  <a:srgbClr val="15803D"/>
                </a:solidFill>
                <a:latin typeface="Segoe UI"/>
              </a:rPr>
              <a:t>Review what needs you</a:t>
            </a:r>
          </a:p>
        </p:txBody>
      </p:sp>
      <p:sp>
        <p:nvSpPr>
          <p:cNvPr id="18" name="TextBox 17"/>
          <p:cNvSpPr txBox="1"/>
          <p:nvPr/>
        </p:nvSpPr>
        <p:spPr>
          <a:xfrm>
            <a:off x="6446520" y="3547872"/>
            <a:ext cx="2194560" cy="457200"/>
          </a:xfrm>
          <a:prstGeom prst="rect">
            <a:avLst/>
          </a:prstGeom>
          <a:noFill/>
        </p:spPr>
        <p:txBody>
          <a:bodyPr wrap="square" anchor="t" lIns="0" rIns="0" tIns="0" bIns="0">
            <a:spAutoFit/>
          </a:bodyPr>
          <a:lstStyle/>
          <a:p>
            <a:pPr algn="l">
              <a:lnSpc>
                <a:spcPct val="115000"/>
              </a:lnSpc>
            </a:pPr>
            <a:r>
              <a:rPr sz="1200" b="0" i="0">
                <a:solidFill>
                  <a:srgbClr val="64748B"/>
                </a:solidFill>
                <a:latin typeface="Segoe UI"/>
              </a:rPr>
              <a:t>usually a handful of items</a:t>
            </a:r>
          </a:p>
        </p:txBody>
      </p:sp>
      <p:sp>
        <p:nvSpPr>
          <p:cNvPr id="19" name="Right Arrow 18"/>
          <p:cNvSpPr/>
          <p:nvPr/>
        </p:nvSpPr>
        <p:spPr>
          <a:xfrm>
            <a:off x="8805672" y="3108960"/>
            <a:ext cx="237744" cy="256032"/>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61704" y="2395728"/>
            <a:ext cx="2487168" cy="1691640"/>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1" name="Oval 20"/>
          <p:cNvSpPr/>
          <p:nvPr/>
        </p:nvSpPr>
        <p:spPr>
          <a:xfrm>
            <a:off x="9208008" y="2560320"/>
            <a:ext cx="457200" cy="45720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FFFFFF"/>
                </a:solidFill>
                <a:latin typeface="Segoe UI"/>
              </a:rPr>
              <a:t>4</a:t>
            </a:r>
          </a:p>
        </p:txBody>
      </p:sp>
      <p:sp>
        <p:nvSpPr>
          <p:cNvPr id="22" name="TextBox 21"/>
          <p:cNvSpPr txBox="1"/>
          <p:nvPr/>
        </p:nvSpPr>
        <p:spPr>
          <a:xfrm>
            <a:off x="9208008" y="3182112"/>
            <a:ext cx="2194560" cy="310896"/>
          </a:xfrm>
          <a:prstGeom prst="rect">
            <a:avLst/>
          </a:prstGeom>
          <a:noFill/>
        </p:spPr>
        <p:txBody>
          <a:bodyPr wrap="square" anchor="t" lIns="0" rIns="0" tIns="0" bIns="0">
            <a:spAutoFit/>
          </a:bodyPr>
          <a:lstStyle/>
          <a:p>
            <a:pPr algn="l">
              <a:lnSpc>
                <a:spcPct val="100000"/>
              </a:lnSpc>
            </a:pPr>
            <a:r>
              <a:rPr sz="1500" b="1" i="0">
                <a:solidFill>
                  <a:srgbClr val="15803D"/>
                </a:solidFill>
                <a:latin typeface="Segoe UI"/>
              </a:rPr>
              <a:t>Sign</a:t>
            </a:r>
          </a:p>
        </p:txBody>
      </p:sp>
      <p:sp>
        <p:nvSpPr>
          <p:cNvPr id="23" name="TextBox 22"/>
          <p:cNvSpPr txBox="1"/>
          <p:nvPr/>
        </p:nvSpPr>
        <p:spPr>
          <a:xfrm>
            <a:off x="9208008" y="3547872"/>
            <a:ext cx="2194560" cy="457200"/>
          </a:xfrm>
          <a:prstGeom prst="rect">
            <a:avLst/>
          </a:prstGeom>
          <a:noFill/>
        </p:spPr>
        <p:txBody>
          <a:bodyPr wrap="square" anchor="t" lIns="0" rIns="0" tIns="0" bIns="0">
            <a:spAutoFit/>
          </a:bodyPr>
          <a:lstStyle/>
          <a:p>
            <a:pPr algn="l">
              <a:lnSpc>
                <a:spcPct val="115000"/>
              </a:lnSpc>
            </a:pPr>
            <a:r>
              <a:rPr sz="1200" b="0" i="0">
                <a:solidFill>
                  <a:srgbClr val="64748B"/>
                </a:solidFill>
                <a:latin typeface="Segoe UI"/>
              </a:rPr>
              <a:t>enabled when nothing is blocking</a:t>
            </a:r>
          </a:p>
        </p:txBody>
      </p:sp>
      <p:sp>
        <p:nvSpPr>
          <p:cNvPr id="24" name="Rectangle 23"/>
          <p:cNvSpPr/>
          <p:nvPr/>
        </p:nvSpPr>
        <p:spPr>
          <a:xfrm>
            <a:off x="777240" y="4498848"/>
            <a:ext cx="5120640" cy="960120"/>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0F766E"/>
                </a:solidFill>
                <a:latin typeface="Segoe UI"/>
              </a:rPr>
              <a:t>The provider attests.</a:t>
            </a:r>
          </a:p>
          <a:p>
            <a:pPr algn="ctr"/>
            <a:r>
              <a:rPr sz="1700" b="0">
                <a:solidFill>
                  <a:srgbClr val="0F766E"/>
                </a:solidFill>
                <a:latin typeface="Segoe UI"/>
              </a:rPr>
              <a:t>They do not proofread.</a:t>
            </a:r>
          </a:p>
        </p:txBody>
      </p:sp>
      <p:sp>
        <p:nvSpPr>
          <p:cNvPr id="25" name="Rectangle 24"/>
          <p:cNvSpPr/>
          <p:nvPr/>
        </p:nvSpPr>
        <p:spPr>
          <a:xfrm>
            <a:off x="6263640" y="4498848"/>
            <a:ext cx="5120640" cy="960120"/>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0F766E"/>
                </a:solidFill>
                <a:latin typeface="Segoe UI"/>
              </a:rPr>
              <a:t>Nothing streams away.</a:t>
            </a:r>
          </a:p>
          <a:p>
            <a:pPr algn="ctr"/>
            <a:r>
              <a:rPr sz="1700" b="0">
                <a:solidFill>
                  <a:srgbClr val="0F766E"/>
                </a:solidFill>
                <a:latin typeface="Segoe UI"/>
              </a:rPr>
              <a:t>It streams into the 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THE NEW STEP</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Review and attest</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26</a:t>
            </a:r>
          </a:p>
        </p:txBody>
      </p:sp>
      <p:sp>
        <p:nvSpPr>
          <p:cNvPr id="5" name="Rectangle 4"/>
          <p:cNvSpPr/>
          <p:nvPr/>
        </p:nvSpPr>
        <p:spPr>
          <a:xfrm>
            <a:off x="777240" y="2029968"/>
            <a:ext cx="10607040" cy="356616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6" name="Rectangle 5"/>
          <p:cNvSpPr/>
          <p:nvPr/>
        </p:nvSpPr>
        <p:spPr>
          <a:xfrm>
            <a:off x="777240" y="2029968"/>
            <a:ext cx="10607040" cy="621792"/>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7" name="TextBox 6"/>
          <p:cNvSpPr txBox="1"/>
          <p:nvPr/>
        </p:nvSpPr>
        <p:spPr>
          <a:xfrm>
            <a:off x="978408" y="2194560"/>
            <a:ext cx="5852160" cy="310896"/>
          </a:xfrm>
          <a:prstGeom prst="rect">
            <a:avLst/>
          </a:prstGeom>
          <a:noFill/>
        </p:spPr>
        <p:txBody>
          <a:bodyPr wrap="square" anchor="t" lIns="0" rIns="0" tIns="0" bIns="0">
            <a:spAutoFit/>
          </a:bodyPr>
          <a:lstStyle/>
          <a:p>
            <a:pPr algn="l">
              <a:lnSpc>
                <a:spcPct val="100000"/>
              </a:lnSpc>
            </a:pPr>
            <a:r>
              <a:rPr sz="1600" b="1" i="0">
                <a:solidFill>
                  <a:srgbClr val="10233A"/>
                </a:solidFill>
                <a:latin typeface="Segoe UI"/>
              </a:rPr>
              <a:t>Review encounter  —  4 items need you</a:t>
            </a:r>
          </a:p>
        </p:txBody>
      </p:sp>
      <p:sp>
        <p:nvSpPr>
          <p:cNvPr id="8" name="Rounded Rectangle 7"/>
          <p:cNvSpPr/>
          <p:nvPr/>
        </p:nvSpPr>
        <p:spPr>
          <a:xfrm>
            <a:off x="7360920" y="2167128"/>
            <a:ext cx="2011680" cy="347472"/>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33445B"/>
                </a:solidFill>
                <a:latin typeface="Segoe UI"/>
              </a:rPr>
              <a:t>Accept all verified (22)</a:t>
            </a:r>
          </a:p>
        </p:txBody>
      </p:sp>
      <p:sp>
        <p:nvSpPr>
          <p:cNvPr id="9" name="Rounded Rectangle 8"/>
          <p:cNvSpPr/>
          <p:nvPr/>
        </p:nvSpPr>
        <p:spPr>
          <a:xfrm>
            <a:off x="9509760" y="2167128"/>
            <a:ext cx="1737360" cy="347472"/>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64748B"/>
                </a:solidFill>
                <a:latin typeface="Segoe UI"/>
              </a:rPr>
              <a:t>Sign &amp; Submit</a:t>
            </a:r>
          </a:p>
        </p:txBody>
      </p:sp>
      <p:sp>
        <p:nvSpPr>
          <p:cNvPr id="10" name="Rectangle 9"/>
          <p:cNvSpPr/>
          <p:nvPr/>
        </p:nvSpPr>
        <p:spPr>
          <a:xfrm>
            <a:off x="978408" y="2779776"/>
            <a:ext cx="5074920" cy="603504"/>
          </a:xfrm>
          <a:prstGeom prst="rect">
            <a:avLst/>
          </a:prstGeom>
          <a:solidFill>
            <a:srgbClr val="FDF0D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1" name="Oval 10"/>
          <p:cNvSpPr/>
          <p:nvPr/>
        </p:nvSpPr>
        <p:spPr>
          <a:xfrm>
            <a:off x="1088136" y="2944368"/>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a:t>
            </a:r>
          </a:p>
        </p:txBody>
      </p:sp>
      <p:sp>
        <p:nvSpPr>
          <p:cNvPr id="12" name="TextBox 11"/>
          <p:cNvSpPr txBox="1"/>
          <p:nvPr/>
        </p:nvSpPr>
        <p:spPr>
          <a:xfrm>
            <a:off x="1472184" y="2834640"/>
            <a:ext cx="2377440" cy="237744"/>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Follow-up date</a:t>
            </a:r>
          </a:p>
        </p:txBody>
      </p:sp>
      <p:sp>
        <p:nvSpPr>
          <p:cNvPr id="13" name="TextBox 12"/>
          <p:cNvSpPr txBox="1"/>
          <p:nvPr/>
        </p:nvSpPr>
        <p:spPr>
          <a:xfrm>
            <a:off x="1472184" y="3090672"/>
            <a:ext cx="3017520" cy="237744"/>
          </a:xfrm>
          <a:prstGeom prst="rect">
            <a:avLst/>
          </a:prstGeom>
          <a:noFill/>
        </p:spPr>
        <p:txBody>
          <a:bodyPr wrap="square" anchor="t" lIns="0" rIns="0" tIns="0" bIns="0">
            <a:spAutoFit/>
          </a:bodyPr>
          <a:lstStyle/>
          <a:p>
            <a:pPr algn="l">
              <a:lnSpc>
                <a:spcPct val="100000"/>
              </a:lnSpc>
            </a:pPr>
            <a:r>
              <a:rPr sz="1100" b="0" i="0">
                <a:solidFill>
                  <a:srgbClr val="33445B"/>
                </a:solidFill>
                <a:latin typeface="Segoe UI"/>
              </a:rPr>
              <a:t>"next week"  -&gt;  21 Mar</a:t>
            </a:r>
          </a:p>
        </p:txBody>
      </p:sp>
      <p:sp>
        <p:nvSpPr>
          <p:cNvPr id="14" name="Rectangle 13"/>
          <p:cNvSpPr/>
          <p:nvPr/>
        </p:nvSpPr>
        <p:spPr>
          <a:xfrm>
            <a:off x="6263640" y="2779776"/>
            <a:ext cx="4919472" cy="60350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5" name="TextBox 14"/>
          <p:cNvSpPr txBox="1"/>
          <p:nvPr/>
        </p:nvSpPr>
        <p:spPr>
          <a:xfrm>
            <a:off x="6409944" y="2852928"/>
            <a:ext cx="4663440" cy="237744"/>
          </a:xfrm>
          <a:prstGeom prst="rect">
            <a:avLst/>
          </a:prstGeom>
          <a:noFill/>
        </p:spPr>
        <p:txBody>
          <a:bodyPr wrap="square" anchor="t" lIns="0" rIns="0" tIns="0" bIns="0">
            <a:spAutoFit/>
          </a:bodyPr>
          <a:lstStyle/>
          <a:p>
            <a:pPr algn="l">
              <a:lnSpc>
                <a:spcPct val="100000"/>
              </a:lnSpc>
            </a:pPr>
            <a:r>
              <a:rPr sz="1150" b="0" i="0">
                <a:solidFill>
                  <a:srgbClr val="33445B"/>
                </a:solidFill>
                <a:latin typeface="Segoe UI"/>
              </a:rPr>
              <a:t>"...I'll see you next week"</a:t>
            </a:r>
          </a:p>
        </p:txBody>
      </p:sp>
      <p:sp>
        <p:nvSpPr>
          <p:cNvPr id="16" name="TextBox 15"/>
          <p:cNvSpPr txBox="1"/>
          <p:nvPr/>
        </p:nvSpPr>
        <p:spPr>
          <a:xfrm>
            <a:off x="6409944" y="3108960"/>
            <a:ext cx="4663440" cy="219456"/>
          </a:xfrm>
          <a:prstGeom prst="rect">
            <a:avLst/>
          </a:prstGeom>
          <a:noFill/>
        </p:spPr>
        <p:txBody>
          <a:bodyPr wrap="square" anchor="t" lIns="0" rIns="0" tIns="0" bIns="0">
            <a:spAutoFit/>
          </a:bodyPr>
          <a:lstStyle/>
          <a:p>
            <a:pPr algn="l">
              <a:lnSpc>
                <a:spcPct val="100000"/>
              </a:lnSpc>
            </a:pPr>
            <a:r>
              <a:rPr sz="1050" b="1" i="0">
                <a:solidFill>
                  <a:srgbClr val="B45309"/>
                </a:solidFill>
                <a:latin typeface="Segoe UI"/>
              </a:rPr>
              <a:t>your dictation</a:t>
            </a:r>
          </a:p>
        </p:txBody>
      </p:sp>
      <p:sp>
        <p:nvSpPr>
          <p:cNvPr id="17" name="Rectangle 16"/>
          <p:cNvSpPr/>
          <p:nvPr/>
        </p:nvSpPr>
        <p:spPr>
          <a:xfrm>
            <a:off x="978408" y="3456432"/>
            <a:ext cx="5074920" cy="603504"/>
          </a:xfrm>
          <a:prstGeom prst="rect">
            <a:avLst/>
          </a:prstGeom>
          <a:solidFill>
            <a:srgbClr val="FDF0D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8" name="Oval 17"/>
          <p:cNvSpPr/>
          <p:nvPr/>
        </p:nvSpPr>
        <p:spPr>
          <a:xfrm>
            <a:off x="1088136" y="3621024"/>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a:t>
            </a:r>
          </a:p>
        </p:txBody>
      </p:sp>
      <p:sp>
        <p:nvSpPr>
          <p:cNvPr id="19" name="TextBox 18"/>
          <p:cNvSpPr txBox="1"/>
          <p:nvPr/>
        </p:nvSpPr>
        <p:spPr>
          <a:xfrm>
            <a:off x="1472184" y="3511296"/>
            <a:ext cx="2377440" cy="237744"/>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CPT 99309</a:t>
            </a:r>
          </a:p>
        </p:txBody>
      </p:sp>
      <p:sp>
        <p:nvSpPr>
          <p:cNvPr id="20" name="TextBox 19"/>
          <p:cNvSpPr txBox="1"/>
          <p:nvPr/>
        </p:nvSpPr>
        <p:spPr>
          <a:xfrm>
            <a:off x="1472184" y="3767328"/>
            <a:ext cx="3017520" cy="237744"/>
          </a:xfrm>
          <a:prstGeom prst="rect">
            <a:avLst/>
          </a:prstGeom>
          <a:noFill/>
        </p:spPr>
        <p:txBody>
          <a:bodyPr wrap="square" anchor="t" lIns="0" rIns="0" tIns="0" bIns="0">
            <a:spAutoFit/>
          </a:bodyPr>
          <a:lstStyle/>
          <a:p>
            <a:pPr algn="l">
              <a:lnSpc>
                <a:spcPct val="100000"/>
              </a:lnSpc>
            </a:pPr>
            <a:r>
              <a:rPr sz="1100" b="0" i="0">
                <a:solidFill>
                  <a:srgbClr val="33445B"/>
                </a:solidFill>
                <a:latin typeface="Segoe UI"/>
              </a:rPr>
              <a:t>moderate complexity</a:t>
            </a:r>
          </a:p>
        </p:txBody>
      </p:sp>
      <p:sp>
        <p:nvSpPr>
          <p:cNvPr id="21" name="Rectangle 20"/>
          <p:cNvSpPr/>
          <p:nvPr/>
        </p:nvSpPr>
        <p:spPr>
          <a:xfrm>
            <a:off x="6263640" y="3456432"/>
            <a:ext cx="4919472" cy="60350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2" name="TextBox 21"/>
          <p:cNvSpPr txBox="1"/>
          <p:nvPr/>
        </p:nvSpPr>
        <p:spPr>
          <a:xfrm>
            <a:off x="6409944" y="3529584"/>
            <a:ext cx="4663440" cy="237744"/>
          </a:xfrm>
          <a:prstGeom prst="rect">
            <a:avLst/>
          </a:prstGeom>
          <a:noFill/>
        </p:spPr>
        <p:txBody>
          <a:bodyPr wrap="square" anchor="t" lIns="0" rIns="0" tIns="0" bIns="0">
            <a:spAutoFit/>
          </a:bodyPr>
          <a:lstStyle/>
          <a:p>
            <a:pPr algn="l">
              <a:lnSpc>
                <a:spcPct val="100000"/>
              </a:lnSpc>
            </a:pPr>
            <a:r>
              <a:rPr sz="1150" b="0" i="0">
                <a:solidFill>
                  <a:srgbClr val="33445B"/>
                </a:solidFill>
                <a:latin typeface="Segoe UI"/>
              </a:rPr>
              <a:t>3 chronic conditions</a:t>
            </a:r>
          </a:p>
        </p:txBody>
      </p:sp>
      <p:sp>
        <p:nvSpPr>
          <p:cNvPr id="23" name="TextBox 22"/>
          <p:cNvSpPr txBox="1"/>
          <p:nvPr/>
        </p:nvSpPr>
        <p:spPr>
          <a:xfrm>
            <a:off x="6409944" y="3785616"/>
            <a:ext cx="4663440" cy="219456"/>
          </a:xfrm>
          <a:prstGeom prst="rect">
            <a:avLst/>
          </a:prstGeom>
          <a:noFill/>
        </p:spPr>
        <p:txBody>
          <a:bodyPr wrap="square" anchor="t" lIns="0" rIns="0" tIns="0" bIns="0">
            <a:spAutoFit/>
          </a:bodyPr>
          <a:lstStyle/>
          <a:p>
            <a:pPr algn="l">
              <a:lnSpc>
                <a:spcPct val="100000"/>
              </a:lnSpc>
            </a:pPr>
            <a:r>
              <a:rPr sz="1050" b="1" i="0">
                <a:solidFill>
                  <a:srgbClr val="B45309"/>
                </a:solidFill>
                <a:latin typeface="Segoe UI"/>
              </a:rPr>
              <a:t>visit time not documented</a:t>
            </a:r>
          </a:p>
        </p:txBody>
      </p:sp>
      <p:sp>
        <p:nvSpPr>
          <p:cNvPr id="24" name="Rectangle 23"/>
          <p:cNvSpPr/>
          <p:nvPr/>
        </p:nvSpPr>
        <p:spPr>
          <a:xfrm>
            <a:off x="978408" y="4133088"/>
            <a:ext cx="5074920" cy="603504"/>
          </a:xfrm>
          <a:prstGeom prst="rect">
            <a:avLst/>
          </a:prstGeom>
          <a:solidFill>
            <a:srgbClr val="FCE7E7"/>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5" name="Oval 24"/>
          <p:cNvSpPr/>
          <p:nvPr/>
        </p:nvSpPr>
        <p:spPr>
          <a:xfrm>
            <a:off x="1088136" y="4297680"/>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X</a:t>
            </a:r>
          </a:p>
        </p:txBody>
      </p:sp>
      <p:sp>
        <p:nvSpPr>
          <p:cNvPr id="26" name="TextBox 25"/>
          <p:cNvSpPr txBox="1"/>
          <p:nvPr/>
        </p:nvSpPr>
        <p:spPr>
          <a:xfrm>
            <a:off x="1472184" y="4187952"/>
            <a:ext cx="2377440" cy="237744"/>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Assessment</a:t>
            </a:r>
          </a:p>
        </p:txBody>
      </p:sp>
      <p:sp>
        <p:nvSpPr>
          <p:cNvPr id="27" name="TextBox 26"/>
          <p:cNvSpPr txBox="1"/>
          <p:nvPr/>
        </p:nvSpPr>
        <p:spPr>
          <a:xfrm>
            <a:off x="1472184" y="4443984"/>
            <a:ext cx="3017520" cy="237744"/>
          </a:xfrm>
          <a:prstGeom prst="rect">
            <a:avLst/>
          </a:prstGeom>
          <a:noFill/>
        </p:spPr>
        <p:txBody>
          <a:bodyPr wrap="square" anchor="t" lIns="0" rIns="0" tIns="0" bIns="0">
            <a:spAutoFit/>
          </a:bodyPr>
          <a:lstStyle/>
          <a:p>
            <a:pPr algn="l">
              <a:lnSpc>
                <a:spcPct val="100000"/>
              </a:lnSpc>
            </a:pPr>
            <a:r>
              <a:rPr sz="1100" b="0" i="0">
                <a:solidFill>
                  <a:srgbClr val="33445B"/>
                </a:solidFill>
                <a:latin typeface="Segoe UI"/>
              </a:rPr>
              <a:t>"...hypertension stable"</a:t>
            </a:r>
          </a:p>
        </p:txBody>
      </p:sp>
      <p:sp>
        <p:nvSpPr>
          <p:cNvPr id="28" name="Rectangle 27"/>
          <p:cNvSpPr/>
          <p:nvPr/>
        </p:nvSpPr>
        <p:spPr>
          <a:xfrm>
            <a:off x="6263640" y="4133088"/>
            <a:ext cx="4919472" cy="60350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29" name="TextBox 28"/>
          <p:cNvSpPr txBox="1"/>
          <p:nvPr/>
        </p:nvSpPr>
        <p:spPr>
          <a:xfrm>
            <a:off x="6409944" y="4206240"/>
            <a:ext cx="4663440" cy="237744"/>
          </a:xfrm>
          <a:prstGeom prst="rect">
            <a:avLst/>
          </a:prstGeom>
          <a:noFill/>
        </p:spPr>
        <p:txBody>
          <a:bodyPr wrap="square" anchor="t" lIns="0" rIns="0" tIns="0" bIns="0">
            <a:spAutoFit/>
          </a:bodyPr>
          <a:lstStyle/>
          <a:p>
            <a:pPr algn="l">
              <a:lnSpc>
                <a:spcPct val="100000"/>
              </a:lnSpc>
            </a:pPr>
            <a:r>
              <a:rPr sz="1150" b="0" i="0">
                <a:solidFill>
                  <a:srgbClr val="33445B"/>
                </a:solidFill>
                <a:latin typeface="Segoe UI"/>
              </a:rPr>
              <a:t>Nothing in your note supports this</a:t>
            </a:r>
          </a:p>
        </p:txBody>
      </p:sp>
      <p:sp>
        <p:nvSpPr>
          <p:cNvPr id="30" name="TextBox 29"/>
          <p:cNvSpPr txBox="1"/>
          <p:nvPr/>
        </p:nvSpPr>
        <p:spPr>
          <a:xfrm>
            <a:off x="6409944" y="4462272"/>
            <a:ext cx="4663440" cy="219456"/>
          </a:xfrm>
          <a:prstGeom prst="rect">
            <a:avLst/>
          </a:prstGeom>
          <a:noFill/>
        </p:spPr>
        <p:txBody>
          <a:bodyPr wrap="square" anchor="t" lIns="0" rIns="0" tIns="0" bIns="0">
            <a:spAutoFit/>
          </a:bodyPr>
          <a:lstStyle/>
          <a:p>
            <a:pPr algn="l">
              <a:lnSpc>
                <a:spcPct val="100000"/>
              </a:lnSpc>
            </a:pPr>
            <a:r>
              <a:rPr sz="1050" b="1" i="0">
                <a:solidFill>
                  <a:srgbClr val="B91C1C"/>
                </a:solidFill>
                <a:latin typeface="Segoe UI"/>
              </a:rPr>
              <a:t>Cannot submit</a:t>
            </a:r>
          </a:p>
        </p:txBody>
      </p:sp>
      <p:sp>
        <p:nvSpPr>
          <p:cNvPr id="31" name="Rectangle 30"/>
          <p:cNvSpPr/>
          <p:nvPr/>
        </p:nvSpPr>
        <p:spPr>
          <a:xfrm>
            <a:off x="978408" y="4809744"/>
            <a:ext cx="5074920" cy="603504"/>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32" name="Oval 31"/>
          <p:cNvSpPr/>
          <p:nvPr/>
        </p:nvSpPr>
        <p:spPr>
          <a:xfrm>
            <a:off x="1088136" y="4974336"/>
            <a:ext cx="274320" cy="274320"/>
          </a:xfrm>
          <a:prstGeom prst="ellips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Segoe UI"/>
              </a:rPr>
              <a:t>O</a:t>
            </a:r>
          </a:p>
        </p:txBody>
      </p:sp>
      <p:sp>
        <p:nvSpPr>
          <p:cNvPr id="33" name="TextBox 32"/>
          <p:cNvSpPr txBox="1"/>
          <p:nvPr/>
        </p:nvSpPr>
        <p:spPr>
          <a:xfrm>
            <a:off x="1472184" y="4864608"/>
            <a:ext cx="2377440" cy="237744"/>
          </a:xfrm>
          <a:prstGeom prst="rect">
            <a:avLst/>
          </a:prstGeom>
          <a:noFill/>
        </p:spPr>
        <p:txBody>
          <a:bodyPr wrap="square" anchor="t" lIns="0" rIns="0" tIns="0" bIns="0">
            <a:spAutoFit/>
          </a:bodyPr>
          <a:lstStyle/>
          <a:p>
            <a:pPr algn="l">
              <a:lnSpc>
                <a:spcPct val="100000"/>
              </a:lnSpc>
            </a:pPr>
            <a:r>
              <a:rPr sz="1250" b="1" i="0">
                <a:solidFill>
                  <a:srgbClr val="10233A"/>
                </a:solidFill>
                <a:latin typeface="Segoe UI"/>
              </a:rPr>
              <a:t>Vitals</a:t>
            </a:r>
          </a:p>
        </p:txBody>
      </p:sp>
      <p:sp>
        <p:nvSpPr>
          <p:cNvPr id="34" name="TextBox 33"/>
          <p:cNvSpPr txBox="1"/>
          <p:nvPr/>
        </p:nvSpPr>
        <p:spPr>
          <a:xfrm>
            <a:off x="1472184" y="5120640"/>
            <a:ext cx="3017520" cy="237744"/>
          </a:xfrm>
          <a:prstGeom prst="rect">
            <a:avLst/>
          </a:prstGeom>
          <a:noFill/>
        </p:spPr>
        <p:txBody>
          <a:bodyPr wrap="square" anchor="t" lIns="0" rIns="0" tIns="0" bIns="0">
            <a:spAutoFit/>
          </a:bodyPr>
          <a:lstStyle/>
          <a:p>
            <a:pPr algn="l">
              <a:lnSpc>
                <a:spcPct val="100000"/>
              </a:lnSpc>
            </a:pPr>
            <a:r>
              <a:rPr sz="1100" b="0" i="0">
                <a:solidFill>
                  <a:srgbClr val="33445B"/>
                </a:solidFill>
                <a:latin typeface="Segoe UI"/>
              </a:rPr>
              <a:t>not documented</a:t>
            </a:r>
          </a:p>
        </p:txBody>
      </p:sp>
      <p:sp>
        <p:nvSpPr>
          <p:cNvPr id="35" name="Rectangle 34"/>
          <p:cNvSpPr/>
          <p:nvPr/>
        </p:nvSpPr>
        <p:spPr>
          <a:xfrm>
            <a:off x="6263640" y="4809744"/>
            <a:ext cx="4919472" cy="60350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36" name="TextBox 35"/>
          <p:cNvSpPr txBox="1"/>
          <p:nvPr/>
        </p:nvSpPr>
        <p:spPr>
          <a:xfrm>
            <a:off x="6409944" y="4882896"/>
            <a:ext cx="4663440" cy="237744"/>
          </a:xfrm>
          <a:prstGeom prst="rect">
            <a:avLst/>
          </a:prstGeom>
          <a:noFill/>
        </p:spPr>
        <p:txBody>
          <a:bodyPr wrap="square" anchor="t" lIns="0" rIns="0" tIns="0" bIns="0">
            <a:spAutoFit/>
          </a:bodyPr>
          <a:lstStyle/>
          <a:p>
            <a:pPr algn="l">
              <a:lnSpc>
                <a:spcPct val="100000"/>
              </a:lnSpc>
            </a:pPr>
            <a:r>
              <a:rPr sz="1150" b="0" i="0">
                <a:solidFill>
                  <a:srgbClr val="33445B"/>
                </a:solidFill>
                <a:latin typeface="Segoe UI"/>
              </a:rPr>
              <a:t>Required for this template</a:t>
            </a:r>
          </a:p>
        </p:txBody>
      </p:sp>
      <p:sp>
        <p:nvSpPr>
          <p:cNvPr id="37" name="Rectangle 36"/>
          <p:cNvSpPr/>
          <p:nvPr/>
        </p:nvSpPr>
        <p:spPr>
          <a:xfrm>
            <a:off x="978408" y="5522976"/>
            <a:ext cx="10204704" cy="438912"/>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38" name="TextBox 37"/>
          <p:cNvSpPr txBox="1"/>
          <p:nvPr/>
        </p:nvSpPr>
        <p:spPr>
          <a:xfrm>
            <a:off x="1143000" y="5623560"/>
            <a:ext cx="8229600" cy="237744"/>
          </a:xfrm>
          <a:prstGeom prst="rect">
            <a:avLst/>
          </a:prstGeom>
          <a:noFill/>
        </p:spPr>
        <p:txBody>
          <a:bodyPr wrap="square" anchor="t" lIns="0" rIns="0" tIns="0" bIns="0">
            <a:spAutoFit/>
          </a:bodyPr>
          <a:lstStyle/>
          <a:p>
            <a:pPr algn="l">
              <a:lnSpc>
                <a:spcPct val="100000"/>
              </a:lnSpc>
            </a:pPr>
            <a:r>
              <a:rPr sz="1200" b="1" i="0">
                <a:solidFill>
                  <a:srgbClr val="15803D"/>
                </a:solidFill>
                <a:latin typeface="Segoe UI"/>
              </a:rPr>
              <a:t>VERIFIED (22)  —  value and evidence confirmed</a:t>
            </a:r>
          </a:p>
        </p:txBody>
      </p:sp>
      <p:sp>
        <p:nvSpPr>
          <p:cNvPr id="39" name="TextBox 38"/>
          <p:cNvSpPr txBox="1"/>
          <p:nvPr/>
        </p:nvSpPr>
        <p:spPr>
          <a:xfrm>
            <a:off x="777240" y="5779008"/>
            <a:ext cx="10607040" cy="411480"/>
          </a:xfrm>
          <a:prstGeom prst="rect">
            <a:avLst/>
          </a:prstGeom>
          <a:noFill/>
        </p:spPr>
        <p:txBody>
          <a:bodyPr wrap="square" anchor="t" lIns="0" rIns="0" tIns="0" bIns="0">
            <a:spAutoFit/>
          </a:bodyPr>
          <a:lstStyle/>
          <a:p>
            <a:pPr algn="ctr">
              <a:lnSpc>
                <a:spcPct val="100000"/>
              </a:lnSpc>
            </a:pPr>
            <a:r>
              <a:rPr sz="1700" b="1" i="0">
                <a:solidFill>
                  <a:srgbClr val="0F766E"/>
                </a:solidFill>
                <a:latin typeface="Segoe UI"/>
              </a:rPr>
              <a:t>Hover any value and it shows you the words it came from.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THE HARD QUESTION</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How will we know it is actually accurate?</a:t>
            </a:r>
          </a:p>
        </p:txBody>
      </p:sp>
      <p:sp>
        <p:nvSpPr>
          <p:cNvPr id="4" name="TextBox 3"/>
          <p:cNvSpPr txBox="1"/>
          <p:nvPr/>
        </p:nvSpPr>
        <p:spPr>
          <a:xfrm>
            <a:off x="777240" y="1847088"/>
            <a:ext cx="10424160" cy="365760"/>
          </a:xfrm>
          <a:prstGeom prst="rect">
            <a:avLst/>
          </a:prstGeom>
          <a:noFill/>
        </p:spPr>
        <p:txBody>
          <a:bodyPr wrap="square" anchor="t" lIns="0" rIns="0" tIns="0" bIns="0">
            <a:spAutoFit/>
          </a:bodyPr>
          <a:lstStyle/>
          <a:p>
            <a:pPr algn="l">
              <a:lnSpc>
                <a:spcPct val="100000"/>
              </a:lnSpc>
            </a:pPr>
            <a:r>
              <a:rPr sz="1550" b="0" i="0">
                <a:solidFill>
                  <a:srgbClr val="64748B"/>
                </a:solidFill>
                <a:latin typeface="Segoe UI"/>
              </a:rPr>
              <a:t>There is no dataset of correct answers today. There does not need to be, for Phase 1.</a:t>
            </a:r>
          </a:p>
        </p:txBody>
      </p:sp>
      <p:sp>
        <p:nvSpPr>
          <p:cNvPr id="5" name="TextBox 4"/>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27</a:t>
            </a:r>
          </a:p>
        </p:txBody>
      </p:sp>
      <p:sp>
        <p:nvSpPr>
          <p:cNvPr id="6" name="Rectangle 5"/>
          <p:cNvSpPr/>
          <p:nvPr/>
        </p:nvSpPr>
        <p:spPr>
          <a:xfrm>
            <a:off x="777240" y="2761488"/>
            <a:ext cx="5120640" cy="1024128"/>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Does it invent anything?</a:t>
            </a:r>
          </a:p>
          <a:p>
            <a:pPr algn="ctr"/>
            <a:r>
              <a:rPr sz="1500" b="0">
                <a:solidFill>
                  <a:srgbClr val="15803D"/>
                </a:solidFill>
                <a:latin typeface="Segoe UI"/>
              </a:rPr>
              <a:t/>
            </a:r>
          </a:p>
          <a:p>
            <a:pPr algn="ctr"/>
            <a:r>
              <a:rPr sz="1500" b="0">
                <a:solidFill>
                  <a:srgbClr val="15803D"/>
                </a:solidFill>
                <a:latin typeface="Segoe UI"/>
              </a:rPr>
              <a:t>Every statement must point at its source.</a:t>
            </a:r>
          </a:p>
          <a:p>
            <a:pPr algn="ctr"/>
            <a:r>
              <a:rPr sz="1500" b="0">
                <a:solidFill>
                  <a:srgbClr val="15803D"/>
                </a:solidFill>
                <a:latin typeface="Segoe UI"/>
              </a:rPr>
              <a:t>No reference data needed.</a:t>
            </a:r>
          </a:p>
        </p:txBody>
      </p:sp>
      <p:sp>
        <p:nvSpPr>
          <p:cNvPr id="7" name="Rectangle 6"/>
          <p:cNvSpPr/>
          <p:nvPr/>
        </p:nvSpPr>
        <p:spPr>
          <a:xfrm>
            <a:off x="6217920" y="2761488"/>
            <a:ext cx="5120640" cy="1024128"/>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Does it miss anything?</a:t>
            </a:r>
          </a:p>
          <a:p>
            <a:pPr algn="ctr"/>
            <a:r>
              <a:rPr sz="1500" b="0">
                <a:solidFill>
                  <a:srgbClr val="15803D"/>
                </a:solidFill>
                <a:latin typeface="Segoe UI"/>
              </a:rPr>
              <a:t/>
            </a:r>
          </a:p>
          <a:p>
            <a:pPr algn="ctr"/>
            <a:r>
              <a:rPr sz="1500" b="0">
                <a:solidFill>
                  <a:srgbClr val="15803D"/>
                </a:solidFill>
                <a:latin typeface="Segoe UI"/>
              </a:rPr>
              <a:t>Checked against the required-items list</a:t>
            </a:r>
          </a:p>
          <a:p>
            <a:pPr algn="ctr"/>
            <a:r>
              <a:rPr sz="1500" b="0">
                <a:solidFill>
                  <a:srgbClr val="15803D"/>
                </a:solidFill>
                <a:latin typeface="Segoe UI"/>
              </a:rPr>
              <a:t>the compiler already produces.</a:t>
            </a:r>
          </a:p>
        </p:txBody>
      </p:sp>
      <p:sp>
        <p:nvSpPr>
          <p:cNvPr id="8" name="Rectangle 7"/>
          <p:cNvSpPr/>
          <p:nvPr/>
        </p:nvSpPr>
        <p:spPr>
          <a:xfrm>
            <a:off x="777240" y="3950208"/>
            <a:ext cx="5120640" cy="1024128"/>
          </a:xfrm>
          <a:prstGeom prst="rect">
            <a:avLst/>
          </a:prstGeom>
          <a:solidFill>
            <a:srgbClr val="DDF2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5803D"/>
                </a:solidFill>
                <a:latin typeface="Segoe UI"/>
              </a:rPr>
              <a:t>Are the fixed things right?</a:t>
            </a:r>
          </a:p>
          <a:p>
            <a:pPr algn="ctr"/>
            <a:r>
              <a:rPr sz="1500" b="0">
                <a:solidFill>
                  <a:srgbClr val="15803D"/>
                </a:solidFill>
                <a:latin typeface="Segoe UI"/>
              </a:rPr>
              <a:t/>
            </a:r>
          </a:p>
          <a:p>
            <a:pPr algn="ctr"/>
            <a:r>
              <a:rPr sz="1500" b="0">
                <a:solidFill>
                  <a:srgbClr val="15803D"/>
                </a:solidFill>
                <a:latin typeface="Segoe UI"/>
              </a:rPr>
              <a:t>Valid JSON, codes, shortcuts.</a:t>
            </a:r>
          </a:p>
          <a:p>
            <a:pPr algn="ctr"/>
            <a:r>
              <a:rPr sz="1500" b="0">
                <a:solidFill>
                  <a:srgbClr val="15803D"/>
                </a:solidFill>
                <a:latin typeface="Segoe UI"/>
              </a:rPr>
              <a:t>Ordinary unit tests.</a:t>
            </a:r>
          </a:p>
        </p:txBody>
      </p:sp>
      <p:sp>
        <p:nvSpPr>
          <p:cNvPr id="9" name="Rectangle 8"/>
          <p:cNvSpPr/>
          <p:nvPr/>
        </p:nvSpPr>
        <p:spPr>
          <a:xfrm>
            <a:off x="6217920" y="3950208"/>
            <a:ext cx="5120640" cy="1024128"/>
          </a:xfrm>
          <a:prstGeom prst="rect">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B45309"/>
                </a:solidFill>
                <a:latin typeface="Segoe UI"/>
              </a:rPr>
              <a:t>Are the values clinically right?</a:t>
            </a:r>
          </a:p>
          <a:p>
            <a:pPr algn="ctr"/>
            <a:r>
              <a:rPr sz="1500" b="0">
                <a:solidFill>
                  <a:srgbClr val="B45309"/>
                </a:solidFill>
                <a:latin typeface="Segoe UI"/>
              </a:rPr>
              <a:t/>
            </a:r>
          </a:p>
          <a:p>
            <a:pPr algn="ctr"/>
            <a:r>
              <a:rPr sz="1500" b="0">
                <a:solidFill>
                  <a:srgbClr val="B45309"/>
                </a:solidFill>
                <a:latin typeface="Segoe UI"/>
              </a:rPr>
              <a:t>Needs real reference data.</a:t>
            </a:r>
          </a:p>
          <a:p>
            <a:pPr algn="ctr"/>
            <a:r>
              <a:rPr sz="1500" b="0">
                <a:solidFill>
                  <a:srgbClr val="B45309"/>
                </a:solidFill>
                <a:latin typeface="Segoe UI"/>
              </a:rPr>
              <a:t>This is the part that takes work.</a:t>
            </a:r>
          </a:p>
        </p:txBody>
      </p:sp>
      <p:sp>
        <p:nvSpPr>
          <p:cNvPr id="10" name="Rectangle 9"/>
          <p:cNvSpPr/>
          <p:nvPr/>
        </p:nvSpPr>
        <p:spPr>
          <a:xfrm>
            <a:off x="777240" y="5276088"/>
            <a:ext cx="10607040" cy="1097280"/>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0F766E"/>
                </a:solidFill>
                <a:latin typeface="Segoe UI"/>
              </a:rPr>
              <a:t>The rule "capture, never invent" is a faithfulness rule.</a:t>
            </a:r>
          </a:p>
          <a:p>
            <a:pPr algn="ctr"/>
            <a:r>
              <a:rPr sz="1800" b="0">
                <a:solidFill>
                  <a:srgbClr val="0F766E"/>
                </a:solidFill>
                <a:latin typeface="Segoe UI"/>
              </a:rPr>
              <a:t>We can measure that from day one, with no reference dataset at 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DELIVERY</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How we get there</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28</a:t>
            </a:r>
          </a:p>
        </p:txBody>
      </p:sp>
      <p:sp>
        <p:nvSpPr>
          <p:cNvPr id="5" name="Rectangle 4"/>
          <p:cNvSpPr/>
          <p:nvPr/>
        </p:nvSpPr>
        <p:spPr>
          <a:xfrm>
            <a:off x="777240" y="2304288"/>
            <a:ext cx="10607040" cy="877824"/>
          </a:xfrm>
          <a:prstGeom prst="rect">
            <a:avLst/>
          </a:prstGeom>
          <a:solidFill>
            <a:srgbClr val="FDF0D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6" name="TextBox 5"/>
          <p:cNvSpPr txBox="1"/>
          <p:nvPr/>
        </p:nvSpPr>
        <p:spPr>
          <a:xfrm>
            <a:off x="960120" y="2414016"/>
            <a:ext cx="1463040" cy="237744"/>
          </a:xfrm>
          <a:prstGeom prst="rect">
            <a:avLst/>
          </a:prstGeom>
          <a:noFill/>
        </p:spPr>
        <p:txBody>
          <a:bodyPr wrap="square" anchor="t" lIns="0" rIns="0" tIns="0" bIns="0">
            <a:spAutoFit/>
          </a:bodyPr>
          <a:lstStyle/>
          <a:p>
            <a:pPr algn="l">
              <a:lnSpc>
                <a:spcPct val="100000"/>
              </a:lnSpc>
            </a:pPr>
            <a:r>
              <a:rPr sz="1200" b="1" i="0">
                <a:solidFill>
                  <a:srgbClr val="B45309"/>
                </a:solidFill>
                <a:latin typeface="Segoe UI"/>
              </a:rPr>
              <a:t>NOW</a:t>
            </a:r>
          </a:p>
        </p:txBody>
      </p:sp>
      <p:sp>
        <p:nvSpPr>
          <p:cNvPr id="7" name="TextBox 6"/>
          <p:cNvSpPr txBox="1"/>
          <p:nvPr/>
        </p:nvSpPr>
        <p:spPr>
          <a:xfrm>
            <a:off x="960120" y="2670048"/>
            <a:ext cx="2377440" cy="256032"/>
          </a:xfrm>
          <a:prstGeom prst="rect">
            <a:avLst/>
          </a:prstGeom>
          <a:noFill/>
        </p:spPr>
        <p:txBody>
          <a:bodyPr wrap="square" anchor="t" lIns="0" rIns="0" tIns="0" bIns="0">
            <a:spAutoFit/>
          </a:bodyPr>
          <a:lstStyle/>
          <a:p>
            <a:pPr algn="l">
              <a:lnSpc>
                <a:spcPct val="100000"/>
              </a:lnSpc>
            </a:pPr>
            <a:r>
              <a:rPr sz="1300" b="1" i="0">
                <a:solidFill>
                  <a:srgbClr val="10233A"/>
                </a:solidFill>
                <a:latin typeface="Segoe UI"/>
              </a:rPr>
              <a:t>Verify and unblock</a:t>
            </a:r>
          </a:p>
        </p:txBody>
      </p:sp>
      <p:sp>
        <p:nvSpPr>
          <p:cNvPr id="8" name="TextBox 7"/>
          <p:cNvSpPr txBox="1"/>
          <p:nvPr/>
        </p:nvSpPr>
        <p:spPr>
          <a:xfrm>
            <a:off x="3657600" y="2450592"/>
            <a:ext cx="7589520" cy="640080"/>
          </a:xfrm>
          <a:prstGeom prst="rect">
            <a:avLst/>
          </a:prstGeom>
          <a:noFill/>
        </p:spPr>
        <p:txBody>
          <a:bodyPr wrap="square" anchor="t" lIns="0" rIns="0" tIns="0" bIns="0">
            <a:spAutoFit/>
          </a:bodyPr>
          <a:lstStyle/>
          <a:p>
            <a:pPr algn="l">
              <a:lnSpc>
                <a:spcPct val="112000"/>
              </a:lnSpc>
            </a:pPr>
            <a:r>
              <a:rPr sz="1150" b="0" i="0">
                <a:solidFill>
                  <a:srgbClr val="33445B"/>
                </a:solidFill>
                <a:latin typeface="Segoe UI"/>
              </a:rPr>
              <a:t>Confirm which service we actually call · start the zero-retention</a:t>
            </a:r>
          </a:p>
          <a:p>
            <a:pPr algn="l">
              <a:lnSpc>
                <a:spcPct val="112000"/>
              </a:lnSpc>
            </a:pPr>
            <a:r>
              <a:rPr sz="1150" b="0" i="0">
                <a:solidFill>
                  <a:srgbClr val="33445B"/>
                </a:solidFill>
                <a:latin typeface="Segoe UI"/>
              </a:rPr>
              <a:t>approval · rotate keys · scope de-identification</a:t>
            </a:r>
          </a:p>
        </p:txBody>
      </p:sp>
      <p:sp>
        <p:nvSpPr>
          <p:cNvPr id="9" name="Rectangle 8"/>
          <p:cNvSpPr/>
          <p:nvPr/>
        </p:nvSpPr>
        <p:spPr>
          <a:xfrm>
            <a:off x="777240" y="3273552"/>
            <a:ext cx="10607040" cy="877824"/>
          </a:xfrm>
          <a:prstGeom prst="rect">
            <a:avLst/>
          </a:prstGeom>
          <a:solidFill>
            <a:srgbClr val="DDF2E3"/>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0" name="TextBox 9"/>
          <p:cNvSpPr txBox="1"/>
          <p:nvPr/>
        </p:nvSpPr>
        <p:spPr>
          <a:xfrm>
            <a:off x="960120" y="3383280"/>
            <a:ext cx="1463040" cy="237744"/>
          </a:xfrm>
          <a:prstGeom prst="rect">
            <a:avLst/>
          </a:prstGeom>
          <a:noFill/>
        </p:spPr>
        <p:txBody>
          <a:bodyPr wrap="square" anchor="t" lIns="0" rIns="0" tIns="0" bIns="0">
            <a:spAutoFit/>
          </a:bodyPr>
          <a:lstStyle/>
          <a:p>
            <a:pPr algn="l">
              <a:lnSpc>
                <a:spcPct val="100000"/>
              </a:lnSpc>
            </a:pPr>
            <a:r>
              <a:rPr sz="1200" b="1" i="0">
                <a:solidFill>
                  <a:srgbClr val="15803D"/>
                </a:solidFill>
                <a:latin typeface="Segoe UI"/>
              </a:rPr>
              <a:t>PHASE 1</a:t>
            </a:r>
          </a:p>
        </p:txBody>
      </p:sp>
      <p:sp>
        <p:nvSpPr>
          <p:cNvPr id="11" name="TextBox 10"/>
          <p:cNvSpPr txBox="1"/>
          <p:nvPr/>
        </p:nvSpPr>
        <p:spPr>
          <a:xfrm>
            <a:off x="960120" y="3639312"/>
            <a:ext cx="2377440" cy="256032"/>
          </a:xfrm>
          <a:prstGeom prst="rect">
            <a:avLst/>
          </a:prstGeom>
          <a:noFill/>
        </p:spPr>
        <p:txBody>
          <a:bodyPr wrap="square" anchor="t" lIns="0" rIns="0" tIns="0" bIns="0">
            <a:spAutoFit/>
          </a:bodyPr>
          <a:lstStyle/>
          <a:p>
            <a:pPr algn="l">
              <a:lnSpc>
                <a:spcPct val="100000"/>
              </a:lnSpc>
            </a:pPr>
            <a:r>
              <a:rPr sz="1300" b="1" i="0">
                <a:solidFill>
                  <a:srgbClr val="10233A"/>
                </a:solidFill>
                <a:latin typeface="Segoe UI"/>
              </a:rPr>
              <a:t>The engine and the checkpoint</a:t>
            </a:r>
          </a:p>
        </p:txBody>
      </p:sp>
      <p:sp>
        <p:nvSpPr>
          <p:cNvPr id="12" name="TextBox 11"/>
          <p:cNvSpPr txBox="1"/>
          <p:nvPr/>
        </p:nvSpPr>
        <p:spPr>
          <a:xfrm>
            <a:off x="3657600" y="3419856"/>
            <a:ext cx="7589520" cy="640080"/>
          </a:xfrm>
          <a:prstGeom prst="rect">
            <a:avLst/>
          </a:prstGeom>
          <a:noFill/>
        </p:spPr>
        <p:txBody>
          <a:bodyPr wrap="square" anchor="t" lIns="0" rIns="0" tIns="0" bIns="0">
            <a:spAutoFit/>
          </a:bodyPr>
          <a:lstStyle/>
          <a:p>
            <a:pPr algn="l">
              <a:lnSpc>
                <a:spcPct val="112000"/>
              </a:lnSpc>
            </a:pPr>
            <a:r>
              <a:rPr sz="1150" b="0" i="0">
                <a:solidFill>
                  <a:srgbClr val="33445B"/>
                </a:solidFill>
                <a:latin typeface="Segoe UI"/>
              </a:rPr>
              <a:t>Compiled config · layered instructions · chart data · rules for codes</a:t>
            </a:r>
          </a:p>
          <a:p>
            <a:pPr algn="l">
              <a:lnSpc>
                <a:spcPct val="112000"/>
              </a:lnSpc>
            </a:pPr>
            <a:r>
              <a:rPr sz="1150" b="0" i="0">
                <a:solidFill>
                  <a:srgbClr val="33445B"/>
                </a:solidFill>
                <a:latin typeface="Segoe UI"/>
              </a:rPr>
              <a:t>schema-constrained output · review and attest · measurement</a:t>
            </a:r>
          </a:p>
        </p:txBody>
      </p:sp>
      <p:sp>
        <p:nvSpPr>
          <p:cNvPr id="13" name="Rectangle 12"/>
          <p:cNvSpPr/>
          <p:nvPr/>
        </p:nvSpPr>
        <p:spPr>
          <a:xfrm>
            <a:off x="777240" y="4242816"/>
            <a:ext cx="10607040" cy="8778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4" name="TextBox 13"/>
          <p:cNvSpPr txBox="1"/>
          <p:nvPr/>
        </p:nvSpPr>
        <p:spPr>
          <a:xfrm>
            <a:off x="960120" y="4352544"/>
            <a:ext cx="1463040" cy="237744"/>
          </a:xfrm>
          <a:prstGeom prst="rect">
            <a:avLst/>
          </a:prstGeom>
          <a:noFill/>
        </p:spPr>
        <p:txBody>
          <a:bodyPr wrap="square" anchor="t" lIns="0" rIns="0" tIns="0" bIns="0">
            <a:spAutoFit/>
          </a:bodyPr>
          <a:lstStyle/>
          <a:p>
            <a:pPr algn="l">
              <a:lnSpc>
                <a:spcPct val="100000"/>
              </a:lnSpc>
            </a:pPr>
            <a:r>
              <a:rPr sz="1200" b="1" i="0">
                <a:solidFill>
                  <a:srgbClr val="10233A"/>
                </a:solidFill>
                <a:latin typeface="Segoe UI"/>
              </a:rPr>
              <a:t>PHASE 1.5</a:t>
            </a:r>
          </a:p>
        </p:txBody>
      </p:sp>
      <p:sp>
        <p:nvSpPr>
          <p:cNvPr id="15" name="TextBox 14"/>
          <p:cNvSpPr txBox="1"/>
          <p:nvPr/>
        </p:nvSpPr>
        <p:spPr>
          <a:xfrm>
            <a:off x="960120" y="4608576"/>
            <a:ext cx="2377440" cy="256032"/>
          </a:xfrm>
          <a:prstGeom prst="rect">
            <a:avLst/>
          </a:prstGeom>
          <a:noFill/>
        </p:spPr>
        <p:txBody>
          <a:bodyPr wrap="square" anchor="t" lIns="0" rIns="0" tIns="0" bIns="0">
            <a:spAutoFit/>
          </a:bodyPr>
          <a:lstStyle/>
          <a:p>
            <a:pPr algn="l">
              <a:lnSpc>
                <a:spcPct val="100000"/>
              </a:lnSpc>
            </a:pPr>
            <a:r>
              <a:rPr sz="1300" b="1" i="0">
                <a:solidFill>
                  <a:srgbClr val="10233A"/>
                </a:solidFill>
                <a:latin typeface="Segoe UI"/>
              </a:rPr>
              <a:t>Dictation modernisation</a:t>
            </a:r>
          </a:p>
        </p:txBody>
      </p:sp>
      <p:sp>
        <p:nvSpPr>
          <p:cNvPr id="16" name="TextBox 15"/>
          <p:cNvSpPr txBox="1"/>
          <p:nvPr/>
        </p:nvSpPr>
        <p:spPr>
          <a:xfrm>
            <a:off x="3657600" y="4389120"/>
            <a:ext cx="7589520" cy="640080"/>
          </a:xfrm>
          <a:prstGeom prst="rect">
            <a:avLst/>
          </a:prstGeom>
          <a:noFill/>
        </p:spPr>
        <p:txBody>
          <a:bodyPr wrap="square" anchor="t" lIns="0" rIns="0" tIns="0" bIns="0">
            <a:spAutoFit/>
          </a:bodyPr>
          <a:lstStyle/>
          <a:p>
            <a:pPr algn="l">
              <a:lnSpc>
                <a:spcPct val="112000"/>
              </a:lnSpc>
            </a:pPr>
            <a:r>
              <a:rPr sz="1150" b="0" i="0">
                <a:solidFill>
                  <a:srgbClr val="33445B"/>
                </a:solidFill>
                <a:latin typeface="Segoe UI"/>
              </a:rPr>
              <a:t>Move off the legacy Nuance bundle to the supported successor,</a:t>
            </a:r>
          </a:p>
          <a:p>
            <a:pPr algn="l">
              <a:lnSpc>
                <a:spcPct val="112000"/>
              </a:lnSpc>
            </a:pPr>
            <a:r>
              <a:rPr sz="1150" b="0" i="0">
                <a:solidFill>
                  <a:srgbClr val="33445B"/>
                </a:solidFill>
                <a:latin typeface="Segoe UI"/>
              </a:rPr>
              <a:t>which also gives the backend a transcript it can see</a:t>
            </a:r>
          </a:p>
        </p:txBody>
      </p:sp>
      <p:sp>
        <p:nvSpPr>
          <p:cNvPr id="17" name="Rectangle 16"/>
          <p:cNvSpPr/>
          <p:nvPr/>
        </p:nvSpPr>
        <p:spPr>
          <a:xfrm>
            <a:off x="777240" y="5212080"/>
            <a:ext cx="10607040" cy="87782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0233A"/>
                </a:solidFill>
                <a:latin typeface="Segoe UI"/>
              </a:rPr>
              <a:t/>
            </a:r>
          </a:p>
        </p:txBody>
      </p:sp>
      <p:sp>
        <p:nvSpPr>
          <p:cNvPr id="18" name="TextBox 17"/>
          <p:cNvSpPr txBox="1"/>
          <p:nvPr/>
        </p:nvSpPr>
        <p:spPr>
          <a:xfrm>
            <a:off x="960120" y="5321808"/>
            <a:ext cx="1463040" cy="237744"/>
          </a:xfrm>
          <a:prstGeom prst="rect">
            <a:avLst/>
          </a:prstGeom>
          <a:noFill/>
        </p:spPr>
        <p:txBody>
          <a:bodyPr wrap="square" anchor="t" lIns="0" rIns="0" tIns="0" bIns="0">
            <a:spAutoFit/>
          </a:bodyPr>
          <a:lstStyle/>
          <a:p>
            <a:pPr algn="l">
              <a:lnSpc>
                <a:spcPct val="100000"/>
              </a:lnSpc>
            </a:pPr>
            <a:r>
              <a:rPr sz="1200" b="1" i="0">
                <a:solidFill>
                  <a:srgbClr val="10233A"/>
                </a:solidFill>
                <a:latin typeface="Segoe UI"/>
              </a:rPr>
              <a:t>PHASE 2</a:t>
            </a:r>
          </a:p>
        </p:txBody>
      </p:sp>
      <p:sp>
        <p:nvSpPr>
          <p:cNvPr id="19" name="TextBox 18"/>
          <p:cNvSpPr txBox="1"/>
          <p:nvPr/>
        </p:nvSpPr>
        <p:spPr>
          <a:xfrm>
            <a:off x="960120" y="5577840"/>
            <a:ext cx="2377440" cy="256032"/>
          </a:xfrm>
          <a:prstGeom prst="rect">
            <a:avLst/>
          </a:prstGeom>
          <a:noFill/>
        </p:spPr>
        <p:txBody>
          <a:bodyPr wrap="square" anchor="t" lIns="0" rIns="0" tIns="0" bIns="0">
            <a:spAutoFit/>
          </a:bodyPr>
          <a:lstStyle/>
          <a:p>
            <a:pPr algn="l">
              <a:lnSpc>
                <a:spcPct val="100000"/>
              </a:lnSpc>
            </a:pPr>
            <a:r>
              <a:rPr sz="1300" b="1" i="0">
                <a:solidFill>
                  <a:srgbClr val="10233A"/>
                </a:solidFill>
                <a:latin typeface="Segoe UI"/>
              </a:rPr>
              <a:t>Guided encounters</a:t>
            </a:r>
          </a:p>
        </p:txBody>
      </p:sp>
      <p:sp>
        <p:nvSpPr>
          <p:cNvPr id="20" name="TextBox 19"/>
          <p:cNvSpPr txBox="1"/>
          <p:nvPr/>
        </p:nvSpPr>
        <p:spPr>
          <a:xfrm>
            <a:off x="3657600" y="5358384"/>
            <a:ext cx="7589520" cy="640080"/>
          </a:xfrm>
          <a:prstGeom prst="rect">
            <a:avLst/>
          </a:prstGeom>
          <a:noFill/>
        </p:spPr>
        <p:txBody>
          <a:bodyPr wrap="square" anchor="t" lIns="0" rIns="0" tIns="0" bIns="0">
            <a:spAutoFit/>
          </a:bodyPr>
          <a:lstStyle/>
          <a:p>
            <a:pPr algn="l">
              <a:lnSpc>
                <a:spcPct val="112000"/>
              </a:lnSpc>
            </a:pPr>
            <a:r>
              <a:rPr sz="1150" b="0" i="0">
                <a:solidFill>
                  <a:srgbClr val="33445B"/>
                </a:solidFill>
                <a:latin typeface="Segoe UI"/>
              </a:rPr>
              <a:t>Completeness indicators · missing-information prompts · chat</a:t>
            </a:r>
          </a:p>
          <a:p>
            <a:pPr algn="l">
              <a:lnSpc>
                <a:spcPct val="112000"/>
              </a:lnSpc>
            </a:pPr>
            <a:r>
              <a:rPr sz="1150" b="0" i="0">
                <a:solidFill>
                  <a:srgbClr val="33445B"/>
                </a:solidFill>
                <a:latin typeface="Segoe UI"/>
              </a:rPr>
              <a:t>refinement · provider-added sections</a:t>
            </a:r>
          </a:p>
        </p:txBody>
      </p:sp>
      <p:sp>
        <p:nvSpPr>
          <p:cNvPr id="21" name="Rectangle 20"/>
          <p:cNvSpPr/>
          <p:nvPr/>
        </p:nvSpPr>
        <p:spPr>
          <a:xfrm>
            <a:off x="777240" y="6272783"/>
            <a:ext cx="10607040" cy="512064"/>
          </a:xfrm>
          <a:prstGeom prst="rect">
            <a:avLst/>
          </a:prstGeom>
          <a:solidFill>
            <a:srgbClr val="CCE6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0F766E"/>
                </a:solidFill>
                <a:latin typeface="Segoe UI"/>
              </a:rPr>
              <a:t>Start today: the config compiler needs no approvals  ·  the cloud approval has a multi-week lead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07040" cy="274320"/>
          </a:xfrm>
          <a:prstGeom prst="rect">
            <a:avLst/>
          </a:prstGeom>
          <a:noFill/>
        </p:spPr>
        <p:txBody>
          <a:bodyPr wrap="square" anchor="t" lIns="0" rIns="0" tIns="0" bIns="0">
            <a:spAutoFit/>
          </a:bodyPr>
          <a:lstStyle/>
          <a:p>
            <a:pPr algn="l">
              <a:lnSpc>
                <a:spcPct val="100000"/>
              </a:lnSpc>
            </a:pPr>
            <a:r>
              <a:rPr sz="1250" b="1" i="0">
                <a:solidFill>
                  <a:srgbClr val="0F766E"/>
                </a:solidFill>
                <a:latin typeface="Segoe UI"/>
              </a:rPr>
              <a:t>WHAT WE NEED FROM YOU</a:t>
            </a:r>
          </a:p>
        </p:txBody>
      </p:sp>
      <p:sp>
        <p:nvSpPr>
          <p:cNvPr id="3" name="TextBox 2"/>
          <p:cNvSpPr txBox="1"/>
          <p:nvPr/>
        </p:nvSpPr>
        <p:spPr>
          <a:xfrm>
            <a:off x="777240" y="914400"/>
            <a:ext cx="10789920" cy="914400"/>
          </a:xfrm>
          <a:prstGeom prst="rect">
            <a:avLst/>
          </a:prstGeom>
          <a:noFill/>
        </p:spPr>
        <p:txBody>
          <a:bodyPr wrap="square" anchor="t" lIns="0" rIns="0" tIns="0" bIns="0">
            <a:spAutoFit/>
          </a:bodyPr>
          <a:lstStyle/>
          <a:p>
            <a:pPr algn="l">
              <a:lnSpc>
                <a:spcPct val="106000"/>
              </a:lnSpc>
            </a:pPr>
            <a:r>
              <a:rPr sz="3400" b="1" i="0">
                <a:solidFill>
                  <a:srgbClr val="10233A"/>
                </a:solidFill>
                <a:latin typeface="Segoe UI"/>
              </a:rPr>
              <a:t>Five decisions</a:t>
            </a:r>
          </a:p>
        </p:txBody>
      </p:sp>
      <p:sp>
        <p:nvSpPr>
          <p:cNvPr id="4" name="TextBox 3"/>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64748B"/>
                </a:solidFill>
                <a:latin typeface="Segoe UI"/>
              </a:rPr>
              <a:t>29</a:t>
            </a:r>
          </a:p>
        </p:txBody>
      </p:sp>
      <p:sp>
        <p:nvSpPr>
          <p:cNvPr id="5" name="Rounded Rectangle 4"/>
          <p:cNvSpPr/>
          <p:nvPr/>
        </p:nvSpPr>
        <p:spPr>
          <a:xfrm>
            <a:off x="777240" y="2350008"/>
            <a:ext cx="548640" cy="548640"/>
          </a:xfrm>
          <a:prstGeom prst="roundRect">
            <a:avLst>
              <a:gd name="adj" fmla="val 8000"/>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0F766E"/>
                </a:solidFill>
                <a:latin typeface="Segoe UI"/>
              </a:rPr>
              <a:t>1</a:t>
            </a:r>
          </a:p>
        </p:txBody>
      </p:sp>
      <p:sp>
        <p:nvSpPr>
          <p:cNvPr id="6" name="TextBox 5"/>
          <p:cNvSpPr txBox="1"/>
          <p:nvPr/>
        </p:nvSpPr>
        <p:spPr>
          <a:xfrm>
            <a:off x="1554480" y="2368296"/>
            <a:ext cx="9784080" cy="310896"/>
          </a:xfrm>
          <a:prstGeom prst="rect">
            <a:avLst/>
          </a:prstGeom>
          <a:noFill/>
        </p:spPr>
        <p:txBody>
          <a:bodyPr wrap="square" anchor="t" lIns="0" rIns="0" tIns="0" bIns="0">
            <a:spAutoFit/>
          </a:bodyPr>
          <a:lstStyle/>
          <a:p>
            <a:pPr algn="l">
              <a:lnSpc>
                <a:spcPct val="100000"/>
              </a:lnSpc>
            </a:pPr>
            <a:r>
              <a:rPr sz="1700" b="1" i="0">
                <a:solidFill>
                  <a:srgbClr val="10233A"/>
                </a:solidFill>
                <a:latin typeface="Segoe UI"/>
              </a:rPr>
              <a:t>Which service are we actually calling today?</a:t>
            </a:r>
          </a:p>
        </p:txBody>
      </p:sp>
      <p:sp>
        <p:nvSpPr>
          <p:cNvPr id="7" name="TextBox 6"/>
          <p:cNvSpPr txBox="1"/>
          <p:nvPr/>
        </p:nvSpPr>
        <p:spPr>
          <a:xfrm>
            <a:off x="1554480" y="2679192"/>
            <a:ext cx="9784080" cy="256032"/>
          </a:xfrm>
          <a:prstGeom prst="rect">
            <a:avLst/>
          </a:prstGeom>
          <a:noFill/>
        </p:spPr>
        <p:txBody>
          <a:bodyPr wrap="square" anchor="t" lIns="0" rIns="0" tIns="0" bIns="0">
            <a:spAutoFit/>
          </a:bodyPr>
          <a:lstStyle/>
          <a:p>
            <a:pPr algn="l">
              <a:lnSpc>
                <a:spcPct val="100000"/>
              </a:lnSpc>
            </a:pPr>
            <a:r>
              <a:rPr sz="1250" b="0" i="0">
                <a:solidFill>
                  <a:srgbClr val="64748B"/>
                </a:solidFill>
                <a:latin typeface="Segoe UI"/>
              </a:rPr>
              <a:t>One database query. Everything else waits on it.</a:t>
            </a:r>
          </a:p>
        </p:txBody>
      </p:sp>
      <p:sp>
        <p:nvSpPr>
          <p:cNvPr id="8" name="Rounded Rectangle 7"/>
          <p:cNvSpPr/>
          <p:nvPr/>
        </p:nvSpPr>
        <p:spPr>
          <a:xfrm>
            <a:off x="777240" y="3218688"/>
            <a:ext cx="548640" cy="548640"/>
          </a:xfrm>
          <a:prstGeom prst="roundRect">
            <a:avLst>
              <a:gd name="adj" fmla="val 8000"/>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0F766E"/>
                </a:solidFill>
                <a:latin typeface="Segoe UI"/>
              </a:rPr>
              <a:t>2</a:t>
            </a:r>
          </a:p>
        </p:txBody>
      </p:sp>
      <p:sp>
        <p:nvSpPr>
          <p:cNvPr id="9" name="TextBox 8"/>
          <p:cNvSpPr txBox="1"/>
          <p:nvPr/>
        </p:nvSpPr>
        <p:spPr>
          <a:xfrm>
            <a:off x="1554480" y="3236976"/>
            <a:ext cx="9784080" cy="310896"/>
          </a:xfrm>
          <a:prstGeom prst="rect">
            <a:avLst/>
          </a:prstGeom>
          <a:noFill/>
        </p:spPr>
        <p:txBody>
          <a:bodyPr wrap="square" anchor="t" lIns="0" rIns="0" tIns="0" bIns="0">
            <a:spAutoFit/>
          </a:bodyPr>
          <a:lstStyle/>
          <a:p>
            <a:pPr algn="l">
              <a:lnSpc>
                <a:spcPct val="100000"/>
              </a:lnSpc>
            </a:pPr>
            <a:r>
              <a:rPr sz="1700" b="1" i="0">
                <a:solidFill>
                  <a:srgbClr val="10233A"/>
                </a:solidFill>
                <a:latin typeface="Segoe UI"/>
              </a:rPr>
              <a:t>Who owns the zero-retention approval?</a:t>
            </a:r>
          </a:p>
        </p:txBody>
      </p:sp>
      <p:sp>
        <p:nvSpPr>
          <p:cNvPr id="10" name="TextBox 9"/>
          <p:cNvSpPr txBox="1"/>
          <p:nvPr/>
        </p:nvSpPr>
        <p:spPr>
          <a:xfrm>
            <a:off x="1554480" y="3547872"/>
            <a:ext cx="9784080" cy="256032"/>
          </a:xfrm>
          <a:prstGeom prst="rect">
            <a:avLst/>
          </a:prstGeom>
          <a:noFill/>
        </p:spPr>
        <p:txBody>
          <a:bodyPr wrap="square" anchor="t" lIns="0" rIns="0" tIns="0" bIns="0">
            <a:spAutoFit/>
          </a:bodyPr>
          <a:lstStyle/>
          <a:p>
            <a:pPr algn="l">
              <a:lnSpc>
                <a:spcPct val="100000"/>
              </a:lnSpc>
            </a:pPr>
            <a:r>
              <a:rPr sz="1250" b="0" i="0">
                <a:solidFill>
                  <a:srgbClr val="64748B"/>
                </a:solidFill>
                <a:latin typeface="Segoe UI"/>
              </a:rPr>
              <a:t>Multi-week lead time. Gates go-live.</a:t>
            </a:r>
          </a:p>
        </p:txBody>
      </p:sp>
      <p:sp>
        <p:nvSpPr>
          <p:cNvPr id="11" name="Rounded Rectangle 10"/>
          <p:cNvSpPr/>
          <p:nvPr/>
        </p:nvSpPr>
        <p:spPr>
          <a:xfrm>
            <a:off x="777240" y="4087368"/>
            <a:ext cx="548640" cy="548640"/>
          </a:xfrm>
          <a:prstGeom prst="roundRect">
            <a:avLst>
              <a:gd name="adj" fmla="val 8000"/>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0F766E"/>
                </a:solidFill>
                <a:latin typeface="Segoe UI"/>
              </a:rPr>
              <a:t>3</a:t>
            </a:r>
          </a:p>
        </p:txBody>
      </p:sp>
      <p:sp>
        <p:nvSpPr>
          <p:cNvPr id="12" name="TextBox 11"/>
          <p:cNvSpPr txBox="1"/>
          <p:nvPr/>
        </p:nvSpPr>
        <p:spPr>
          <a:xfrm>
            <a:off x="1554480" y="4105656"/>
            <a:ext cx="9784080" cy="310896"/>
          </a:xfrm>
          <a:prstGeom prst="rect">
            <a:avLst/>
          </a:prstGeom>
          <a:noFill/>
        </p:spPr>
        <p:txBody>
          <a:bodyPr wrap="square" anchor="t" lIns="0" rIns="0" tIns="0" bIns="0">
            <a:spAutoFit/>
          </a:bodyPr>
          <a:lstStyle/>
          <a:p>
            <a:pPr algn="l">
              <a:lnSpc>
                <a:spcPct val="100000"/>
              </a:lnSpc>
            </a:pPr>
            <a:r>
              <a:rPr sz="1700" b="1" i="0">
                <a:solidFill>
                  <a:srgbClr val="10233A"/>
                </a:solidFill>
                <a:latin typeface="Segoe UI"/>
              </a:rPr>
              <a:t>Who de-identifies the ten months of logs?</a:t>
            </a:r>
          </a:p>
        </p:txBody>
      </p:sp>
      <p:sp>
        <p:nvSpPr>
          <p:cNvPr id="13" name="TextBox 12"/>
          <p:cNvSpPr txBox="1"/>
          <p:nvPr/>
        </p:nvSpPr>
        <p:spPr>
          <a:xfrm>
            <a:off x="1554480" y="4416552"/>
            <a:ext cx="9784080" cy="256032"/>
          </a:xfrm>
          <a:prstGeom prst="rect">
            <a:avLst/>
          </a:prstGeom>
          <a:noFill/>
        </p:spPr>
        <p:txBody>
          <a:bodyPr wrap="square" anchor="t" lIns="0" rIns="0" tIns="0" bIns="0">
            <a:spAutoFit/>
          </a:bodyPr>
          <a:lstStyle/>
          <a:p>
            <a:pPr algn="l">
              <a:lnSpc>
                <a:spcPct val="100000"/>
              </a:lnSpc>
            </a:pPr>
            <a:r>
              <a:rPr sz="1250" b="0" i="0">
                <a:solidFill>
                  <a:srgbClr val="64748B"/>
                </a:solidFill>
                <a:latin typeface="Segoe UI"/>
              </a:rPr>
              <a:t>Not already done. This is real work.</a:t>
            </a:r>
          </a:p>
        </p:txBody>
      </p:sp>
      <p:sp>
        <p:nvSpPr>
          <p:cNvPr id="14" name="Rounded Rectangle 13"/>
          <p:cNvSpPr/>
          <p:nvPr/>
        </p:nvSpPr>
        <p:spPr>
          <a:xfrm>
            <a:off x="777240" y="4956048"/>
            <a:ext cx="548640" cy="548640"/>
          </a:xfrm>
          <a:prstGeom prst="roundRect">
            <a:avLst>
              <a:gd name="adj" fmla="val 8000"/>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0F766E"/>
                </a:solidFill>
                <a:latin typeface="Segoe UI"/>
              </a:rPr>
              <a:t>4</a:t>
            </a:r>
          </a:p>
        </p:txBody>
      </p:sp>
      <p:sp>
        <p:nvSpPr>
          <p:cNvPr id="15" name="TextBox 14"/>
          <p:cNvSpPr txBox="1"/>
          <p:nvPr/>
        </p:nvSpPr>
        <p:spPr>
          <a:xfrm>
            <a:off x="1554480" y="4974336"/>
            <a:ext cx="9784080" cy="310896"/>
          </a:xfrm>
          <a:prstGeom prst="rect">
            <a:avLst/>
          </a:prstGeom>
          <a:noFill/>
        </p:spPr>
        <p:txBody>
          <a:bodyPr wrap="square" anchor="t" lIns="0" rIns="0" tIns="0" bIns="0">
            <a:spAutoFit/>
          </a:bodyPr>
          <a:lstStyle/>
          <a:p>
            <a:pPr algn="l">
              <a:lnSpc>
                <a:spcPct val="100000"/>
              </a:lnSpc>
            </a:pPr>
            <a:r>
              <a:rPr sz="1700" b="1" i="0">
                <a:solidFill>
                  <a:srgbClr val="10233A"/>
                </a:solidFill>
                <a:latin typeface="Segoe UI"/>
              </a:rPr>
              <a:t>Is the review screen in Phase 1?</a:t>
            </a:r>
          </a:p>
        </p:txBody>
      </p:sp>
      <p:sp>
        <p:nvSpPr>
          <p:cNvPr id="16" name="TextBox 15"/>
          <p:cNvSpPr txBox="1"/>
          <p:nvPr/>
        </p:nvSpPr>
        <p:spPr>
          <a:xfrm>
            <a:off x="1554480" y="5285232"/>
            <a:ext cx="9784080" cy="256032"/>
          </a:xfrm>
          <a:prstGeom prst="rect">
            <a:avLst/>
          </a:prstGeom>
          <a:noFill/>
        </p:spPr>
        <p:txBody>
          <a:bodyPr wrap="square" anchor="t" lIns="0" rIns="0" tIns="0" bIns="0">
            <a:spAutoFit/>
          </a:bodyPr>
          <a:lstStyle/>
          <a:p>
            <a:pPr algn="l">
              <a:lnSpc>
                <a:spcPct val="100000"/>
              </a:lnSpc>
            </a:pPr>
            <a:r>
              <a:rPr sz="1250" b="0" i="0">
                <a:solidFill>
                  <a:srgbClr val="64748B"/>
                </a:solidFill>
                <a:latin typeface="Segoe UI"/>
              </a:rPr>
              <a:t>It is what produces the data accuracy is judged on.</a:t>
            </a:r>
          </a:p>
        </p:txBody>
      </p:sp>
      <p:sp>
        <p:nvSpPr>
          <p:cNvPr id="17" name="Rounded Rectangle 16"/>
          <p:cNvSpPr/>
          <p:nvPr/>
        </p:nvSpPr>
        <p:spPr>
          <a:xfrm>
            <a:off x="777240" y="5824728"/>
            <a:ext cx="548640" cy="548640"/>
          </a:xfrm>
          <a:prstGeom prst="roundRect">
            <a:avLst>
              <a:gd name="adj" fmla="val 8000"/>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0F766E"/>
                </a:solidFill>
                <a:latin typeface="Segoe UI"/>
              </a:rPr>
              <a:t>5</a:t>
            </a:r>
          </a:p>
        </p:txBody>
      </p:sp>
      <p:sp>
        <p:nvSpPr>
          <p:cNvPr id="18" name="TextBox 17"/>
          <p:cNvSpPr txBox="1"/>
          <p:nvPr/>
        </p:nvSpPr>
        <p:spPr>
          <a:xfrm>
            <a:off x="1554480" y="5843016"/>
            <a:ext cx="9784080" cy="310896"/>
          </a:xfrm>
          <a:prstGeom prst="rect">
            <a:avLst/>
          </a:prstGeom>
          <a:noFill/>
        </p:spPr>
        <p:txBody>
          <a:bodyPr wrap="square" anchor="t" lIns="0" rIns="0" tIns="0" bIns="0">
            <a:spAutoFit/>
          </a:bodyPr>
          <a:lstStyle/>
          <a:p>
            <a:pPr algn="l">
              <a:lnSpc>
                <a:spcPct val="100000"/>
              </a:lnSpc>
            </a:pPr>
            <a:r>
              <a:rPr sz="1700" b="1" i="0">
                <a:solidFill>
                  <a:srgbClr val="10233A"/>
                </a:solidFill>
                <a:latin typeface="Segoe UI"/>
              </a:rPr>
              <a:t>Can we capture visit duration?</a:t>
            </a:r>
          </a:p>
        </p:txBody>
      </p:sp>
      <p:sp>
        <p:nvSpPr>
          <p:cNvPr id="19" name="TextBox 18"/>
          <p:cNvSpPr txBox="1"/>
          <p:nvPr/>
        </p:nvSpPr>
        <p:spPr>
          <a:xfrm>
            <a:off x="1554480" y="6153912"/>
            <a:ext cx="9784080" cy="256032"/>
          </a:xfrm>
          <a:prstGeom prst="rect">
            <a:avLst/>
          </a:prstGeom>
          <a:noFill/>
        </p:spPr>
        <p:txBody>
          <a:bodyPr wrap="square" anchor="t" lIns="0" rIns="0" tIns="0" bIns="0">
            <a:spAutoFit/>
          </a:bodyPr>
          <a:lstStyle/>
          <a:p>
            <a:pPr algn="l">
              <a:lnSpc>
                <a:spcPct val="100000"/>
              </a:lnSpc>
            </a:pPr>
            <a:r>
              <a:rPr sz="1250" b="0" i="0">
                <a:solidFill>
                  <a:srgbClr val="64748B"/>
                </a:solidFill>
                <a:latin typeface="Segoe UI"/>
              </a:rPr>
              <a:t>Decides whether time-based billing codes can ever be verified.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10058400" cy="292608"/>
          </a:xfrm>
          <a:prstGeom prst="rect">
            <a:avLst/>
          </a:prstGeom>
          <a:noFill/>
        </p:spPr>
        <p:txBody>
          <a:bodyPr wrap="square" anchor="t" lIns="0" rIns="0" tIns="0" bIns="0">
            <a:spAutoFit/>
          </a:bodyPr>
          <a:lstStyle/>
          <a:p>
            <a:pPr algn="l">
              <a:lnSpc>
                <a:spcPct val="100000"/>
              </a:lnSpc>
            </a:pPr>
            <a:r>
              <a:rPr sz="1300" b="1" i="0">
                <a:solidFill>
                  <a:srgbClr val="0F766E"/>
                </a:solidFill>
                <a:latin typeface="Segoe UI"/>
              </a:rPr>
              <a:t>IN ONE LINE</a:t>
            </a:r>
          </a:p>
        </p:txBody>
      </p:sp>
      <p:sp>
        <p:nvSpPr>
          <p:cNvPr id="4" name="TextBox 3"/>
          <p:cNvSpPr txBox="1"/>
          <p:nvPr/>
        </p:nvSpPr>
        <p:spPr>
          <a:xfrm>
            <a:off x="1188720" y="2560320"/>
            <a:ext cx="10332720" cy="1463040"/>
          </a:xfrm>
          <a:prstGeom prst="rect">
            <a:avLst/>
          </a:prstGeom>
          <a:noFill/>
        </p:spPr>
        <p:txBody>
          <a:bodyPr wrap="square" anchor="t" lIns="0" rIns="0" tIns="0" bIns="0">
            <a:spAutoFit/>
          </a:bodyPr>
          <a:lstStyle/>
          <a:p>
            <a:pPr algn="l">
              <a:lnSpc>
                <a:spcPct val="110000"/>
              </a:lnSpc>
            </a:pPr>
            <a:r>
              <a:rPr sz="3800" b="1" i="0">
                <a:solidFill>
                  <a:srgbClr val="FFFFFF"/>
                </a:solidFill>
                <a:latin typeface="Segoe UI"/>
              </a:rPr>
              <a:t>Accuracy is not a model problem.</a:t>
            </a:r>
          </a:p>
          <a:p>
            <a:pPr algn="l">
              <a:lnSpc>
                <a:spcPct val="110000"/>
              </a:lnSpc>
            </a:pPr>
            <a:r>
              <a:rPr sz="3800" b="1" i="0">
                <a:solidFill>
                  <a:srgbClr val="FFFFFF"/>
                </a:solidFill>
                <a:latin typeface="Segoe UI"/>
              </a:rPr>
              <a:t>It is an architecture problem.</a:t>
            </a:r>
          </a:p>
        </p:txBody>
      </p:sp>
      <p:sp>
        <p:nvSpPr>
          <p:cNvPr id="5" name="Rectangle 4"/>
          <p:cNvSpPr/>
          <p:nvPr/>
        </p:nvSpPr>
        <p:spPr>
          <a:xfrm>
            <a:off x="1188720" y="4224528"/>
            <a:ext cx="329184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526280"/>
            <a:ext cx="9875520" cy="914400"/>
          </a:xfrm>
          <a:prstGeom prst="rect">
            <a:avLst/>
          </a:prstGeom>
          <a:noFill/>
        </p:spPr>
        <p:txBody>
          <a:bodyPr wrap="square" anchor="t" lIns="0" rIns="0" tIns="0" bIns="0">
            <a:spAutoFit/>
          </a:bodyPr>
          <a:lstStyle/>
          <a:p>
            <a:pPr algn="l">
              <a:lnSpc>
                <a:spcPct val="130000"/>
              </a:lnSpc>
            </a:pPr>
            <a:r>
              <a:rPr sz="1700" b="0" i="0">
                <a:solidFill>
                  <a:srgbClr val="9FB3C8"/>
                </a:solidFill>
                <a:latin typeface="Segoe UI"/>
              </a:rPr>
              <a:t>And every fix we have described works with the templates and field order you already have.</a:t>
            </a:r>
          </a:p>
        </p:txBody>
      </p:sp>
      <p:sp>
        <p:nvSpPr>
          <p:cNvPr id="7" name="TextBox 6"/>
          <p:cNvSpPr txBox="1"/>
          <p:nvPr/>
        </p:nvSpPr>
        <p:spPr>
          <a:xfrm>
            <a:off x="11292840" y="6419088"/>
            <a:ext cx="548640" cy="201168"/>
          </a:xfrm>
          <a:prstGeom prst="rect">
            <a:avLst/>
          </a:prstGeom>
          <a:noFill/>
        </p:spPr>
        <p:txBody>
          <a:bodyPr wrap="square" anchor="t" lIns="0" rIns="0" tIns="0" bIns="0">
            <a:spAutoFit/>
          </a:bodyPr>
          <a:lstStyle/>
          <a:p>
            <a:pPr algn="r">
              <a:lnSpc>
                <a:spcPct val="100000"/>
              </a:lnSpc>
            </a:pPr>
            <a:r>
              <a:rPr sz="1000" b="0" i="0">
                <a:solidFill>
                  <a:srgbClr val="55667D"/>
                </a:solidFill>
                <a:latin typeface="Segoe UI"/>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