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Segoe UI"/>
              </a:rPr>
              <a:t>PACEHR  ·  AI ASSISTANCE &amp; CLINICAL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Current Flow and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13632"/>
            <a:ext cx="3108960" cy="317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FB3C8"/>
                </a:solidFill>
                <a:latin typeface="Segoe UI"/>
              </a:rPr>
              <a:t>End-to-end architecture review covering both the Angular frontend and the .NET backend —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FB3C8"/>
                </a:solidFill>
                <a:latin typeface="Segoe UI"/>
              </a:rPr>
              <a:t>what runs today, why accuracy is limited, and the proposed target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8064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F96"/>
                </a:solidFill>
                <a:latin typeface="Segoe UI"/>
              </a:rPr>
              <a:t>Architecture Review  ·  September 2026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F96"/>
                </a:solidFill>
                <a:latin typeface="Segoe UI"/>
              </a:rPr>
              <a:t>Prepared for the Phase 1 scope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658368" cy="566928"/>
          </a:xfrm>
          <a:prstGeom prst="roundRect">
            <a:avLst>
              <a:gd name="adj" fmla="val 8000"/>
            </a:avLst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33A"/>
                </a:solidFill>
                <a:latin typeface="Segoe UI"/>
              </a:rPr>
              <a:t>Current state —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0136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13 call sites, 7 prompt contexts, where the guards 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21991"/>
            <a:ext cx="658368" cy="566928"/>
          </a:xfrm>
          <a:prstGeom prst="roundRect">
            <a:avLst>
              <a:gd name="adj" fmla="val 8000"/>
            </a:avLst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67711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33A"/>
                </a:solidFill>
                <a:latin typeface="Segoe UI"/>
              </a:rPr>
              <a:t>Current state —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14599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4 service methods, the wire payload, the instruction hierarchy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35224"/>
            <a:ext cx="658368" cy="566928"/>
          </a:xfrm>
          <a:prstGeom prst="roundRect">
            <a:avLst>
              <a:gd name="adj" fmla="val 8000"/>
            </a:avLst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809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33A"/>
                </a:solidFill>
                <a:latin typeface="Segoe UI"/>
              </a:rPr>
              <a:t>Why accuracy is 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27832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Root causes, not symptoms — and what the code verification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48456"/>
            <a:ext cx="658368" cy="566928"/>
          </a:xfrm>
          <a:prstGeom prst="roundRect">
            <a:avLst>
              <a:gd name="adj" fmla="val 8000"/>
            </a:avLst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9417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33A"/>
                </a:solidFill>
                <a:latin typeface="Segoe UI"/>
              </a:rPr>
              <a:t>Proposed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41064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One engine, compiled per-template config, decomposed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61688"/>
            <a:ext cx="658368" cy="566928"/>
          </a:xfrm>
          <a:prstGeom prst="roundRect">
            <a:avLst>
              <a:gd name="adj" fmla="val 8000"/>
            </a:avLst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074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33A"/>
                </a:solidFill>
                <a:latin typeface="Segoe UI"/>
              </a:rPr>
              <a:t>Proposed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54296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Provider journey, review &amp; attest gate, targeted refinement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074920"/>
            <a:ext cx="658368" cy="566928"/>
          </a:xfrm>
          <a:prstGeom prst="roundRect">
            <a:avLst>
              <a:gd name="adj" fmla="val 8000"/>
            </a:avLst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0F766E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206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33A"/>
                </a:solidFill>
                <a:latin typeface="Segoe UI"/>
              </a:rPr>
              <a:t>Roadmap &amp;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67528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Phasing, and what needs to be agreed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The story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11064240" cy="786384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250" b="1">
                <a:solidFill>
                  <a:srgbClr val="0F766E"/>
                </a:solidFill>
                <a:latin typeface="Segoe UI"/>
              </a:rPr>
              <a:t>The proxy boundary is correct — the browser never holds the model credential.</a:t>
            </a:r>
          </a:p>
          <a:p>
            <a:pPr algn="l"/>
            <a:r>
              <a:rPr sz="1250" b="0">
                <a:solidFill>
                  <a:srgbClr val="33445B"/>
                </a:solidFill>
                <a:latin typeface="Segoe UI"/>
              </a:rPr>
              <a:t>Everything downstream of that boundary is unvalidated, and that is where accuracy is lost.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0292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395728"/>
            <a:ext cx="5440680" cy="1170432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One call, four jobs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A single completion formats every field, extracts ICD, selects CPT and resolves the follow-up date. The instruction budget is split four ways.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95728"/>
            <a:ext cx="50292" cy="11704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395728"/>
            <a:ext cx="5440680" cy="1170432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Nothing constrains the output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No response schema on any route. The prompt asks for JSON validation four times and a second 'JSON repair' call exists as a fallback.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2395728"/>
            <a:ext cx="50292" cy="11704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730752"/>
            <a:ext cx="5440680" cy="1170432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91C1C"/>
                </a:solidFill>
                <a:latin typeface="Segoe UI"/>
              </a:rPr>
              <a:t>The model never sees the chart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No medications, vitals, allergies or problem list reach the model in any request. It knows only what was dictated this session.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730752"/>
            <a:ext cx="50292" cy="11704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3730752"/>
            <a:ext cx="5440680" cy="1170432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91C1C"/>
                </a:solidFill>
                <a:latin typeface="Segoe UI"/>
              </a:rPr>
              <a:t>Instructions cannot be reconciled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Template, section and field instructions are flattened into one prose string; prompt selection is winner-takes-all, so safety rules can be dropped.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3730752"/>
            <a:ext cx="50292" cy="11704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065776"/>
            <a:ext cx="5440680" cy="1170432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91C1C"/>
                </a:solidFill>
                <a:latin typeface="Segoe UI"/>
              </a:rPr>
              <a:t>No human checkpoint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Extracted values are written to the encounter form and auto-submitted one second later, with no schema check and no clinician confirmation.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5776"/>
            <a:ext cx="50292" cy="117043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5065776"/>
            <a:ext cx="5440680" cy="1170432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Accuracy is unmeasurable today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Logs do not match the wire on two of seven contexts, and there is no reference dataset. Faithfulness, however, is measurable without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5065776"/>
            <a:ext cx="50292" cy="11704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514600"/>
            <a:ext cx="1280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0F766E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651760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FB3C8"/>
                </a:solidFill>
                <a:latin typeface="Segoe UI"/>
              </a:rPr>
              <a:t>What runs today, frontend and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3310128"/>
            <a:ext cx="27432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67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One monolithic completion per action. Guards sit in the browser; the model is called direct.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342900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56816"/>
            <a:ext cx="3209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883664"/>
            <a:ext cx="3977639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956816"/>
            <a:ext cx="37581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pacEHR_API  ·  Azure App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1883664"/>
            <a:ext cx="301752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1956816"/>
            <a:ext cx="27980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EXTERNAL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67712"/>
            <a:ext cx="31089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Angular 18 SPA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13 AI call sites · 3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07791"/>
            <a:ext cx="31089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7 prompt contexts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3 inline literals · 2 generated · 2 from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47872"/>
            <a:ext cx="3108960" cy="566928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91C1C"/>
                </a:solidFill>
                <a:latin typeface="Segoe UI"/>
              </a:rPr>
              <a:t>maskPHI()  —  NO-OP</a:t>
            </a:r>
          </a:p>
          <a:p>
            <a:pPr algn="ctr"/>
            <a:r>
              <a:rPr sz="1050" b="0">
                <a:solidFill>
                  <a:srgbClr val="B91C1C"/>
                </a:solidFill>
                <a:latin typeface="Segoe UI"/>
              </a:rPr>
              <a:t>returns input unchanged (line 133)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87952"/>
            <a:ext cx="3108960" cy="566928"/>
          </a:xfrm>
          <a:prstGeom prst="roundRect">
            <a:avLst>
              <a:gd name="adj" fmla="val 8000"/>
            </a:avLst>
          </a:prstGeom>
          <a:solidFill>
            <a:srgbClr val="FDF0D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detectInjection()</a:t>
            </a:r>
          </a:p>
          <a:p>
            <a:pPr algn="ctr"/>
            <a:r>
              <a:rPr sz="1050" b="0">
                <a:solidFill>
                  <a:srgbClr val="B45309"/>
                </a:solidFill>
                <a:latin typeface="Segoe UI"/>
              </a:rPr>
              <a:t>client-side only · bypassable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28032"/>
            <a:ext cx="3108960" cy="566928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91C1C"/>
                </a:solidFill>
                <a:latin typeface="Segoe UI"/>
              </a:rPr>
              <a:t>timer(1000) -&gt; onSubmit()</a:t>
            </a:r>
          </a:p>
          <a:p>
            <a:pPr algn="ctr"/>
            <a:r>
              <a:rPr sz="1050" b="0">
                <a:solidFill>
                  <a:srgbClr val="B91C1C"/>
                </a:solidFill>
                <a:latin typeface="Segoe UI"/>
              </a:rPr>
              <a:t>auto-commit, no confirmation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2267712"/>
            <a:ext cx="36484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JWTMiddleware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AES decrypt · body rewrite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907791"/>
            <a:ext cx="36484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AIController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1,152 lines · 23 routes · no prefix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47872"/>
            <a:ext cx="36484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AIPromptServices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4 methods · credential block x4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4187952"/>
            <a:ext cx="3648456" cy="566928"/>
          </a:xfrm>
          <a:prstGeom prst="roundRect">
            <a:avLst>
              <a:gd name="adj" fmla="val 8000"/>
            </a:avLst>
          </a:prstGeom>
          <a:solidFill>
            <a:srgbClr val="FDF0D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model + temperature</a:t>
            </a:r>
          </a:p>
          <a:p>
            <a:pPr algn="ctr"/>
            <a:r>
              <a:rPr sz="1050" b="0">
                <a:solidFill>
                  <a:srgbClr val="B45309"/>
                </a:solidFill>
                <a:latin typeface="Segoe UI"/>
              </a:rPr>
              <a:t>'gpt-4o' and 0 hardcoded x4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828032"/>
            <a:ext cx="3648456" cy="566928"/>
          </a:xfrm>
          <a:prstGeom prst="roundRect">
            <a:avLst>
              <a:gd name="adj" fmla="val 8000"/>
            </a:avLst>
          </a:prstGeom>
          <a:solidFill>
            <a:srgbClr val="FDF0D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SSE re-emitted verbatim</a:t>
            </a:r>
          </a:p>
          <a:p>
            <a:pPr algn="ctr"/>
            <a:r>
              <a:rPr sz="1050" b="0">
                <a:solidFill>
                  <a:srgbClr val="B45309"/>
                </a:solidFill>
                <a:latin typeface="Segoe UI"/>
              </a:rPr>
              <a:t>event: error never read by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267712"/>
            <a:ext cx="2688336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0233A"/>
                </a:solidFill>
                <a:latin typeface="Segoe UI"/>
              </a:rPr>
              <a:t>gpt-4o</a:t>
            </a:r>
          </a:p>
          <a:p>
            <a:pPr algn="ctr"/>
            <a:r>
              <a:rPr sz="1150" b="0">
                <a:solidFill>
                  <a:srgbClr val="10233A"/>
                </a:solidFill>
                <a:latin typeface="Segoe UI"/>
              </a:rPr>
              <a:t>temperature 0</a:t>
            </a:r>
          </a:p>
          <a:p>
            <a:pPr algn="ctr"/>
            <a:r>
              <a:rPr sz="1150" b="0">
                <a:solidFill>
                  <a:srgbClr val="10233A"/>
                </a:solidFill>
                <a:latin typeface="Segoe UI"/>
              </a:rPr>
              <a:t>stream 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3584448"/>
            <a:ext cx="2688336" cy="1207008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91C1C"/>
                </a:solidFill>
                <a:latin typeface="Segoe UI"/>
              </a:rPr>
              <a:t>ABSENT</a:t>
            </a:r>
          </a:p>
          <a:p>
            <a:pPr algn="ctr"/>
            <a:r>
              <a:rPr sz="1050" b="0">
                <a:solidFill>
                  <a:srgbClr val="B91C1C"/>
                </a:solidFill>
                <a:latin typeface="Segoe UI"/>
              </a:rPr>
              <a:t>no response_format</a:t>
            </a:r>
          </a:p>
          <a:p>
            <a:pPr algn="ctr"/>
            <a:r>
              <a:rPr sz="1050" b="0">
                <a:solidFill>
                  <a:srgbClr val="B91C1C"/>
                </a:solidFill>
                <a:latin typeface="Segoe UI"/>
              </a:rPr>
              <a:t>no max_tokens · no seed</a:t>
            </a:r>
          </a:p>
          <a:p>
            <a:pPr algn="ctr"/>
            <a:r>
              <a:rPr sz="1050" b="0">
                <a:solidFill>
                  <a:srgbClr val="B91C1C"/>
                </a:solidFill>
                <a:latin typeface="Segoe UI"/>
              </a:rPr>
              <a:t>no user / correlation 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4901183"/>
            <a:ext cx="2688336" cy="4754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33445B"/>
                </a:solidFill>
                <a:latin typeface="Segoe UI"/>
              </a:rPr>
              <a:t>SQL app settings</a:t>
            </a:r>
          </a:p>
          <a:p>
            <a:pPr algn="ctr"/>
            <a:r>
              <a:rPr sz="1000" b="0">
                <a:solidFill>
                  <a:srgbClr val="33445B"/>
                </a:solidFill>
                <a:latin typeface="Segoe UI"/>
              </a:rPr>
              <a:t>OPENAI_API_KEY / _URL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931920" y="3666744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229600" y="3666744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  · 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What the provider experiences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Four steps, no checkpoint. The provider sees a formatted note, not a reviewable draft.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39112"/>
            <a:ext cx="25603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94944" y="2185416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585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Dictate or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97480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Nuance Dragon writes straight into DOM fields, or ambient capture streams to Google Speech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82112" y="2660904"/>
            <a:ext cx="18288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2424" y="2039112"/>
            <a:ext cx="25603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3520440" y="2185416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5" y="22585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Press the AI 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697480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One request carries the note, the whole instruction tree and the field skeleton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07608" y="2660904"/>
            <a:ext cx="18288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039112"/>
            <a:ext cx="25603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6345936" y="2185416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2585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Watch text stream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697480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The JSON stream is regex-stripped of braces and quotes for display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33104" y="2660904"/>
            <a:ext cx="18288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3415" y="2039112"/>
            <a:ext cx="256032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9171432" y="2185416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7" y="22585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It saves itself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697480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Values populate the form; onSubmit() fires 1,000 ms later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776472"/>
            <a:ext cx="5440680" cy="960120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91C1C"/>
                </a:solidFill>
                <a:latin typeface="Segoe UI"/>
              </a:rPr>
              <a:t>No review step exists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The only signal that something went wrong is a note that looks short — a mid-stream provider failure is indistinguishable from a brief completion.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776472"/>
            <a:ext cx="50292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776472"/>
            <a:ext cx="5440680" cy="960120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No way to fix one field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Correcting a single value means re-running the entire note, which trains providers to accept whatever arrives.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3776472"/>
            <a:ext cx="50292" cy="960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946904"/>
            <a:ext cx="11064240" cy="658368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0F766E"/>
                </a:solidFill>
                <a:latin typeface="Segoe UI"/>
              </a:rPr>
              <a:t>Consequence for measurement:  because nothing records what the provider accepted, edited or rejected, the current flow produces no labelled data — so accuracy cannot be proven either way.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946904"/>
            <a:ext cx="50292" cy="65836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  · 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Four service methods, seven calling contexts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All four build the request body inline. Nothing else in either repository calls a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01952"/>
            <a:ext cx="278892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901952"/>
            <a:ext cx="77724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Shape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7" y="1901952"/>
            <a:ext cx="269748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Calling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30568" y="1901952"/>
            <a:ext cx="233172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Prompt origin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62288" y="1901952"/>
            <a:ext cx="246888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12848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/streamTemplateCompletion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2212848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2 msg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087" y="2212848"/>
            <a:ext cx="2697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Encounter note formatting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30568" y="2212848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Database  ·  AI.prompt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62288" y="2212848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9 placeholders resolved server-side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596896"/>
            <a:ext cx="2788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/streamCompletionWithData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2596896"/>
            <a:ext cx="777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3 msg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3087" y="2596896"/>
            <a:ext cx="2697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Encounter field extraction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2596896"/>
            <a:ext cx="23317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Inline literal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2596896"/>
            <a:ext cx="24688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3rd message = a 2nd user turn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980944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/streamCompletion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2980944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2 msg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3087" y="2980944"/>
            <a:ext cx="2697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Free-text AI command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30568" y="2980944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Inline template literal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62288" y="2980944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field values appended to system msg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364991"/>
            <a:ext cx="2788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/streamCompletion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3364991"/>
            <a:ext cx="777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2 msg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33087" y="3364991"/>
            <a:ext cx="2697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CPT suggestion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30568" y="3364991"/>
            <a:ext cx="23317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Inline literal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62288" y="3364991"/>
            <a:ext cx="24688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~4,500 chars in TypeScript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749039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/streamCompletion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55848" y="3749039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2 msg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3087" y="3749039"/>
            <a:ext cx="2697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Ambient transcript merge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30568" y="3749039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Database  ·  ambient prompt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62288" y="3749039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 fallback if unset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133087"/>
            <a:ext cx="2788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/streamCompletion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55848" y="4133087"/>
            <a:ext cx="777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2 msg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33087" y="4133087"/>
            <a:ext cx="2697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AI field summary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30568" y="4133087"/>
            <a:ext cx="23317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Generated at runtime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62288" y="4133087"/>
            <a:ext cx="24688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4th instruction store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517136"/>
            <a:ext cx="2788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/getCompletion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55848" y="4517136"/>
            <a:ext cx="777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2 msg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3087" y="4517136"/>
            <a:ext cx="2697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JSON repair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0568" y="4517136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Inline literal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62288" y="4517136"/>
            <a:ext cx="2468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workaround to be removed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010912"/>
            <a:ext cx="11064240" cy="713232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Prompt text lives in three places — the database, TypeScript literals, and runtime generation.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A clinical prompt change is therefore a code deploy for some features and a data change for others.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010912"/>
            <a:ext cx="50292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  · 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What every request actually sends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Identical envelope on all four methods.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5486400" cy="2212848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>POST  {OPENAI_API_URL ?? "v1/chat/completions"}</a:t>
            </a:r>
          </a:p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>Authorization: Bearer {apiKey}</a:t>
            </a:r>
          </a:p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>{</a:t>
            </a:r>
          </a:p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>  "model":       "gpt-4o",</a:t>
            </a:r>
          </a:p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>  "temperature": 0,</a:t>
            </a:r>
          </a:p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>  "stream":      true,</a:t>
            </a:r>
          </a:p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>  "messages":    [ system, user ]</a:t>
            </a:r>
          </a:p>
          <a:p>
            <a:pPr algn="l"/>
            <a:r>
              <a:rPr sz="1200" b="0">
                <a:solidFill>
                  <a:srgbClr val="D5E3EC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836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91C1C"/>
                </a:solidFill>
                <a:latin typeface="Segoe UI"/>
              </a:rPr>
              <a:t>ABSENT FROM EVERY 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194560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33A"/>
                </a:solidFill>
                <a:latin typeface="Consolas"/>
              </a:rPr>
              <a:t>response_format / json_schema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04872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the direct cause of the JSON-repair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70048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33A"/>
                </a:solidFill>
                <a:latin typeface="Consolas"/>
              </a:rPr>
              <a:t>max_tokens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80360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output unbounded — no cost or latency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14553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33A"/>
                </a:solidFill>
                <a:latin typeface="Consolas"/>
              </a:rPr>
              <a:t>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355848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not reproducible even at temperature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21024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33A"/>
                </a:solidFill>
                <a:latin typeface="Consolas"/>
              </a:rPr>
              <a:t>user  /  correlation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83133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 completion cannot be traced to a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096512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33A"/>
                </a:solidFill>
                <a:latin typeface="Consolas"/>
              </a:rPr>
              <a:t>tools  / 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06824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no structured interface anywhere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2611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WHAT PATIENT DATA GOES  —  AND WHAT DOES NOT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53712"/>
            <a:ext cx="5440680" cy="274320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B45309"/>
                </a:solidFill>
                <a:latin typeface="Segoe UI"/>
              </a:rPr>
              <a:t>SENT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4553712"/>
            <a:ext cx="5440680" cy="274320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B91C1C"/>
                </a:solidFill>
                <a:latin typeface="Segoe UI"/>
              </a:rPr>
              <a:t>NOT SENT  —  in any of the seven contexts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0118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Free-text clinical note (provider's own words)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7550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Ambient transcript — verbatim, multi-speaker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982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Encounter form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2414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Date of service and today's 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9846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Facility / POS / template / event-type lists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90118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Medication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17550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Vitals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44982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Allergies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72414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Active problem list  (the stated ICD source)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99846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Demographics · prior encounter ·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6272784"/>
            <a:ext cx="5212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·  LOINC / SNOMED bindings per field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  · 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The instruction problem, in two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Both parts are mechanical and reproducible — this is not prompt-tuning drift.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836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91C1C"/>
                </a:solidFill>
                <a:latin typeface="Segoe UI"/>
              </a:rPr>
              <a:t>PART 1  ·  SELECTION, NOT COMPOSITION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31136"/>
            <a:ext cx="5440680" cy="1700784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0">
                <a:solidFill>
                  <a:srgbClr val="D5E3EC"/>
                </a:solidFill>
                <a:latin typeface="Consolas"/>
              </a:rPr>
              <a:t>usp_getPrompt(userId, accountId, encounterId)</a:t>
            </a:r>
          </a:p>
          <a:p>
            <a:pPr algn="l"/>
            <a:r>
              <a:rPr sz="1150" b="0">
                <a:solidFill>
                  <a:srgbClr val="D5E3EC"/>
                </a:solidFill>
                <a:latin typeface="Consolas"/>
              </a:rPr>
              <a:t/>
            </a:r>
          </a:p>
          <a:p>
            <a:pPr algn="l"/>
            <a:r>
              <a:rPr sz="1150" b="0">
                <a:solidFill>
                  <a:srgbClr val="D5E3EC"/>
                </a:solidFill>
                <a:latin typeface="Consolas"/>
              </a:rPr>
              <a:t>  1  template prompt      -&gt; SELECT ... RETURN</a:t>
            </a:r>
          </a:p>
          <a:p>
            <a:pPr algn="l"/>
            <a:r>
              <a:rPr sz="1150" b="0">
                <a:solidFill>
                  <a:srgbClr val="D5E3EC"/>
                </a:solidFill>
                <a:latin typeface="Consolas"/>
              </a:rPr>
              <a:t>  2  account universal    -&gt; SELECT ... RETURN</a:t>
            </a:r>
          </a:p>
          <a:p>
            <a:pPr algn="l"/>
            <a:r>
              <a:rPr sz="1150" b="0">
                <a:solidFill>
                  <a:srgbClr val="D5E3EC"/>
                </a:solidFill>
                <a:latin typeface="Consolas"/>
              </a:rPr>
              <a:t>  3  system universal     -&gt; SELECT 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059935"/>
            <a:ext cx="5440680" cy="1115568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B91C1C"/>
                </a:solidFill>
                <a:latin typeface="Segoe UI"/>
              </a:rPr>
              <a:t>A template prompt REPLACES the universal prompt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Every safety rule held in the universal prompt is silently dropped for any template that has its own — including "do not create a diagnosis the provider did not provide".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059935"/>
            <a:ext cx="50292" cy="111556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88366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91C1C"/>
                </a:solidFill>
                <a:latin typeface="Segoe UI"/>
              </a:rPr>
              <a:t>PART 2  ·  THREE LEVELS FLATTENED TO PROSE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2231136"/>
            <a:ext cx="5440680" cy="402336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0F766E"/>
                </a:solidFill>
                <a:latin typeface="Segoe UI"/>
              </a:rPr>
              <a:t>TEMPLATE   —   AI.prompt.prompt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2688336"/>
            <a:ext cx="5440680" cy="402336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0F766E"/>
                </a:solidFill>
                <a:latin typeface="Segoe UI"/>
              </a:rPr>
              <a:t>SECTION   —   sectionData.sectionPrompt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145536"/>
            <a:ext cx="5440680" cy="402336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>
                <a:solidFill>
                  <a:srgbClr val="0F766E"/>
                </a:solidFill>
                <a:latin typeface="Segoe UI"/>
              </a:rPr>
              <a:t>FIELD   —   fieldData.prompt   (+ a 2nd store: aiSummaryPrompt)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32520" y="3621024"/>
            <a:ext cx="201168" cy="201168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3877056"/>
            <a:ext cx="5440680" cy="566928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D5E3EC"/>
                </a:solidFill>
                <a:latin typeface="Consolas"/>
              </a:rPr>
              <a:t>getPromptBody()  -&gt;  one prose string, no delimiters, no precedence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4553712"/>
            <a:ext cx="5440680" cy="822960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B91C1C"/>
                </a:solidFill>
                <a:latin typeface="Segoe UI"/>
              </a:rPr>
              <a:t>Once flattened, the merge is irreversible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There is no way to detect that a field instruction contradicts its section, or that either contradicts the template.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4553712"/>
            <a:ext cx="50292" cy="8229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  · 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ICD and CPT are generated, not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Both are asked of the model as open-ended generation tasks, constrained only by prose.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8366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ICD  — 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94560"/>
            <a:ext cx="5440680" cy="14813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Consolas"/>
              </a:rPr>
              <a:t>"Extract the appropriate comma separated ICD code(s) only from</a:t>
            </a:r>
          </a:p>
          <a:p>
            <a:pPr algn="l"/>
            <a:r>
              <a:rPr sz="1050" b="0">
                <a:solidFill>
                  <a:srgbClr val="33445B"/>
                </a:solidFill>
                <a:latin typeface="Consolas"/>
              </a:rPr>
              <a:t> the following provider note ... Do not select any incomplete</a:t>
            </a:r>
          </a:p>
          <a:p>
            <a:pPr algn="l"/>
            <a:r>
              <a:rPr sz="1050" b="0">
                <a:solidFill>
                  <a:srgbClr val="33445B"/>
                </a:solidFill>
                <a:latin typeface="Consolas"/>
              </a:rPr>
              <a:t> ICD codes. Do not select any unbillable/outdated ICD codes.</a:t>
            </a:r>
          </a:p>
          <a:p>
            <a:pPr algn="l"/>
            <a:r>
              <a:rPr sz="1050" b="0">
                <a:solidFill>
                  <a:srgbClr val="33445B"/>
                </a:solidFill>
                <a:latin typeface="Consolas"/>
              </a:rPr>
              <a:t> Do not select any IMO-custom created ICD codes."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883664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CPT  — 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2194560"/>
            <a:ext cx="5440680" cy="14813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Consolas"/>
              </a:rPr>
              <a:t>"Consider/Evaluate the following to suggest CPT codes</a:t>
            </a:r>
          </a:p>
          <a:p>
            <a:pPr algn="l"/>
            <a:r>
              <a:rPr sz="1050" b="0">
                <a:solidFill>
                  <a:srgbClr val="33445B"/>
                </a:solidFill>
                <a:latin typeface="Consolas"/>
              </a:rPr>
              <a:t> 1. Type of Service  2. E/M complexity  3. Duration of therapy</a:t>
            </a:r>
          </a:p>
          <a:p>
            <a:pPr algn="l"/>
            <a:r>
              <a:rPr sz="1050" b="0">
                <a:solidFill>
                  <a:srgbClr val="33445B"/>
                </a:solidFill>
                <a:latin typeface="Consolas"/>
              </a:rPr>
              <a:t> (in minutes or hours)  4. Patient comorbidities ...</a:t>
            </a:r>
          </a:p>
          <a:p>
            <a:pPr algn="l"/>
            <a:r>
              <a:rPr sz="1050" b="0">
                <a:solidFill>
                  <a:srgbClr val="33445B"/>
                </a:solidFill>
                <a:latin typeface="Consolas"/>
              </a:rPr>
              <a:t> 9. Consider Place of Service is &lt;&lt;encounterPOS&gt;&gt;."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58768"/>
            <a:ext cx="5440680" cy="987552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B91C1C"/>
                </a:solidFill>
                <a:latin typeface="Segoe UI"/>
              </a:rPr>
              <a:t>The prohibitions are unenforceable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"do not select unbillable / outdated / IMO-custom codes" is prompt text. Nothing validates the returned code against a billable code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858768"/>
            <a:ext cx="50292" cy="9875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3858768"/>
            <a:ext cx="5440680" cy="987552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B91C1C"/>
                </a:solidFill>
                <a:latin typeface="Segoe UI"/>
              </a:rPr>
              <a:t>The problem list is never sent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The client's stated ICD source does not reach the model in any request. Codes are inferred from narrative instead of selected from the chart.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858768"/>
            <a:ext cx="50292" cy="9875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992624"/>
            <a:ext cx="5440680" cy="987552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B91C1C"/>
                </a:solidFill>
                <a:latin typeface="Segoe UI"/>
              </a:rPr>
              <a:t>Visit duration does not exist as data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CPT E/M asks for therapy duration. Verified: no duration column exists, and encounter carries eventTypeId but no eventId — so the appointment slot cannot even be joined.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992624"/>
            <a:ext cx="50292" cy="9875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4992624"/>
            <a:ext cx="5440680" cy="987552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B45309"/>
                </a:solidFill>
                <a:latin typeface="Segoe UI"/>
              </a:rPr>
              <a:t>Instructions are duplicated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The For CPT-code block exists near-verbatim in both AI.prompt and a TypeScript literal, maintained separately.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4992624"/>
            <a:ext cx="50292" cy="9875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The extraction path writes to the record unattended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Route /streamCompletionWithData  ·  add-rounding-notes.component.ts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21991"/>
            <a:ext cx="170078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Dictated note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76856" y="2560320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2221991"/>
            <a:ext cx="170078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Inline prompt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pins a JSON shape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78808" y="2560320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2221991"/>
            <a:ext cx="170078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gpt-4o response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accumulated into htmlData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80760" y="2560320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2784" y="2221991"/>
            <a:ext cx="1700784" cy="859536"/>
          </a:xfrm>
          <a:prstGeom prst="roundRect">
            <a:avLst>
              <a:gd name="adj" fmla="val 8000"/>
            </a:avLst>
          </a:prstGeom>
          <a:solidFill>
            <a:srgbClr val="FDF0D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45309"/>
                </a:solidFill>
                <a:latin typeface="Segoe UI"/>
              </a:rPr>
              <a:t>updateExtractedDataToForm()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82712" y="2560320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2221991"/>
            <a:ext cx="1700784" cy="859536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91C1C"/>
                </a:solidFill>
                <a:latin typeface="Segoe UI"/>
              </a:rPr>
              <a:t>timer(1000)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884663" y="2560320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76688" y="2221991"/>
            <a:ext cx="1700784" cy="859536"/>
          </a:xfrm>
          <a:prstGeom prst="roundRect">
            <a:avLst>
              <a:gd name="adj" fmla="val 8000"/>
            </a:avLst>
          </a:prstGeom>
          <a:solidFill>
            <a:srgbClr val="FCE7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B91C1C"/>
                </a:solidFill>
                <a:latin typeface="Segoe UI"/>
              </a:rPr>
              <a:t>onSubmit()</a:t>
            </a:r>
          </a:p>
          <a:p>
            <a:pPr algn="ctr"/>
            <a:r>
              <a:rPr sz="1050" b="0">
                <a:solidFill>
                  <a:srgbClr val="B91C1C"/>
                </a:solidFill>
                <a:latin typeface="Segoe UI"/>
              </a:rPr>
              <a:t>encounter saved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10711"/>
            <a:ext cx="11064240" cy="475488"/>
          </a:xfrm>
          <a:prstGeom prst="rect">
            <a:avLst/>
          </a:prstGeom>
          <a:solidFill>
            <a:srgbClr val="FCE7E7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B91C1C"/>
                </a:solidFill>
                <a:latin typeface="Segoe UI"/>
              </a:rPr>
              <a:t>no schema validation      ·      no field whitelist      ·      no clinician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105656"/>
            <a:ext cx="5440680" cy="1024128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91C1C"/>
                </a:solidFill>
                <a:latin typeface="Segoe UI"/>
              </a:rPr>
              <a:t>The ID fields are the risk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encounterTempleteID, eventTypeId, POSID and facilityID are written as free strings. A wrong value attaches the encounter to the wrong template, visit type or facility.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105656"/>
            <a:ext cx="50292" cy="10241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4105656"/>
            <a:ext cx="5440680" cy="1024128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The valid values are already in the prompt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The five-element additionalData array carries the legal ID enumerations — as prose, in a position where the decoder cannot enforce them.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4105656"/>
            <a:ext cx="50292" cy="10241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Findings from code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Each of these differs from what the documentation or the brief asserts.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01952"/>
            <a:ext cx="292608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Finding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008" y="1901952"/>
            <a:ext cx="580644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99448" y="1901952"/>
            <a:ext cx="233172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12848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maskPHI() is a no-op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2212848"/>
            <a:ext cx="580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phi-masker.ts:133 returns the input unchanged; ~170 lines below it are unreachable. PHI reaches the provider and the AI log table unmasked.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9448" y="2212848"/>
            <a:ext cx="2331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Verify BAA &amp; rotate keys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71215"/>
            <a:ext cx="29260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Code path is OpenAI-direct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3008" y="2871215"/>
            <a:ext cx="58064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Bearer auth and sk-proj- keys in six tracked appsettings files. Production may override the URL to Azure — this needs one query to confirm.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99448" y="2871215"/>
            <a:ext cx="23317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Read prod app settings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529583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No AI confidence scores exist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93008" y="3529583"/>
            <a:ext cx="580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Checked all branches and full history. The only confidence values are IMO terminology matching and HIE patient matching.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9448" y="3529583"/>
            <a:ext cx="2331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Treat as new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187951"/>
            <a:ext cx="29260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Logs do not match the wire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4187951"/>
            <a:ext cx="580644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Template route logs the unresolved prompt; withData logs three messages as one string; streamed responses are logged after regex mangling.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99448" y="4187951"/>
            <a:ext cx="23317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Rework audit first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846319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Seeded prompt cannot be selected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93008" y="4846319"/>
            <a:ext cx="5806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isActive = 0 and isUniversal = NULL — priorities 2 and 3 both miss, so some accounts may run with no system prompt at 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99448" y="4846319"/>
            <a:ext cx="2331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Audit AI.prompt rows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577840"/>
            <a:ext cx="11064240" cy="603504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0F766E"/>
                </a:solidFill>
                <a:latin typeface="Segoe UI"/>
              </a:rPr>
              <a:t>None of these are model problems. All five must be settled before an accuracy claim of any kind can be made.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577840"/>
            <a:ext cx="50292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Root causes, mapped to the symptoms you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Fixing symptoms individually will not move accuracy; these are the upstream causes.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01952"/>
            <a:ext cx="301752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Root cause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4448" y="1901952"/>
            <a:ext cx="365760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Symptom the team 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12848"/>
            <a:ext cx="3017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One call does four unrelated jobs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4448" y="2212848"/>
            <a:ext cx="3657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Format fields · extract ICD · select CPT · resolve follow-up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42048" y="2212848"/>
            <a:ext cx="4389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Inconsistent quality across sections; hallucinations appear anywhere, not in one field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16352"/>
            <a:ext cx="30175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 output constraint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2816352"/>
            <a:ext cx="365760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 response_format on any route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816352"/>
            <a:ext cx="43891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Malformed JSON; a repair call; four validation demands consuming instruction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419856"/>
            <a:ext cx="3017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 clinical grounding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4448" y="3419856"/>
            <a:ext cx="3657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Chart data never reaches the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3419856"/>
            <a:ext cx="4389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Invented medications and history; ICD inferred from narrative rather than the problem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023360"/>
            <a:ext cx="30175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Instructions flattened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4448" y="4023360"/>
            <a:ext cx="365760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Three levels concatenated to prose; selection is winner-takes-all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4023360"/>
            <a:ext cx="43891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Template-specific behaviour is unpredictable; safety rules silently dropped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26864"/>
            <a:ext cx="3017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Codes generated, not selected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4448" y="4626864"/>
            <a:ext cx="3657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 candidate set, no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4626864"/>
            <a:ext cx="4389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Unbillable, outdated and incomplete codes; unverifiable CPT justification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230368"/>
            <a:ext cx="30175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 human checkpoint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448" y="5230368"/>
            <a:ext cx="365760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timer(1000) auto-submit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5230368"/>
            <a:ext cx="438912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Errors reach the record; and no accept/edit/reject signal is ever captured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514600"/>
            <a:ext cx="1280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0F766E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651760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Proposed  · 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FB3C8"/>
                </a:solidFill>
                <a:latin typeface="Segoe UI"/>
              </a:rPr>
              <a:t>One engine, compiled configuration, a decomposed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3310128"/>
            <a:ext cx="27432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67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Six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Every decision in the target design traces back to one of these.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92024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33A"/>
                </a:solidFill>
                <a:latin typeface="Segoe UI"/>
              </a:rPr>
              <a:t>One engine, configuration per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176272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Template behaviour comes from compiled config, not from separate prompts. Providers change nothing.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578608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33A"/>
                </a:solidFill>
                <a:latin typeface="Segoe UI"/>
              </a:rPr>
              <a:t>Guards are enforced server-side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834639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Entitlement, PHI policy, injection screening, schema validation. The browser holds no security role.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18687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236975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33A"/>
                </a:solidFill>
                <a:latin typeface="Segoe UI"/>
              </a:rPr>
              <a:t>Nothing is generated that can be looked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493007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ICD from the problem list, CPT from time and provider type, normals from templatefieldNormals — rules, not prompts.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77055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895343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33A"/>
                </a:solidFill>
                <a:latin typeface="Segoe UI"/>
              </a:rPr>
              <a:t>Every value carries its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151375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Each field cites the span it came from, so unsupported content is detectable rather than merely discouraged.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35423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553711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33A"/>
                </a:solidFill>
                <a:latin typeface="Segoe UI"/>
              </a:rPr>
              <a:t>The clinician attests before anything is written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809743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The gate is also the instrument: accept / edit / reject is the labelled data accuracy will be judged 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93791"/>
            <a:ext cx="475488" cy="47548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212079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33A"/>
                </a:solidFill>
                <a:latin typeface="Segoe UI"/>
              </a:rPr>
              <a:t>Model choice is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5468111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Segoe UI"/>
              </a:rPr>
              <a:t>One provider interface, per-task routing. A model change is a config change, gated on the eval 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Target architecture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Angular form and its field order are untouched. A review surface is added before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65376"/>
            <a:ext cx="3017520" cy="374903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38528"/>
            <a:ext cx="27980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4487" y="1865376"/>
            <a:ext cx="4892040" cy="374903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4215" y="1938528"/>
            <a:ext cx="46725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pacEHR_API  ·  PacEHR.AI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16568" y="1865376"/>
            <a:ext cx="2514600" cy="374903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6296" y="1938528"/>
            <a:ext cx="22951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AZURE  ·  BAA + ZDR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267712"/>
            <a:ext cx="27249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Capture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dictate · ambient · type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provenance tagged at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072384"/>
            <a:ext cx="27249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Staged progress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sections stream in as 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77056"/>
            <a:ext cx="2724912" cy="731520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Review &amp; Attest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3-state fields · evidence on hover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submit gated on zero blockers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681728"/>
            <a:ext cx="2724912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0233A"/>
                </a:solidFill>
                <a:latin typeface="Segoe UI"/>
              </a:rPr>
              <a:t>Encounter form</a:t>
            </a:r>
          </a:p>
          <a:p>
            <a:pPr algn="ctr"/>
            <a:r>
              <a:rPr sz="1050" b="0">
                <a:solidFill>
                  <a:srgbClr val="10233A"/>
                </a:solidFill>
                <a:latin typeface="Segoe UI"/>
              </a:rPr>
              <a:t>unchanged · field order preserved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2267712"/>
            <a:ext cx="230428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1  Entitlement + AuthZ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267712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2  Template Config Compiler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0791" y="2907791"/>
            <a:ext cx="230428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3  Instruction Resolver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907791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4  Context Assembly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3547872"/>
            <a:ext cx="230428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5  Rules Engine (no model)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47872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6  Generation Orchestrator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0791" y="4187952"/>
            <a:ext cx="230428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7  Verification + Provenance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187952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8  Audit + Telemetry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62872" y="2267712"/>
            <a:ext cx="223113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0233A"/>
                </a:solidFill>
                <a:latin typeface="Segoe UI"/>
              </a:rPr>
              <a:t>Azure OpenAI</a:t>
            </a:r>
          </a:p>
          <a:p>
            <a:pPr algn="ctr"/>
            <a:r>
              <a:rPr sz="1100" b="0">
                <a:solidFill>
                  <a:srgbClr val="10233A"/>
                </a:solidFill>
                <a:latin typeface="Segoe UI"/>
              </a:rPr>
              <a:t>Managed Identity</a:t>
            </a:r>
          </a:p>
          <a:p>
            <a:pPr algn="ctr"/>
            <a:r>
              <a:rPr sz="1100" b="0">
                <a:solidFill>
                  <a:srgbClr val="10233A"/>
                </a:solidFill>
                <a:latin typeface="Segoe UI"/>
              </a:rPr>
              <a:t>no API key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62872" y="3566160"/>
            <a:ext cx="2231136" cy="1005840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5803D"/>
                </a:solidFill>
                <a:latin typeface="Segoe UI"/>
              </a:rPr>
              <a:t>structured outputs</a:t>
            </a:r>
          </a:p>
          <a:p>
            <a:pPr algn="ctr"/>
            <a:r>
              <a:rPr sz="1100" b="0">
                <a:solidFill>
                  <a:srgbClr val="15803D"/>
                </a:solidFill>
                <a:latin typeface="Segoe UI"/>
              </a:rPr>
              <a:t>strict: true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62872" y="4681728"/>
            <a:ext cx="2231136" cy="78638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33445B"/>
                </a:solidFill>
                <a:latin typeface="Segoe UI"/>
              </a:rPr>
              <a:t>Existing internal APIs</a:t>
            </a:r>
          </a:p>
          <a:p>
            <a:pPr algn="ctr"/>
            <a:r>
              <a:rPr sz="950" b="0">
                <a:solidFill>
                  <a:srgbClr val="33445B"/>
                </a:solidFill>
                <a:latin typeface="Segoe UI"/>
              </a:rPr>
              <a:t>meds · vitals · problems</a:t>
            </a:r>
          </a:p>
          <a:p>
            <a:pPr algn="ctr"/>
            <a:r>
              <a:rPr sz="950" b="0">
                <a:solidFill>
                  <a:srgbClr val="33445B"/>
                </a:solidFill>
                <a:latin typeface="Segoe UI"/>
              </a:rPr>
              <a:t>(no new integrations)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29584" y="3648456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8732520" y="3648456"/>
            <a:ext cx="274320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THE CORE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Separate understanding the note from filling the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note is parsed once into a clinical facts ledger. Everything downstream reads the ledger.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5806440" cy="210312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D5E3EC"/>
                </a:solidFill>
                <a:latin typeface="Consolas"/>
              </a:rPr>
              <a:t>[</a:t>
            </a:r>
          </a:p>
          <a:p>
            <a:pPr algn="l"/>
            <a:r>
              <a:rPr sz="1050" b="0">
                <a:solidFill>
                  <a:srgbClr val="D5E3EC"/>
                </a:solidFill>
                <a:latin typeface="Consolas"/>
              </a:rPr>
              <a:t>  { "id":"f1", "type":"symptom",  "value":"improved dyspnoea",</a:t>
            </a:r>
          </a:p>
          <a:p>
            <a:pPr algn="l"/>
            <a:r>
              <a:rPr sz="1050" b="0">
                <a:solidFill>
                  <a:srgbClr val="D5E3EC"/>
                </a:solidFill>
                <a:latin typeface="Consolas"/>
              </a:rPr>
              <a:t>    "span":[42,78],  "negated":false },</a:t>
            </a:r>
          </a:p>
          <a:p>
            <a:pPr algn="l"/>
            <a:r>
              <a:rPr sz="1050" b="0">
                <a:solidFill>
                  <a:srgbClr val="D5E3EC"/>
                </a:solidFill>
                <a:latin typeface="Consolas"/>
              </a:rPr>
              <a:t>  { "id":"f2", "type":"finding",  "value":"lungs clear",</a:t>
            </a:r>
          </a:p>
          <a:p>
            <a:pPr algn="l"/>
            <a:r>
              <a:rPr sz="1050" b="0">
                <a:solidFill>
                  <a:srgbClr val="D5E3EC"/>
                </a:solidFill>
                <a:latin typeface="Consolas"/>
              </a:rPr>
              <a:t>    "span":[112,135] },</a:t>
            </a:r>
          </a:p>
          <a:p>
            <a:pPr algn="l"/>
            <a:r>
              <a:rPr sz="1050" b="0">
                <a:solidFill>
                  <a:srgbClr val="D5E3EC"/>
                </a:solidFill>
                <a:latin typeface="Consolas"/>
              </a:rPr>
              <a:t>  { "id":"f5", "type":"temporal", "value":"two weeks",</a:t>
            </a:r>
          </a:p>
          <a:p>
            <a:pPr algn="l"/>
            <a:r>
              <a:rPr sz="1050" b="0">
                <a:solidFill>
                  <a:srgbClr val="D5E3EC"/>
                </a:solidFill>
                <a:latin typeface="Consolas"/>
              </a:rPr>
              <a:t>    "span":[201,210], "resolved":"2026-03-28" }</a:t>
            </a:r>
          </a:p>
          <a:p>
            <a:pPr algn="l"/>
            <a:r>
              <a:rPr sz="1050" b="0">
                <a:solidFill>
                  <a:srgbClr val="D5E3EC"/>
                </a:solidFill>
                <a:latin typeface="Consolas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83664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Segoe UI"/>
              </a:rPr>
              <a:t>Evidence spans come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2140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Every field cites ledger ids, so hallucination is detectable, not merely discouraged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50592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Segoe UI"/>
              </a:rPr>
              <a:t>Per-field regeneration is 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8833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Re-running one field re-reads the same facts, so the answer does not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Segoe UI"/>
              </a:rPr>
              <a:t>Back-and-forth stays cheap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552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Each turn carries a ledger subset, not the whole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84448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Segoe UI"/>
              </a:rPr>
              <a:t>No circular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2219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445B"/>
                </a:solidFill>
                <a:latin typeface="Segoe UI"/>
              </a:rPr>
              <a:t>AI output never enters the ledger, so it cannot become evidence for itself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69664"/>
            <a:ext cx="11064240" cy="859536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The risk, and the mitigation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Two-hop information loss — if the ledger misses something, no downstream field can recover it. Tune the ledger pass for recall, then run a coverage check: what share of note sentences map to at least one ledger entry. Unmapped sentences are surfaced to the provider as "not captured".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69664"/>
            <a:ext cx="50292" cy="85953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Breaking one call into 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Section — not field — is the composition unit. Field level is the repair granularity.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2048256" cy="2084831"/>
          </a:xfrm>
          <a:prstGeom prst="rect">
            <a:avLst/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40080" y="1993391"/>
            <a:ext cx="347472" cy="34747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29967"/>
            <a:ext cx="1453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5803D"/>
                </a:solidFill>
                <a:latin typeface="Segoe UI"/>
              </a:rPr>
              <a:t>Context</a:t>
            </a:r>
          </a:p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5803D"/>
                </a:solidFill>
                <a:latin typeface="Segoe UI"/>
              </a:rPr>
              <a:t>+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633472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chart data · ICD set from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problem list · CPT set from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time+provider+POS · normals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5661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rules only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28900" y="2889504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920240"/>
            <a:ext cx="2048256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2889504" y="1993391"/>
            <a:ext cx="347472" cy="347472"/>
          </a:xfrm>
          <a:prstGeom prst="ellipse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029967"/>
            <a:ext cx="1453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633472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parse the note once into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atomic facts with spans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5661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1 call  ~1.5K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78324" y="2889504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920240"/>
            <a:ext cx="2048256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5138928" y="1993391"/>
            <a:ext cx="347472" cy="347472"/>
          </a:xfrm>
          <a:prstGeom prst="ellipse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2029967"/>
            <a:ext cx="1453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2633472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one call per SECTION,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schema-constrained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35661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4-way parallel</a:t>
            </a:r>
          </a:p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~1-2K each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27748" y="2889504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1920240"/>
            <a:ext cx="2048256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7388352" y="1993391"/>
            <a:ext cx="347472" cy="347472"/>
          </a:xfrm>
          <a:prstGeom prst="ellipse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029967"/>
            <a:ext cx="1453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2633472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ICD + CPT selected from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the candidate enum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35661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2-way parallel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77172" y="2889504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64624" y="1920240"/>
            <a:ext cx="2048256" cy="2084831"/>
          </a:xfrm>
          <a:prstGeom prst="rect">
            <a:avLst/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9637776" y="1993391"/>
            <a:ext cx="347472" cy="347472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7544" y="2029967"/>
            <a:ext cx="1453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5803D"/>
                </a:solidFill>
                <a:latin typeface="Segoe UI"/>
              </a:rPr>
              <a:t>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633472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span checks · rule checks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cross-field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4352" y="35661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mostly rules</a:t>
            </a:r>
          </a:p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can run async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206240"/>
            <a:ext cx="3566160" cy="1207008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</a:rPr>
              <a:t>Why section, not field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Per-field calls would mean 30 round trips and would lose sibling coherence — Assessment and Plan must agree. Sections already exist in templateSection.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206240"/>
            <a:ext cx="50292" cy="1207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4206240"/>
            <a:ext cx="3566160" cy="1207008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</a:rPr>
              <a:t>Cost and latency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Tokens rise, wall-clock does not — tiers 2 and 3 fan out. Cache breakpoint after patient context and schema (stable), before the ledger (volatile).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5968" y="4206240"/>
            <a:ext cx="50292" cy="1207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5008" y="4206240"/>
            <a:ext cx="3566160" cy="1207008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B45309"/>
                </a:solidFill>
                <a:latin typeface="Segoe UI"/>
              </a:rPr>
              <a:t>Latency-adaptive by design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Tier 4 can run after first render, and fan-out degree is a config knob — so the budget can be set after measuring, not before.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5008" y="4206240"/>
            <a:ext cx="50292" cy="1207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One engine, per-template config — compiled, not authored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configuration does not need to be written. It can be derived from metadata that already exists.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4748B"/>
                </a:solidFill>
                <a:latin typeface="Segoe UI"/>
              </a:rPr>
              <a:t>EXISTING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76272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Trimmed.pr1_template_field</a:t>
            </a:r>
          </a:p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>field_data_type · unit · finding_type</a:t>
            </a:r>
          </a:p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>LOINC + SNOMED bindings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Template.templateSection</a:t>
            </a:r>
          </a:p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>section identity and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56432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Template.templatefieldNormals</a:t>
            </a:r>
          </a:p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>normal findings per template +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96512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dbo.TemplateFieldValidation</a:t>
            </a:r>
          </a:p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>existing field / section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36592"/>
            <a:ext cx="4160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0233A"/>
                </a:solidFill>
                <a:latin typeface="Segoe UI"/>
              </a:rPr>
              <a:t>AI.prompt</a:t>
            </a:r>
          </a:p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>instruction 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46320" y="3410712"/>
            <a:ext cx="256032" cy="219456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86537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COMPILER OUTPUT  ·  per template, content-hashed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176272"/>
            <a:ext cx="6373368" cy="566928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5803D"/>
                </a:solidFill>
                <a:latin typeface="Segoe UI"/>
              </a:rPr>
              <a:t>Strict JSON Schema</a:t>
            </a:r>
          </a:p>
          <a:p>
            <a:pPr algn="ctr"/>
            <a:r>
              <a:rPr sz="1000" b="0">
                <a:solidFill>
                  <a:srgbClr val="15803D"/>
                </a:solidFill>
                <a:latin typeface="Segoe UI"/>
              </a:rPr>
              <a:t>types and units per field · ID fields enum-bound to the values valid for this account and patient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816352"/>
            <a:ext cx="6373368" cy="566928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5803D"/>
                </a:solidFill>
                <a:latin typeface="Segoe UI"/>
              </a:rPr>
              <a:t>Resolved instruction bundle</a:t>
            </a:r>
          </a:p>
          <a:p>
            <a:pPr algn="ctr"/>
            <a:r>
              <a:rPr sz="1000" b="0">
                <a:solidFill>
                  <a:srgbClr val="15803D"/>
                </a:solidFill>
                <a:latin typeface="Segoe UI"/>
              </a:rPr>
              <a:t>typed directives, layered and linted — not concatenated prose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3456432"/>
            <a:ext cx="6373368" cy="566928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5803D"/>
                </a:solidFill>
                <a:latin typeface="Segoe UI"/>
              </a:rPr>
              <a:t>Required-element checklist</a:t>
            </a:r>
          </a:p>
          <a:p>
            <a:pPr algn="ctr"/>
            <a:r>
              <a:rPr sz="1000" b="0">
                <a:solidFill>
                  <a:srgbClr val="15803D"/>
                </a:solidFill>
                <a:latin typeface="Segoe UI"/>
              </a:rPr>
              <a:t>the completeness model, and the omission metric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4096512"/>
            <a:ext cx="6373368" cy="566928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5803D"/>
                </a:solidFill>
                <a:latin typeface="Segoe UI"/>
              </a:rPr>
              <a:t>Normals / macro map</a:t>
            </a:r>
          </a:p>
          <a:p>
            <a:pPr algn="ctr"/>
            <a:r>
              <a:rPr sz="1000" b="0">
                <a:solidFill>
                  <a:srgbClr val="15803D"/>
                </a:solidFill>
                <a:latin typeface="Segoe UI"/>
              </a:rPr>
              <a:t>"All ENT normal" becomes a deterministic expansion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4736592"/>
            <a:ext cx="6373368" cy="566928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5803D"/>
                </a:solidFill>
                <a:latin typeface="Segoe UI"/>
              </a:rPr>
              <a:t>Terminology bindings</a:t>
            </a:r>
          </a:p>
          <a:p>
            <a:pPr algn="ctr"/>
            <a:r>
              <a:rPr sz="1000" b="0">
                <a:solidFill>
                  <a:srgbClr val="15803D"/>
                </a:solidFill>
                <a:latin typeface="Segoe UI"/>
              </a:rPr>
              <a:t>extracted values validated against the coding system the template already declares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449824"/>
            <a:ext cx="11064240" cy="731520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0F766E"/>
                </a:solidFill>
                <a:latin typeface="Segoe UI"/>
              </a:rPr>
              <a:t>This is what resolves the "one engine vs. many templates" question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Behavioural Health and Primary Care differ because their metadata differs — not because they have separate prompts. Providers change nothing; no template restructuring, no new authoring UI.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449824"/>
            <a:ext cx="50292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Instruction composition replaces prompt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Layered merge with an immutable safety floor, and conflicts caught before release.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6309360" cy="566928"/>
          </a:xfrm>
          <a:prstGeom prst="rect">
            <a:avLst/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7510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Segoe UI"/>
              </a:rPr>
              <a:t>LAYER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95681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Safety invariants — capture, don't infer · no unstated diagnosis · output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94560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5803D"/>
                </a:solidFill>
                <a:latin typeface="Segoe UI"/>
              </a:rPr>
              <a:t>IMMUTABLE — cannot be overridden by any layer below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05456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42616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33A"/>
                </a:solidFill>
                <a:latin typeface="Segoe UI"/>
              </a:rPr>
              <a:t>LAYER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642616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Specialty / care setting — Behavioural Health · Primary Care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17520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54680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33A"/>
                </a:solidFill>
                <a:latin typeface="Segoe UI"/>
              </a:rPr>
              <a:t>LAYER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154680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Account / organisation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29584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6674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33A"/>
                </a:solidFill>
                <a:latin typeface="Segoe UI"/>
              </a:rPr>
              <a:t>LAYER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666744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Template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041648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178808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33A"/>
                </a:solidFill>
                <a:latin typeface="Segoe UI"/>
              </a:rPr>
              <a:t>LAYER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178808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Section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53712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690872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33A"/>
                </a:solidFill>
                <a:latin typeface="Segoe UI"/>
              </a:rPr>
              <a:t>LAYER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690872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Field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1883664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MERGE ALGEBRA BY DIRECTIVE 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2194560"/>
            <a:ext cx="169164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950" b="1">
                <a:solidFill>
                  <a:srgbClr val="FFFFFF"/>
                </a:solidFill>
                <a:latin typeface="Segoe UI"/>
              </a:rPr>
              <a:t>Directive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194560"/>
            <a:ext cx="2761488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950" b="1">
                <a:solidFill>
                  <a:srgbClr val="FFFFFF"/>
                </a:solidFill>
                <a:latin typeface="Segoe UI"/>
              </a:rPr>
              <a:t>Merge rule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505456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B91C1C"/>
                </a:solidFill>
                <a:latin typeface="Segoe UI"/>
              </a:rPr>
              <a:t>prohibition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2505456"/>
            <a:ext cx="27614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B91C1C"/>
                </a:solidFill>
                <a:latin typeface="Segoe UI"/>
              </a:rPr>
              <a:t>union — never overridden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2852927"/>
            <a:ext cx="16916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33445B"/>
                </a:solidFill>
                <a:latin typeface="Segoe UI"/>
              </a:rPr>
              <a:t>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2852927"/>
            <a:ext cx="2761488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33445B"/>
                </a:solidFill>
                <a:latin typeface="Segoe UI"/>
              </a:rPr>
              <a:t>union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3200399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33445B"/>
                </a:solidFill>
                <a:latin typeface="Segoe UI"/>
              </a:rPr>
              <a:t>format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200399"/>
            <a:ext cx="27614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33445B"/>
                </a:solidFill>
                <a:latin typeface="Segoe UI"/>
              </a:rPr>
              <a:t>most specific wins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3547871"/>
            <a:ext cx="16916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33445B"/>
                </a:solidFill>
                <a:latin typeface="Segoe UI"/>
              </a:rPr>
              <a:t>style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3547871"/>
            <a:ext cx="2761488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33445B"/>
                </a:solidFill>
                <a:latin typeface="Segoe UI"/>
              </a:rPr>
              <a:t>most specific wins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3895344"/>
            <a:ext cx="1691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33445B"/>
                </a:solidFill>
                <a:latin typeface="Segoe UI"/>
              </a:rPr>
              <a:t>vocabulary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3895344"/>
            <a:ext cx="27614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33445B"/>
                </a:solidFill>
                <a:latin typeface="Segoe UI"/>
              </a:rPr>
              <a:t>most specific, must satisfy binding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4334256"/>
            <a:ext cx="4453128" cy="1225296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050" b="1">
                <a:solidFill>
                  <a:srgbClr val="0F766E"/>
                </a:solidFill>
                <a:latin typeface="Segoe UI"/>
              </a:rPr>
              <a:t>Conflicts become a build error</a:t>
            </a:r>
          </a:p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The linter refuses to publish a bundle where two directives of the same type and scope contradict, and names the colliding prompt rows. The resolved bundle is content-hashed and the hash is logged with every completion.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4334256"/>
            <a:ext cx="50292" cy="1225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ICD and CPT — closed candidate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model never generates a code. It selects from a set and justifies the choice.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5803D"/>
                </a:solidFill>
                <a:latin typeface="Segoe UI"/>
              </a:rPr>
              <a:t>Rules produce candidates</a:t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/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>ICD: active problem list</a:t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>CPT: duration + provider type + POS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36976" y="2377440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8144" y="19202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5803D"/>
                </a:solidFill>
                <a:latin typeface="Segoe UI"/>
              </a:rPr>
              <a:t>Schema binds the enum</a:t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/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>the code field accepts only</a:t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>a value from that set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08192" y="2377440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9202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0233A"/>
                </a:solidFill>
                <a:latin typeface="Segoe UI"/>
              </a:rPr>
              <a:t>Model selects + justifies</a:t>
            </a:r>
          </a:p>
          <a:p>
            <a:pPr algn="ctr"/>
            <a:r>
              <a:rPr sz="1150" b="0">
                <a:solidFill>
                  <a:srgbClr val="10233A"/>
                </a:solidFill>
                <a:latin typeface="Segoe UI"/>
              </a:rPr>
              <a:t/>
            </a:r>
          </a:p>
          <a:p>
            <a:pPr algn="ctr"/>
            <a:r>
              <a:rPr sz="1150" b="0">
                <a:solidFill>
                  <a:srgbClr val="10233A"/>
                </a:solidFill>
                <a:latin typeface="Segoe UI"/>
              </a:rPr>
              <a:t>reasoning over the ledger,</a:t>
            </a:r>
          </a:p>
          <a:p>
            <a:pPr algn="ctr"/>
            <a:r>
              <a:rPr sz="1150" b="0">
                <a:solidFill>
                  <a:srgbClr val="10233A"/>
                </a:solidFill>
                <a:latin typeface="Segoe UI"/>
              </a:rPr>
              <a:t>not code generation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979408" y="2377440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0576" y="19202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5803D"/>
                </a:solidFill>
                <a:latin typeface="Segoe UI"/>
              </a:rPr>
              <a:t>Rules validate the result</a:t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/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>billable? valid for POS?</a:t>
            </a:r>
          </a:p>
          <a:p>
            <a:pPr algn="ctr"/>
            <a:r>
              <a:rPr sz="1150" b="0">
                <a:solidFill>
                  <a:srgbClr val="15803D"/>
                </a:solidFill>
                <a:latin typeface="Segoe UI"/>
              </a:rPr>
              <a:t>justification complete?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5440680" cy="1225296"/>
          </a:xfrm>
          <a:prstGeom prst="rect">
            <a:avLst/>
          </a:prstGeom>
          <a:solidFill>
            <a:srgbClr val="DD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15803D"/>
                </a:solidFill>
                <a:latin typeface="Segoe UI"/>
              </a:rPr>
              <a:t>What this changes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Invalid, outdated, unbillable and IMO-custom codes become structurally impossible rather than prohibited by prompt text. "Do not select unbillable codes" stops being a hope and becomes a property of the decoder.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291840"/>
            <a:ext cx="50292" cy="1225296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3291840"/>
            <a:ext cx="5440680" cy="1225296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91C1C"/>
                </a:solidFill>
                <a:latin typeface="Segoe UI"/>
              </a:rPr>
              <a:t>The one thing that still blocks CPT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Visit duration does not exist as data — verified: no duration column, and encounter has no eventId to reach the appointment slot. Until it is captured, time-based CPT has a ceiling no model can lift.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3291840"/>
            <a:ext cx="50292" cy="1225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736592"/>
            <a:ext cx="11064240" cy="566928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0F766E"/>
                </a:solidFill>
                <a:latin typeface="Segoe UI"/>
              </a:rPr>
              <a:t>Recommendation:  add a visit-duration field to the encounter  -&gt;  time-based CPT becomes near-deterministic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514600"/>
            <a:ext cx="1280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0F766E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2651760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Proposed  · 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401568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9FB3C8"/>
                </a:solidFill>
                <a:latin typeface="Segoe UI"/>
              </a:rPr>
              <a:t>The provider journey, and the checkpoint that makes accuracy provable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3310128"/>
            <a:ext cx="2743200" cy="25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67D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The provider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Same capture, same encounter form. A review surface is inserted between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93391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94944" y="2139696"/>
            <a:ext cx="402336" cy="402336"/>
          </a:xfrm>
          <a:prstGeom prst="ellipse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21284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88335"/>
            <a:ext cx="2359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Dictate, ambient or type.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Every value tagged at input: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dictated / typed / ai / rules.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36976" y="2761487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8144" y="1993391"/>
            <a:ext cx="26517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3566160" y="2139696"/>
            <a:ext cx="402336" cy="402336"/>
          </a:xfrm>
          <a:prstGeom prst="ellipse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221284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33A"/>
                </a:solidFill>
                <a:latin typeface="Segoe UI"/>
              </a:rPr>
              <a:t>Processing, made legible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688335"/>
            <a:ext cx="2359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Not a spinner — stages complete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visibly. Sections stream into the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review surface as each finishes.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08192" y="2761487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993391"/>
            <a:ext cx="2651760" cy="1755648"/>
          </a:xfrm>
          <a:prstGeom prst="rect">
            <a:avLst/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6437376" y="2139696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21284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803D"/>
                </a:solidFill>
                <a:latin typeface="Segoe UI"/>
              </a:rPr>
              <a:t>Review &amp; Attest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688335"/>
            <a:ext cx="2359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Sorted by what needs attention.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Evidence on hover. Bulk-accept the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verified; touch only the rest.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79408" y="2761487"/>
            <a:ext cx="173736" cy="18288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0576" y="1993391"/>
            <a:ext cx="2651760" cy="1755648"/>
          </a:xfrm>
          <a:prstGeom prst="rect">
            <a:avLst/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9308592" y="2139696"/>
            <a:ext cx="402336" cy="40233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5" y="221284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5803D"/>
                </a:solidFill>
                <a:latin typeface="Segoe UI"/>
              </a:rPr>
              <a:t>Sign &amp; 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688335"/>
            <a:ext cx="2359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Enabled only at zero blockers.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Every accept / edit / reject is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recorded.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023360"/>
            <a:ext cx="5440680" cy="1060704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0F766E"/>
                </a:solidFill>
                <a:latin typeface="Segoe UI"/>
              </a:rPr>
              <a:t>Streaming is kept, not lost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Today's perceived speed comes from watching text arrive. Sections stream into the review surface as each completes — so the gate costs nothing in perceived latency.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23360"/>
            <a:ext cx="50292" cy="10607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4023360"/>
            <a:ext cx="5440680" cy="1060704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0F766E"/>
                </a:solidFill>
                <a:latin typeface="Segoe UI"/>
              </a:rPr>
              <a:t>The provider attests; they do not proofread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Sorting by attention means touching four items, not thirty. Evidence on hover means verifying by reading eight words, not re-reading the note.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4023360"/>
            <a:ext cx="50292" cy="10607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Review &amp; Attest — the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Illustrative. The encounter form itself is unchanged; this sits in front of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65376"/>
            <a:ext cx="1106424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65376"/>
            <a:ext cx="110642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33A"/>
                </a:solidFill>
                <a:latin typeface="Segoe UI"/>
              </a:rPr>
              <a:t>Review encounter  —  4 items need your 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1984248"/>
            <a:ext cx="214884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0">
                <a:solidFill>
                  <a:srgbClr val="33445B"/>
                </a:solidFill>
                <a:latin typeface="Segoe UI"/>
              </a:rPr>
              <a:t>Accept all verified (22)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8048" y="1984248"/>
            <a:ext cx="1938528" cy="329184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64748B"/>
                </a:solidFill>
                <a:latin typeface="Segoe UI"/>
              </a:rPr>
              <a:t>Sign &amp; Submit   (disabled)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NEEDS ATTENTION (4)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542032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98064"/>
            <a:ext cx="5349240" cy="640080"/>
          </a:xfrm>
          <a:prstGeom prst="rect">
            <a:avLst/>
          </a:prstGeom>
          <a:solidFill>
            <a:srgbClr val="FDF0D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2980944"/>
            <a:ext cx="274320" cy="2743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87121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33A"/>
                </a:solidFill>
                <a:latin typeface="Segoe UI"/>
              </a:rPr>
              <a:t>Follow-up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10896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"next week"  -&gt;  2026-03-21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017520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[accept]  [edit]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2798064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871216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"...and I'll see you next week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for a wound check."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200400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your dictation  ·  0:48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93008"/>
            <a:ext cx="5349240" cy="640080"/>
          </a:xfrm>
          <a:prstGeom prst="rect">
            <a:avLst/>
          </a:prstGeom>
          <a:solidFill>
            <a:srgbClr val="FDF0D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675888"/>
            <a:ext cx="274320" cy="2743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3566160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33A"/>
                </a:solidFill>
                <a:latin typeface="Segoe UI"/>
              </a:rPr>
              <a:t>CPT 99309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380390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E/M moderate complexity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3712464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[accept]  [change]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3493008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566160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3 chronic conditions  ·  25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3895344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! visit duration not documented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187952"/>
            <a:ext cx="5349240" cy="640080"/>
          </a:xfrm>
          <a:prstGeom prst="rect">
            <a:avLst/>
          </a:prstGeom>
          <a:solidFill>
            <a:srgbClr val="FCE7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4370832"/>
            <a:ext cx="274320" cy="27432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4261104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33A"/>
                </a:solidFill>
                <a:latin typeface="Segoe UI"/>
              </a:rPr>
              <a:t>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498848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"...hypertension stable"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4407408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91C1C"/>
                </a:solidFill>
                <a:latin typeface="Segoe UI"/>
              </a:rPr>
              <a:t>[delete]  [confirm as mine]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4187952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261104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Nothing in your note supports this.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590288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91C1C"/>
                </a:solidFill>
                <a:latin typeface="Segoe UI"/>
              </a:rPr>
              <a:t>Cannot submit as-is.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882896"/>
            <a:ext cx="534924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822960" y="5065776"/>
            <a:ext cx="274320" cy="27432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7" y="4956048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33A"/>
                </a:solidFill>
                <a:latin typeface="Segoe UI"/>
              </a:rPr>
              <a:t>Vitals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7007" y="5193792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not documented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5102352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4748B"/>
                </a:solidFill>
                <a:latin typeface="Segoe UI"/>
              </a:rPr>
              <a:t>[add]  [mark N/A]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4882896"/>
            <a:ext cx="5120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55664" y="4956048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Required element for this template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614416"/>
            <a:ext cx="10735056" cy="402336"/>
          </a:xfrm>
          <a:prstGeom prst="rect">
            <a:avLst/>
          </a:prstGeom>
          <a:solidFill>
            <a:srgbClr val="DD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" y="5705855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5803D"/>
                </a:solidFill>
                <a:latin typeface="Segoe UI"/>
              </a:rPr>
              <a:t>VERIFIED (22)   —   value and evidence confirmed, all rules pass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9567" y="5705855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Segoe UI"/>
              </a:rPr>
              <a:t>[expand]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797296"/>
            <a:ext cx="11064240" cy="566928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B45309"/>
                </a:solidFill>
                <a:latin typeface="Segoe UI"/>
              </a:rPr>
              <a:t>Never silently drop unverifiable content — show it, and let the provider delete it or attest it as their own. Dropping it hides the hallucination and loses possibly-correct information.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797296"/>
            <a:ext cx="50292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Three-state field model — the validation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gate is a disabled button with a reason, not a dialog the provider learns to dismiss.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11064240" cy="896112"/>
          </a:xfrm>
          <a:prstGeom prst="rect">
            <a:avLst/>
          </a:prstGeom>
          <a:solidFill>
            <a:srgbClr val="DD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38528"/>
            <a:ext cx="54864" cy="89611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848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5803D"/>
                </a:solidFill>
                <a:latin typeface="Segoe UI"/>
              </a:rPr>
              <a:t>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445B"/>
                </a:solidFill>
                <a:latin typeface="Segoe UI"/>
              </a:rPr>
              <a:t>value + evidence span confirmed, all rules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084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445B"/>
                </a:solidFill>
                <a:latin typeface="Segoe UI"/>
              </a:rPr>
              <a:t>collapsed by default  ·  one-click bulk accept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44368"/>
            <a:ext cx="11064240" cy="896112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44368"/>
            <a:ext cx="54864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0906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45309"/>
                </a:solidFill>
                <a:latin typeface="Segoe UI"/>
              </a:rPr>
              <a:t>NEEDS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0906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445B"/>
                </a:solidFill>
                <a:latin typeface="Segoe UI"/>
              </a:rPr>
              <a:t>derived or inferred, or a rule flagged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09067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445B"/>
                </a:solidFill>
                <a:latin typeface="Segoe UI"/>
              </a:rPr>
              <a:t>must be individually touched before submit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50208"/>
            <a:ext cx="11064240" cy="896112"/>
          </a:xfrm>
          <a:prstGeom prst="rect">
            <a:avLst/>
          </a:prstGeom>
          <a:solidFill>
            <a:srgbClr val="FC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950208"/>
            <a:ext cx="54864" cy="89611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9651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B91C1C"/>
                </a:solidFill>
                <a:latin typeface="Segoe UI"/>
              </a:rPr>
              <a:t>BLOCKER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09651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445B"/>
                </a:solidFill>
                <a:latin typeface="Segoe UI"/>
              </a:rPr>
              <a:t>no supporting evidence, or a required element missing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09651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445B"/>
                </a:solidFill>
                <a:latin typeface="Segoe UI"/>
              </a:rPr>
              <a:t>submit is disabled while any blocker remains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47488"/>
            <a:ext cx="5440680" cy="1207008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0F766E"/>
                </a:solidFill>
                <a:latin typeface="Segoe UI"/>
              </a:rPr>
              <a:t>Blocker override is a policy switch, not a code change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A criticality attribute per field supports all three positions: hard block · attested override · strict for codes and diagnoses, attestable for narrative. The clinical owner picks; engineering supports any of them.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047488"/>
            <a:ext cx="50292" cy="1207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5047488"/>
            <a:ext cx="5440680" cy="1207008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00" b="1">
                <a:solidFill>
                  <a:srgbClr val="B45309"/>
                </a:solidFill>
                <a:latin typeface="Segoe UI"/>
              </a:rPr>
              <a:t>Retire "Always return NA if unsure"</a:t>
            </a:r>
          </a:p>
          <a:p>
            <a:pPr algn="l"/>
            <a:r>
              <a:rPr sz="1100" b="0">
                <a:solidFill>
                  <a:srgbClr val="33445B"/>
                </a:solidFill>
                <a:latin typeface="Segoe UI"/>
              </a:rPr>
              <a:t>Today NA conflates three states: not in the note, ambiguous, and model uncertainty. Separating them (null + reason code) is what makes omission measurable and tells the provider what to 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8" y="5047488"/>
            <a:ext cx="50292" cy="1207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PROPOSED  · 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Correcting one field without re-running the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Three modes, escalating — all scoped to a single field, all bound to the same schema.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38528"/>
            <a:ext cx="352958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94944" y="207568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13969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33A"/>
                </a:solidFill>
                <a:latin typeface="Segoe UI"/>
              </a:rPr>
              <a:t>Direct 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0320"/>
            <a:ext cx="3236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Provider types the correction.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Always available, cheapest.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72384"/>
            <a:ext cx="32369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recorded as provider-edited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938528"/>
            <a:ext cx="352958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4462272" y="207568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13969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33A"/>
                </a:solidFill>
                <a:latin typeface="Segoe UI"/>
              </a:rPr>
              <a:t>Field regenerate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236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Sends ledger + that field's schema +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the prior attempt + why it was rejected.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072384"/>
            <a:ext cx="32369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3-chip reason: wrong / incomplete / too verbose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938528"/>
            <a:ext cx="352958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2075688"/>
            <a:ext cx="365760" cy="36576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13969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33A"/>
                </a:solidFill>
                <a:latin typeface="Segoe UI"/>
              </a:rPr>
              <a:t>Field instruction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560320"/>
            <a:ext cx="3236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"Make this more concise."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45B"/>
                </a:solidFill>
                <a:latin typeface="Segoe UI"/>
              </a:rPr>
              <a:t>"Include the wound measurements."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072384"/>
            <a:ext cx="32369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natural language, scoped to one field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39312"/>
            <a:ext cx="5440680" cy="1133856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0F766E"/>
                </a:solidFill>
                <a:latin typeface="Segoe UI"/>
              </a:rPr>
              <a:t>The ledger is immutable during refinement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Each turn re-reads the same facts, so answers do not drift, turns stay cheap, and AI output can never become evidence for itself.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639312"/>
            <a:ext cx="5029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39312"/>
            <a:ext cx="5440680" cy="1133856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0F766E"/>
                </a:solidFill>
                <a:latin typeface="Segoe UI"/>
              </a:rPr>
              <a:t>New information is a ledger append, not a field edit</a:t>
            </a:r>
          </a:p>
          <a:p>
            <a:pPr algn="l"/>
            <a:r>
              <a:rPr sz="1150" b="0">
                <a:solidFill>
                  <a:srgbClr val="33445B"/>
                </a:solidFill>
                <a:latin typeface="Segoe UI"/>
              </a:rPr>
              <a:t>"Also she reported dizziness" appends a fact with source: provider-chat — then affected fields go stale and are offered for refresh.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8" y="3639312"/>
            <a:ext cx="5029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937760"/>
            <a:ext cx="11064240" cy="548640"/>
          </a:xfrm>
          <a:prstGeom prst="rect">
            <a:avLst/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B45309"/>
                </a:solidFill>
                <a:latin typeface="Segoe UI"/>
              </a:rPr>
              <a:t>Nothing regenerates itself.  Editing Assessment marks Plan, ICD and CPT "may be affected — review" with a one-click refresh.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Mapped to the three accuracy goals.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233172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898648" y="1883664"/>
            <a:ext cx="379476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883664"/>
            <a:ext cx="493776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Proposed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2331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Request shape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94560"/>
            <a:ext cx="3794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1 call doing 4 jobs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3408" y="2194560"/>
            <a:ext cx="4937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Ledger + per-section fan-out + separate coding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60320"/>
            <a:ext cx="2331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Output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8648" y="2560320"/>
            <a:ext cx="3794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prose JSON + a repair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560320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Schema-constrained decode; repair call deleted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26079"/>
            <a:ext cx="2331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Field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926079"/>
            <a:ext cx="3794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one shared instruction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93408" y="2926079"/>
            <a:ext cx="4937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Per-template compiled schema · types · units · LOINC/SNOMED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291839"/>
            <a:ext cx="2331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Instructions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98648" y="3291839"/>
            <a:ext cx="3794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3 levels flattened; winner-takes-all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3291839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Typed directives · layered merge · immutable safety floor · linter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657599"/>
            <a:ext cx="2331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Clinical grounding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657599"/>
            <a:ext cx="3794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note only — no chart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3408" y="3657599"/>
            <a:ext cx="4937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Meds · vitals · allergies · problem list from existing APIs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23359"/>
            <a:ext cx="2331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ICD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98648" y="4023359"/>
            <a:ext cx="3794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generated from narrative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4023359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Selected from the problem list, enum-bound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389120"/>
            <a:ext cx="2331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4389120"/>
            <a:ext cx="3794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inferred, incl. duration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3408" y="4389120"/>
            <a:ext cx="4937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Rules-derived candidates; model justifies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754880"/>
            <a:ext cx="2331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Fixing one field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98648" y="4754880"/>
            <a:ext cx="3794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re-run the whole note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4754880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Field-scoped regenerate against an immutable ledger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120640"/>
            <a:ext cx="2331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Before submit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5120640"/>
            <a:ext cx="3794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timer(1000) auto-commit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3408" y="5120640"/>
            <a:ext cx="4937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Three-state gate; submit disabled at any blocker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486400"/>
            <a:ext cx="2331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Measurability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98648" y="5486400"/>
            <a:ext cx="3794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 labels, logs != wire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5486400"/>
            <a:ext cx="4937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Evidence spans + accept/edit/reject = the labelled dataset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Phasing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Phase 0 runs in parallel — its items have external lead times and gate go-live.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65376"/>
            <a:ext cx="11064240" cy="950976"/>
          </a:xfrm>
          <a:prstGeom prst="rect">
            <a:avLst/>
          </a:prstGeom>
          <a:solidFill>
            <a:srgbClr val="FDF0D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84248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45309"/>
                </a:solidFill>
                <a:latin typeface="Segoe UI"/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31136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33A"/>
                </a:solidFill>
                <a:latin typeface="Segoe UI"/>
              </a:rPr>
              <a:t>Verify &amp; unblock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975104"/>
            <a:ext cx="8321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Read prod OPENAI_API_URL · apply for Azure ZDR (Limited Access,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5-10 business days) · rotate committed keys · decide PHI posture ·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scope de-identification of the log handover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889504"/>
            <a:ext cx="11064240" cy="950976"/>
          </a:xfrm>
          <a:prstGeom prst="rect">
            <a:avLst/>
          </a:prstGeom>
          <a:solidFill>
            <a:srgbClr val="DDF2E3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08376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5803D"/>
                </a:solidFill>
                <a:latin typeface="Segoe U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55264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33A"/>
                </a:solidFill>
                <a:latin typeface="Segoe UI"/>
              </a:rPr>
              <a:t>The engine + the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99232"/>
            <a:ext cx="8321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Config compiler · instruction resolver + linter · context assembly ·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rules engine · orchestrator + structured outputs · verification ·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audit rewrite · Review &amp; Attest screen · measurement plane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13632"/>
            <a:ext cx="11064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032504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33A"/>
                </a:solidFill>
                <a:latin typeface="Segoe UI"/>
              </a:rPr>
              <a:t>PHASE 1.5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27939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33A"/>
                </a:solidFill>
                <a:latin typeface="Segoe UI"/>
              </a:rPr>
              <a:t>Dragon Copilot migration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023360"/>
            <a:ext cx="8321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SpeechKit Browser edition -&gt; Dragon Copilot SDK for JavaScript ·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partner REST APIs for a server-visible transcript · consolidate speech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into one BAA boundary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937760"/>
            <a:ext cx="11064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10233A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56632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33A"/>
                </a:solidFill>
                <a:latin typeface="Segoe UI"/>
              </a:rPr>
              <a:t>PHASE 2+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303520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33A"/>
                </a:solidFill>
                <a:latin typeface="Segoe UI"/>
              </a:rPr>
              <a:t>Guided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047488"/>
            <a:ext cx="8321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Completeness indicators · missing-information highlighting · chat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refinement · real-time feedback · provider-added sections —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45B"/>
                </a:solidFill>
                <a:latin typeface="Segoe UI"/>
              </a:rPr>
              <a:t>all additive if the note is modelled as a document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053328"/>
            <a:ext cx="11064240" cy="530352"/>
          </a:xfrm>
          <a:prstGeom prst="rect">
            <a:avLst/>
          </a:prstGeom>
          <a:solidFill>
            <a:srgbClr val="C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/>
          <a:lstStyle/>
          <a:p>
            <a:pPr algn="l"/>
            <a:r>
              <a:rPr sz="1150" b="1">
                <a:solidFill>
                  <a:srgbClr val="0F766E"/>
                </a:solidFill>
                <a:latin typeface="Segoe UI"/>
              </a:rPr>
              <a:t>Critical path:  Azure ZDR approval  -&gt;  Config Compiler  -&gt;  Instruction Resolver  -&gt;  Orchestrator. The compiler needs no approvals and no model access — start it first.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053328"/>
            <a:ext cx="50292" cy="5303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0233A"/>
                </a:solidFill>
                <a:latin typeface="Segoe UI"/>
              </a:rPr>
              <a:t>What needs to be agreed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5214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Five of these change scope; the rest change the plan's shape.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64240" cy="127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PacEHR AI  ·  Architecture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470916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76088" y="1883664"/>
            <a:ext cx="425196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28048" y="1883664"/>
            <a:ext cx="2103120" cy="310896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4709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Is production on Azure OpenAI or api.openai.com?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6088" y="2194560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One query against the app-settings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28048" y="2194560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Blocks everything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615184"/>
            <a:ext cx="47091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Who owns the Azure ZDR application?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76088" y="2615184"/>
            <a:ext cx="42519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Limited Access, EA/MCA, 5-10 business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28048" y="2615184"/>
            <a:ext cx="21031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Gates go-live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035808"/>
            <a:ext cx="4709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Who de-identifies the 10-month log handover?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088" y="3035808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Not pre-masked today — this is real ETL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8048" y="3035808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Blocks the corpus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56432"/>
            <a:ext cx="47091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One engine + compiled config — agreed in principle?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76088" y="3456432"/>
            <a:ext cx="42519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Providers change nothing; no template restructuring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8048" y="3456432"/>
            <a:ext cx="21031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Core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77056"/>
            <a:ext cx="4709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91C1C"/>
                </a:solidFill>
                <a:latin typeface="Segoe UI"/>
              </a:rPr>
              <a:t>Faithfulness as the Phase 1 headline metric?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3877056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Measurable with no reference 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28048" y="3877056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Acceptance criteria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97680"/>
            <a:ext cx="47091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Review &amp; Attest screen in Phase 1?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76088" y="4297680"/>
            <a:ext cx="42519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Expands frontend scope — but it is the instrument that produces the labels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8048" y="4297680"/>
            <a:ext cx="21031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Scope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718304"/>
            <a:ext cx="4709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Can a provider override a blocker?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76088" y="4718304"/>
            <a:ext cx="4251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Clinical / legal call — engineering supports any policy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28048" y="4718304"/>
            <a:ext cx="2103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Policy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138928"/>
            <a:ext cx="47091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B45309"/>
                </a:solidFill>
                <a:latin typeface="Segoe UI"/>
              </a:rPr>
              <a:t>Can visit duration be captured?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6088" y="5138928"/>
            <a:ext cx="42519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Determines whether time-based CPT can ever be verified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28048" y="5138928"/>
            <a:ext cx="21031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0">
                <a:solidFill>
                  <a:srgbClr val="33445B"/>
                </a:solidFill>
                <a:latin typeface="Segoe UI"/>
              </a:rPr>
              <a:t>CPT ceiling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508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Segoe UI"/>
              </a:rPr>
              <a:t>THE ARGUMENT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FFFFFF"/>
                </a:solidFill>
                <a:latin typeface="Segoe UI"/>
              </a:rPr>
              <a:t>Accuracy is not a model problem.</a:t>
            </a:r>
          </a:p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FFFFFF"/>
                </a:solidFill>
                <a:latin typeface="Segoe UI"/>
              </a:rPr>
              <a:t>It is an architecture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401568"/>
            <a:ext cx="3108960" cy="317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675887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9FB3C8"/>
                </a:solidFill>
                <a:latin typeface="Segoe UI"/>
              </a:rPr>
              <a:t>The model is asked to do four jobs at once, with no chart data, no output contract, no candidate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9FB3C8"/>
                </a:solidFill>
                <a:latin typeface="Segoe UI"/>
              </a:rPr>
              <a:t>sets for coding, and instructions it cannot reconcile — then its output is written to the record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9FB3C8"/>
                </a:solidFill>
                <a:latin typeface="Segoe UI"/>
              </a:rPr>
              <a:t>unattended. Every one of those is fixable without changing a single template or field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5138928"/>
            <a:ext cx="4846320" cy="786384"/>
          </a:xfrm>
          <a:prstGeom prst="roundRect">
            <a:avLst>
              <a:gd name="adj" fmla="val 8000"/>
            </a:avLst>
          </a:prstGeom>
          <a:solidFill>
            <a:srgbClr val="1B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F766E"/>
                </a:solidFill>
                <a:latin typeface="Segoe UI"/>
              </a:rPr>
              <a:t>Start now, no approvals needed</a:t>
            </a:r>
          </a:p>
          <a:p>
            <a:pPr algn="ctr"/>
            <a:r>
              <a:rPr sz="1200" b="0">
                <a:solidFill>
                  <a:srgbClr val="0F766E"/>
                </a:solidFill>
                <a:latin typeface="Segoe UI"/>
              </a:rPr>
              <a:t>Template Config Compiler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138928"/>
            <a:ext cx="5074920" cy="786384"/>
          </a:xfrm>
          <a:prstGeom prst="roundRect">
            <a:avLst>
              <a:gd name="adj" fmla="val 8000"/>
            </a:avLst>
          </a:prstGeom>
          <a:solidFill>
            <a:srgbClr val="1B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F766E"/>
                </a:solidFill>
                <a:latin typeface="Segoe UI"/>
              </a:rPr>
              <a:t>Start now, external lead time</a:t>
            </a:r>
          </a:p>
          <a:p>
            <a:pPr algn="ctr"/>
            <a:r>
              <a:rPr sz="1200" b="0">
                <a:solidFill>
                  <a:srgbClr val="0F766E"/>
                </a:solidFill>
                <a:latin typeface="Segoe UI"/>
              </a:rPr>
              <a:t>Azure ZDR / Limited Access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67D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